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4FFDA"/>
          </a:solidFill>
          <a:ln w="12700">
            <a:solidFill>
              <a:srgbClr val="64FFDA"/>
            </a:solidFill>
            <a:prstDash val="solid"/>
          </a:ln>
        </p:spPr>
      </p:sp>
      <p:sp>
        <p:nvSpPr>
          <p:cNvPr id="3" name="Shape 1"/>
          <p:cNvSpPr/>
          <p:nvPr/>
        </p:nvSpPr>
        <p:spPr>
          <a:xfrm>
            <a:off x="-457200" y="3200400"/>
            <a:ext cx="2286000" cy="2286000"/>
          </a:xfrm>
          <a:prstGeom prst="ellipse">
            <a:avLst/>
          </a:prstGeom>
          <a:solidFill>
            <a:srgbClr val="1565C0">
              <a:alpha val="25000"/>
            </a:srgbClr>
          </a:solidFill>
          <a:ln w="12700">
            <a:solidFill>
              <a:srgbClr val="1565C0">
                <a:alpha val="25000"/>
              </a:srgbClr>
            </a:solidFill>
            <a:prstDash val="solid"/>
          </a:ln>
        </p:spPr>
      </p:sp>
      <p:sp>
        <p:nvSpPr>
          <p:cNvPr id="4" name="Shape 2"/>
          <p:cNvSpPr/>
          <p:nvPr/>
        </p:nvSpPr>
        <p:spPr>
          <a:xfrm>
            <a:off x="7772400" y="457200"/>
            <a:ext cx="1828800" cy="1828800"/>
          </a:xfrm>
          <a:prstGeom prst="ellipse">
            <a:avLst/>
          </a:prstGeom>
          <a:solidFill>
            <a:srgbClr val="6A1B9A">
              <a:alpha val="25000"/>
            </a:srgbClr>
          </a:solidFill>
          <a:ln w="12700">
            <a:solidFill>
              <a:srgbClr val="6A1B9A">
                <a:alpha val="25000"/>
              </a:srgbClr>
            </a:solidFill>
            <a:prstDash val="solid"/>
          </a:ln>
        </p:spPr>
      </p:sp>
      <p:sp>
        <p:nvSpPr>
          <p:cNvPr id="5" name="Shape 3"/>
          <p:cNvSpPr/>
          <p:nvPr/>
        </p:nvSpPr>
        <p:spPr>
          <a:xfrm>
            <a:off x="6858000" y="3200400"/>
            <a:ext cx="2743200" cy="2743200"/>
          </a:xfrm>
          <a:prstGeom prst="ellipse">
            <a:avLst/>
          </a:prstGeom>
          <a:solidFill>
            <a:srgbClr val="64FFDA">
              <a:alpha val="15000"/>
            </a:srgbClr>
          </a:solidFill>
          <a:ln w="12700">
            <a:solidFill>
              <a:srgbClr val="64FFDA">
                <a:alpha val="15000"/>
              </a:srgbClr>
            </a:solidFill>
            <a:prstDash val="solid"/>
          </a:ln>
        </p:spPr>
      </p:sp>
      <p:sp>
        <p:nvSpPr>
          <p:cNvPr id="6" name="Text 4"/>
          <p:cNvSpPr/>
          <p:nvPr/>
        </p:nvSpPr>
        <p:spPr>
          <a:xfrm>
            <a:off x="457200" y="914400"/>
            <a:ext cx="8229600" cy="822960"/>
          </a:xfrm>
          <a:prstGeom prst="rect">
            <a:avLst/>
          </a:prstGeom>
          <a:noFill/>
          <a:ln/>
        </p:spPr>
        <p:txBody>
          <a:bodyPr wrap="square" rtlCol="0" anchor="ctr"/>
          <a:lstStyle/>
          <a:p>
            <a:pPr algn="ctr" indent="0" marL="0">
              <a:buNone/>
            </a:pPr>
            <a:r>
              <a:rPr lang="en-US" sz="4200" b="1" spc="600" kern="0" dirty="0">
                <a:solidFill>
                  <a:srgbClr val="FFFFFF"/>
                </a:solidFill>
                <a:latin typeface="Calibri" pitchFamily="34" charset="0"/>
                <a:ea typeface="Calibri" pitchFamily="34" charset="-122"/>
                <a:cs typeface="Calibri" pitchFamily="34" charset="-120"/>
              </a:rPr>
              <a:t>MACHINE LEARNING</a:t>
            </a:r>
            <a:endParaRPr lang="en-US" sz="4200" dirty="0"/>
          </a:p>
        </p:txBody>
      </p:sp>
      <p:sp>
        <p:nvSpPr>
          <p:cNvPr id="7" name="Text 5"/>
          <p:cNvSpPr/>
          <p:nvPr/>
        </p:nvSpPr>
        <p:spPr>
          <a:xfrm>
            <a:off x="457200" y="1691640"/>
            <a:ext cx="8229600" cy="822960"/>
          </a:xfrm>
          <a:prstGeom prst="rect">
            <a:avLst/>
          </a:prstGeom>
          <a:noFill/>
          <a:ln/>
        </p:spPr>
        <p:txBody>
          <a:bodyPr wrap="square" rtlCol="0" anchor="ctr"/>
          <a:lstStyle/>
          <a:p>
            <a:pPr algn="ctr" indent="0" marL="0">
              <a:buNone/>
            </a:pPr>
            <a:r>
              <a:rPr lang="en-US" sz="4200" b="1" spc="600" kern="0" dirty="0">
                <a:solidFill>
                  <a:srgbClr val="64FFDA"/>
                </a:solidFill>
                <a:latin typeface="Calibri" pitchFamily="34" charset="0"/>
                <a:ea typeface="Calibri" pitchFamily="34" charset="-122"/>
                <a:cs typeface="Calibri" pitchFamily="34" charset="-120"/>
              </a:rPr>
              <a:t>METHODS</a:t>
            </a:r>
            <a:endParaRPr lang="en-US" sz="4200" dirty="0"/>
          </a:p>
        </p:txBody>
      </p:sp>
      <p:sp>
        <p:nvSpPr>
          <p:cNvPr id="8" name="Shape 6"/>
          <p:cNvSpPr/>
          <p:nvPr/>
        </p:nvSpPr>
        <p:spPr>
          <a:xfrm>
            <a:off x="2743200" y="2606040"/>
            <a:ext cx="3657600" cy="45720"/>
          </a:xfrm>
          <a:prstGeom prst="rect">
            <a:avLst/>
          </a:prstGeom>
          <a:solidFill>
            <a:srgbClr val="FFD700"/>
          </a:solidFill>
          <a:ln w="12700">
            <a:solidFill>
              <a:srgbClr val="FFD700"/>
            </a:solidFill>
            <a:prstDash val="solid"/>
          </a:ln>
        </p:spPr>
      </p:sp>
      <p:sp>
        <p:nvSpPr>
          <p:cNvPr id="9" name="Shape 7"/>
          <p:cNvSpPr/>
          <p:nvPr/>
        </p:nvSpPr>
        <p:spPr>
          <a:xfrm>
            <a:off x="640080" y="2834640"/>
            <a:ext cx="3657600" cy="822960"/>
          </a:xfrm>
          <a:prstGeom prst="rect">
            <a:avLst/>
          </a:prstGeom>
          <a:solidFill>
            <a:srgbClr val="1565C0">
              <a:alpha val="80000"/>
            </a:srgbClr>
          </a:solidFill>
          <a:ln w="19050">
            <a:solidFill>
              <a:srgbClr val="4FC3F7"/>
            </a:solidFill>
            <a:prstDash val="solid"/>
          </a:ln>
        </p:spPr>
      </p:sp>
      <p:sp>
        <p:nvSpPr>
          <p:cNvPr id="10" name="Text 8"/>
          <p:cNvSpPr/>
          <p:nvPr/>
        </p:nvSpPr>
        <p:spPr>
          <a:xfrm>
            <a:off x="640080" y="2834640"/>
            <a:ext cx="3657600" cy="822960"/>
          </a:xfrm>
          <a:prstGeom prst="rect">
            <a:avLst/>
          </a:prstGeom>
          <a:noFill/>
          <a:ln/>
        </p:spPr>
        <p:txBody>
          <a:bodyPr wrap="square" rtlCol="0" anchor="ctr"/>
          <a:lstStyle/>
          <a:p>
            <a:pPr algn="ctr" indent="0" marL="0">
              <a:buNone/>
            </a:pPr>
            <a:r>
              <a:rPr lang="en-US" sz="1400" dirty="0">
                <a:solidFill>
                  <a:srgbClr val="FFFFFF"/>
                </a:solidFill>
              </a:rPr>
              <a:t>🌳 </a:t>
            </a:r>
            <a:pPr algn="ctr" indent="0" marL="0">
              <a:buNone/>
            </a:pPr>
            <a:r>
              <a:rPr lang="en-US" sz="1500" b="1" dirty="0">
                <a:solidFill>
                  <a:srgbClr val="FFFFFF"/>
                </a:solidFill>
              </a:rPr>
              <a:t>Supervised Learning</a:t>
            </a:r>
            <a:pPr algn="ctr" indent="0" marL="0">
              <a:buNone/>
            </a:pPr>
            <a:endParaRPr lang="en-US" sz="1400" dirty="0"/>
          </a:p>
          <a:p>
            <a:pPr algn="ctr" indent="0" marL="0">
              <a:buNone/>
            </a:pPr>
            <a:r>
              <a:rPr lang="en-US" sz="1300" dirty="0">
                <a:solidFill>
                  <a:srgbClr val="4FC3F7"/>
                </a:solidFill>
              </a:rPr>
              <a:t>Decision Tree</a:t>
            </a:r>
            <a:endParaRPr lang="en-US" sz="1400" dirty="0"/>
          </a:p>
        </p:txBody>
      </p:sp>
      <p:sp>
        <p:nvSpPr>
          <p:cNvPr id="11" name="Shape 9"/>
          <p:cNvSpPr/>
          <p:nvPr/>
        </p:nvSpPr>
        <p:spPr>
          <a:xfrm>
            <a:off x="4846320" y="2834640"/>
            <a:ext cx="3657600" cy="822960"/>
          </a:xfrm>
          <a:prstGeom prst="rect">
            <a:avLst/>
          </a:prstGeom>
          <a:solidFill>
            <a:srgbClr val="6A1B9A">
              <a:alpha val="80000"/>
            </a:srgbClr>
          </a:solidFill>
          <a:ln w="19050">
            <a:solidFill>
              <a:srgbClr val="CE93D8"/>
            </a:solidFill>
            <a:prstDash val="solid"/>
          </a:ln>
        </p:spPr>
      </p:sp>
      <p:sp>
        <p:nvSpPr>
          <p:cNvPr id="12" name="Text 10"/>
          <p:cNvSpPr/>
          <p:nvPr/>
        </p:nvSpPr>
        <p:spPr>
          <a:xfrm>
            <a:off x="4846320" y="2834640"/>
            <a:ext cx="3657600" cy="822960"/>
          </a:xfrm>
          <a:prstGeom prst="rect">
            <a:avLst/>
          </a:prstGeom>
          <a:noFill/>
          <a:ln/>
        </p:spPr>
        <p:txBody>
          <a:bodyPr wrap="square" rtlCol="0" anchor="ctr"/>
          <a:lstStyle/>
          <a:p>
            <a:pPr algn="ctr" indent="0" marL="0">
              <a:buNone/>
            </a:pPr>
            <a:r>
              <a:rPr lang="en-US" sz="1400" dirty="0">
                <a:solidFill>
                  <a:srgbClr val="FFFFFF"/>
                </a:solidFill>
              </a:rPr>
              <a:t>⭕ </a:t>
            </a:r>
            <a:pPr algn="ctr" indent="0" marL="0">
              <a:buNone/>
            </a:pPr>
            <a:r>
              <a:rPr lang="en-US" sz="1500" b="1" dirty="0">
                <a:solidFill>
                  <a:srgbClr val="FFFFFF"/>
                </a:solidFill>
              </a:rPr>
              <a:t>Unsupervised Learning</a:t>
            </a:r>
            <a:pPr algn="ctr" indent="0" marL="0">
              <a:buNone/>
            </a:pPr>
            <a:endParaRPr lang="en-US" sz="1400" dirty="0"/>
          </a:p>
          <a:p>
            <a:pPr algn="ctr" indent="0" marL="0">
              <a:buNone/>
            </a:pPr>
            <a:r>
              <a:rPr lang="en-US" sz="1300" dirty="0">
                <a:solidFill>
                  <a:srgbClr val="CE93D8"/>
                </a:solidFill>
              </a:rPr>
              <a:t>K-Means Clustering</a:t>
            </a:r>
            <a:endParaRPr lang="en-US" sz="1400" dirty="0"/>
          </a:p>
        </p:txBody>
      </p:sp>
      <p:sp>
        <p:nvSpPr>
          <p:cNvPr id="13" name="Text 11"/>
          <p:cNvSpPr/>
          <p:nvPr/>
        </p:nvSpPr>
        <p:spPr>
          <a:xfrm>
            <a:off x="0" y="4754880"/>
            <a:ext cx="9144000" cy="274320"/>
          </a:xfrm>
          <a:prstGeom prst="rect">
            <a:avLst/>
          </a:prstGeom>
          <a:noFill/>
          <a:ln/>
        </p:spPr>
        <p:txBody>
          <a:bodyPr wrap="square" rtlCol="0" anchor="ctr"/>
          <a:lstStyle/>
          <a:p>
            <a:pPr algn="ctr" indent="0" marL="0">
              <a:buNone/>
            </a:pPr>
            <a:r>
              <a:rPr lang="en-US" sz="1100" dirty="0">
                <a:solidFill>
                  <a:srgbClr val="AAAAAA"/>
                </a:solidFill>
              </a:rPr>
              <a:t>Task 1 — Machine Learning Methods | Individual/Group Assignment</a:t>
            </a:r>
            <a:endParaRPr lang="en-US" sz="1100" dirty="0"/>
          </a:p>
        </p:txBody>
      </p:sp>
      <p:sp>
        <p:nvSpPr>
          <p:cNvPr id="14" name="Shape 12"/>
          <p:cNvSpPr/>
          <p:nvPr/>
        </p:nvSpPr>
        <p:spPr>
          <a:xfrm>
            <a:off x="0" y="5074920"/>
            <a:ext cx="9144000" cy="73152"/>
          </a:xfrm>
          <a:prstGeom prst="rect">
            <a:avLst/>
          </a:prstGeom>
          <a:solidFill>
            <a:srgbClr val="64FFDA"/>
          </a:solidFill>
          <a:ln w="12700">
            <a:solidFill>
              <a:srgbClr val="64FFD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4FFDA"/>
          </a:solidFill>
          <a:ln w="12700">
            <a:solidFill>
              <a:srgbClr val="64FFDA"/>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Overview: Machine Learning</a:t>
            </a:r>
            <a:endParaRPr lang="en-US" sz="2800" dirty="0"/>
          </a:p>
        </p:txBody>
      </p:sp>
      <p:sp>
        <p:nvSpPr>
          <p:cNvPr id="4" name="Shape 2"/>
          <p:cNvSpPr/>
          <p:nvPr/>
        </p:nvSpPr>
        <p:spPr>
          <a:xfrm>
            <a:off x="457200" y="777240"/>
            <a:ext cx="5486400" cy="36576"/>
          </a:xfrm>
          <a:prstGeom prst="rect">
            <a:avLst/>
          </a:prstGeom>
          <a:solidFill>
            <a:srgbClr val="64FFDA"/>
          </a:solidFill>
          <a:ln w="12700">
            <a:solidFill>
              <a:srgbClr val="64FFDA"/>
            </a:solidFill>
            <a:prstDash val="solid"/>
          </a:ln>
        </p:spPr>
      </p:sp>
      <p:sp>
        <p:nvSpPr>
          <p:cNvPr id="5" name="Text 3"/>
          <p:cNvSpPr/>
          <p:nvPr/>
        </p:nvSpPr>
        <p:spPr>
          <a:xfrm>
            <a:off x="457200" y="914400"/>
            <a:ext cx="8229600" cy="594360"/>
          </a:xfrm>
          <a:prstGeom prst="rect">
            <a:avLst/>
          </a:prstGeom>
          <a:noFill/>
          <a:ln/>
        </p:spPr>
        <p:txBody>
          <a:bodyPr wrap="square" rtlCol="0" anchor="ctr"/>
          <a:lstStyle/>
          <a:p>
            <a:pPr indent="0" marL="0">
              <a:buNone/>
            </a:pPr>
            <a:r>
              <a:rPr lang="en-US" sz="1400" i="1" dirty="0">
                <a:solidFill>
                  <a:srgbClr val="AAAAAA"/>
                </a:solidFill>
              </a:rPr>
              <a:t>Machine Learning adalah cabang AI yang memungkinkan komputer belajar dari data tanpa diprogram secara eksplisit.</a:t>
            </a:r>
            <a:endParaRPr lang="en-US" sz="1400" dirty="0"/>
          </a:p>
        </p:txBody>
      </p:sp>
      <p:sp>
        <p:nvSpPr>
          <p:cNvPr id="6" name="Shape 4"/>
          <p:cNvSpPr/>
          <p:nvPr/>
        </p:nvSpPr>
        <p:spPr>
          <a:xfrm>
            <a:off x="365760" y="1600200"/>
            <a:ext cx="3931920" cy="3108960"/>
          </a:xfrm>
          <a:prstGeom prst="rect">
            <a:avLst/>
          </a:prstGeom>
          <a:solidFill>
            <a:srgbClr val="162032"/>
          </a:solidFill>
          <a:ln w="25400">
            <a:solidFill>
              <a:srgbClr val="4FC3F7"/>
            </a:solidFill>
            <a:prstDash val="solid"/>
          </a:ln>
        </p:spPr>
      </p:sp>
      <p:sp>
        <p:nvSpPr>
          <p:cNvPr id="7" name="Shape 5"/>
          <p:cNvSpPr/>
          <p:nvPr/>
        </p:nvSpPr>
        <p:spPr>
          <a:xfrm>
            <a:off x="365760" y="1600200"/>
            <a:ext cx="3931920" cy="502920"/>
          </a:xfrm>
          <a:prstGeom prst="rect">
            <a:avLst/>
          </a:prstGeom>
          <a:solidFill>
            <a:srgbClr val="1565C0"/>
          </a:solidFill>
          <a:ln w="12700">
            <a:solidFill>
              <a:srgbClr val="1565C0"/>
            </a:solidFill>
            <a:prstDash val="solid"/>
          </a:ln>
        </p:spPr>
      </p:sp>
      <p:sp>
        <p:nvSpPr>
          <p:cNvPr id="8" name="Text 6"/>
          <p:cNvSpPr/>
          <p:nvPr/>
        </p:nvSpPr>
        <p:spPr>
          <a:xfrm>
            <a:off x="365760" y="1600200"/>
            <a:ext cx="3931920" cy="502920"/>
          </a:xfrm>
          <a:prstGeom prst="rect">
            <a:avLst/>
          </a:prstGeom>
          <a:noFill/>
          <a:ln/>
        </p:spPr>
        <p:txBody>
          <a:bodyPr wrap="square" rtlCol="0" anchor="ctr"/>
          <a:lstStyle/>
          <a:p>
            <a:pPr algn="ctr" indent="0" marL="0">
              <a:buNone/>
            </a:pPr>
            <a:r>
              <a:rPr lang="en-US" sz="1300" b="1" dirty="0">
                <a:solidFill>
                  <a:srgbClr val="FFFFFF"/>
                </a:solidFill>
              </a:rPr>
              <a:t>SUPERVISED LEARNING</a:t>
            </a:r>
            <a:endParaRPr lang="en-US" sz="1300" dirty="0"/>
          </a:p>
        </p:txBody>
      </p:sp>
      <p:sp>
        <p:nvSpPr>
          <p:cNvPr id="9" name="Text 7"/>
          <p:cNvSpPr/>
          <p:nvPr/>
        </p:nvSpPr>
        <p:spPr>
          <a:xfrm>
            <a:off x="548640" y="2194560"/>
            <a:ext cx="3566160" cy="2286000"/>
          </a:xfrm>
          <a:prstGeom prst="rect">
            <a:avLst/>
          </a:prstGeom>
          <a:noFill/>
          <a:ln/>
        </p:spPr>
        <p:txBody>
          <a:bodyPr wrap="square" rtlCol="0" anchor="ctr"/>
          <a:lstStyle/>
          <a:p>
            <a:pPr marL="342900" indent="-342900">
              <a:buSzPct val="100000"/>
              <a:buChar char="•"/>
            </a:pPr>
            <a:r>
              <a:rPr lang="en-US" sz="1300" dirty="0">
                <a:solidFill>
                  <a:srgbClr val="FFFFFF"/>
                </a:solidFill>
              </a:rPr>
              <a:t>Belajar dari data berlabel
</a:t>
            </a:r>
            <a:endParaRPr lang="en-US" sz="1300" dirty="0"/>
          </a:p>
          <a:p>
            <a:pPr marL="342900" indent="-342900">
              <a:buSzPct val="100000"/>
              <a:buChar char="•"/>
            </a:pPr>
            <a:r>
              <a:rPr lang="en-US" sz="1300" dirty="0">
                <a:solidFill>
                  <a:srgbClr val="FFFFFF"/>
                </a:solidFill>
              </a:rPr>
              <a:t>Punya target/output yang diketahui
</a:t>
            </a:r>
            <a:endParaRPr lang="en-US" sz="1300" dirty="0"/>
          </a:p>
          <a:p>
            <a:pPr marL="342900" indent="-342900">
              <a:buSzPct val="100000"/>
              <a:buChar char="•"/>
            </a:pPr>
            <a:r>
              <a:rPr lang="en-US" sz="1300" dirty="0">
                <a:solidFill>
                  <a:srgbClr val="FFFFFF"/>
                </a:solidFill>
              </a:rPr>
              <a:t>Contoh: Klasifikasi, Regresi
</a:t>
            </a:r>
            <a:pPr indent="0" marL="0">
              <a:buNone/>
            </a:pPr>
            <a:endParaRPr lang="en-US" sz="1300" dirty="0"/>
          </a:p>
          <a:p>
            <a:pPr indent="0" marL="0">
              <a:buNone/>
            </a:pPr>
            <a:r>
              <a:rPr lang="en-US" sz="1300" b="1" dirty="0">
                <a:solidFill>
                  <a:srgbClr val="64FFDA"/>
                </a:solidFill>
              </a:rPr>
              <a:t>✅ Metode kita: Decision Tree</a:t>
            </a:r>
            <a:endParaRPr lang="en-US" sz="1300" dirty="0"/>
          </a:p>
        </p:txBody>
      </p:sp>
      <p:sp>
        <p:nvSpPr>
          <p:cNvPr id="10" name="Shape 8"/>
          <p:cNvSpPr/>
          <p:nvPr/>
        </p:nvSpPr>
        <p:spPr>
          <a:xfrm>
            <a:off x="4846320" y="1600200"/>
            <a:ext cx="3931920" cy="3108960"/>
          </a:xfrm>
          <a:prstGeom prst="rect">
            <a:avLst/>
          </a:prstGeom>
          <a:solidFill>
            <a:srgbClr val="162032"/>
          </a:solidFill>
          <a:ln w="25400">
            <a:solidFill>
              <a:srgbClr val="CE93D8"/>
            </a:solidFill>
            <a:prstDash val="solid"/>
          </a:ln>
        </p:spPr>
      </p:sp>
      <p:sp>
        <p:nvSpPr>
          <p:cNvPr id="11" name="Shape 9"/>
          <p:cNvSpPr/>
          <p:nvPr/>
        </p:nvSpPr>
        <p:spPr>
          <a:xfrm>
            <a:off x="4846320" y="1600200"/>
            <a:ext cx="3931920" cy="502920"/>
          </a:xfrm>
          <a:prstGeom prst="rect">
            <a:avLst/>
          </a:prstGeom>
          <a:solidFill>
            <a:srgbClr val="6A1B9A"/>
          </a:solidFill>
          <a:ln w="12700">
            <a:solidFill>
              <a:srgbClr val="6A1B9A"/>
            </a:solidFill>
            <a:prstDash val="solid"/>
          </a:ln>
        </p:spPr>
      </p:sp>
      <p:sp>
        <p:nvSpPr>
          <p:cNvPr id="12" name="Text 10"/>
          <p:cNvSpPr/>
          <p:nvPr/>
        </p:nvSpPr>
        <p:spPr>
          <a:xfrm>
            <a:off x="4846320" y="1600200"/>
            <a:ext cx="3931920" cy="502920"/>
          </a:xfrm>
          <a:prstGeom prst="rect">
            <a:avLst/>
          </a:prstGeom>
          <a:noFill/>
          <a:ln/>
        </p:spPr>
        <p:txBody>
          <a:bodyPr wrap="square" rtlCol="0" anchor="ctr"/>
          <a:lstStyle/>
          <a:p>
            <a:pPr algn="ctr" indent="0" marL="0">
              <a:buNone/>
            </a:pPr>
            <a:r>
              <a:rPr lang="en-US" sz="1300" b="1" dirty="0">
                <a:solidFill>
                  <a:srgbClr val="FFFFFF"/>
                </a:solidFill>
              </a:rPr>
              <a:t>UNSUPERVISED LEARNING</a:t>
            </a:r>
            <a:endParaRPr lang="en-US" sz="1300" dirty="0"/>
          </a:p>
        </p:txBody>
      </p:sp>
      <p:sp>
        <p:nvSpPr>
          <p:cNvPr id="13" name="Text 11"/>
          <p:cNvSpPr/>
          <p:nvPr/>
        </p:nvSpPr>
        <p:spPr>
          <a:xfrm>
            <a:off x="5029200" y="2194560"/>
            <a:ext cx="3566160" cy="2286000"/>
          </a:xfrm>
          <a:prstGeom prst="rect">
            <a:avLst/>
          </a:prstGeom>
          <a:noFill/>
          <a:ln/>
        </p:spPr>
        <p:txBody>
          <a:bodyPr wrap="square" rtlCol="0" anchor="ctr"/>
          <a:lstStyle/>
          <a:p>
            <a:pPr marL="342900" indent="-342900">
              <a:buSzPct val="100000"/>
              <a:buChar char="•"/>
            </a:pPr>
            <a:r>
              <a:rPr lang="en-US" sz="1300" dirty="0">
                <a:solidFill>
                  <a:srgbClr val="FFFFFF"/>
                </a:solidFill>
              </a:rPr>
              <a:t>Belajar dari data tanpa label
</a:t>
            </a:r>
            <a:endParaRPr lang="en-US" sz="1300" dirty="0"/>
          </a:p>
          <a:p>
            <a:pPr marL="342900" indent="-342900">
              <a:buSzPct val="100000"/>
              <a:buChar char="•"/>
            </a:pPr>
            <a:r>
              <a:rPr lang="en-US" sz="1300" dirty="0">
                <a:solidFill>
                  <a:srgbClr val="FFFFFF"/>
                </a:solidFill>
              </a:rPr>
              <a:t>Menemukan pola tersembunyi
</a:t>
            </a:r>
            <a:endParaRPr lang="en-US" sz="1300" dirty="0"/>
          </a:p>
          <a:p>
            <a:pPr marL="342900" indent="-342900">
              <a:buSzPct val="100000"/>
              <a:buChar char="•"/>
            </a:pPr>
            <a:r>
              <a:rPr lang="en-US" sz="1300" dirty="0">
                <a:solidFill>
                  <a:srgbClr val="FFFFFF"/>
                </a:solidFill>
              </a:rPr>
              <a:t>Contoh: Clustering, Dimensionality Reduction
</a:t>
            </a:r>
            <a:pPr indent="0" marL="0">
              <a:buNone/>
            </a:pPr>
            <a:endParaRPr lang="en-US" sz="1300" dirty="0"/>
          </a:p>
          <a:p>
            <a:pPr indent="0" marL="0">
              <a:buNone/>
            </a:pPr>
            <a:r>
              <a:rPr lang="en-US" sz="1300" b="1" dirty="0">
                <a:solidFill>
                  <a:srgbClr val="CE93D8"/>
                </a:solidFill>
              </a:rPr>
              <a:t>✅ Metode kita: K-Means</a:t>
            </a:r>
            <a:endParaRPr lang="en-US" sz="1300" dirty="0"/>
          </a:p>
        </p:txBody>
      </p:sp>
      <p:sp>
        <p:nvSpPr>
          <p:cNvPr id="14" name="Shape 12"/>
          <p:cNvSpPr/>
          <p:nvPr/>
        </p:nvSpPr>
        <p:spPr>
          <a:xfrm>
            <a:off x="0" y="5074920"/>
            <a:ext cx="9144000" cy="73152"/>
          </a:xfrm>
          <a:prstGeom prst="rect">
            <a:avLst/>
          </a:prstGeom>
          <a:solidFill>
            <a:srgbClr val="64FFDA"/>
          </a:solidFill>
          <a:ln w="12700">
            <a:solidFill>
              <a:srgbClr val="64FFD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Shape 1"/>
          <p:cNvSpPr/>
          <p:nvPr/>
        </p:nvSpPr>
        <p:spPr>
          <a:xfrm>
            <a:off x="0" y="0"/>
            <a:ext cx="9144000" cy="73152"/>
          </a:xfrm>
          <a:prstGeom prst="rect">
            <a:avLst/>
          </a:prstGeom>
          <a:solidFill>
            <a:srgbClr val="1565C0"/>
          </a:solidFill>
          <a:ln w="12700">
            <a:solidFill>
              <a:srgbClr val="1565C0"/>
            </a:solidFill>
            <a:prstDash val="solid"/>
          </a:ln>
        </p:spPr>
      </p:sp>
      <p:sp>
        <p:nvSpPr>
          <p:cNvPr id="4" name="Text 2"/>
          <p:cNvSpPr/>
          <p:nvPr/>
        </p:nvSpPr>
        <p:spPr>
          <a:xfrm>
            <a:off x="274320" y="137160"/>
            <a:ext cx="8686800" cy="548640"/>
          </a:xfrm>
          <a:prstGeom prst="rect">
            <a:avLst/>
          </a:prstGeom>
          <a:noFill/>
          <a:ln/>
        </p:spPr>
        <p:txBody>
          <a:bodyPr wrap="square" rtlCol="0" anchor="ctr"/>
          <a:lstStyle/>
          <a:p>
            <a:pPr indent="0" marL="0">
              <a:buNone/>
            </a:pPr>
            <a:r>
              <a:rPr lang="en-US" sz="3000" b="1" dirty="0">
                <a:solidFill>
                  <a:srgbClr val="FFFFFF"/>
                </a:solidFill>
              </a:rPr>
              <a:t>🌳  Decision Tree</a:t>
            </a:r>
            <a:endParaRPr lang="en-US" sz="3000" dirty="0"/>
          </a:p>
        </p:txBody>
      </p:sp>
      <p:sp>
        <p:nvSpPr>
          <p:cNvPr id="5" name="Text 3"/>
          <p:cNvSpPr/>
          <p:nvPr/>
        </p:nvSpPr>
        <p:spPr>
          <a:xfrm>
            <a:off x="274320" y="658368"/>
            <a:ext cx="4572000" cy="320040"/>
          </a:xfrm>
          <a:prstGeom prst="rect">
            <a:avLst/>
          </a:prstGeom>
          <a:noFill/>
          <a:ln/>
        </p:spPr>
        <p:txBody>
          <a:bodyPr wrap="square" rtlCol="0" anchor="ctr"/>
          <a:lstStyle/>
          <a:p>
            <a:pPr indent="0" marL="0">
              <a:buNone/>
            </a:pPr>
            <a:r>
              <a:rPr lang="en-US" sz="1400" i="1" dirty="0">
                <a:solidFill>
                  <a:srgbClr val="4FC3F7"/>
                </a:solidFill>
              </a:rPr>
              <a:t>Supervised Learning Method</a:t>
            </a:r>
            <a:endParaRPr lang="en-US" sz="1400" dirty="0"/>
          </a:p>
        </p:txBody>
      </p:sp>
      <p:sp>
        <p:nvSpPr>
          <p:cNvPr id="6" name="Text 4"/>
          <p:cNvSpPr/>
          <p:nvPr/>
        </p:nvSpPr>
        <p:spPr>
          <a:xfrm>
            <a:off x="274320" y="1051560"/>
            <a:ext cx="8686800" cy="365760"/>
          </a:xfrm>
          <a:prstGeom prst="rect">
            <a:avLst/>
          </a:prstGeom>
          <a:noFill/>
          <a:ln/>
        </p:spPr>
        <p:txBody>
          <a:bodyPr wrap="square" rtlCol="0" anchor="ctr"/>
          <a:lstStyle/>
          <a:p>
            <a:pPr indent="0" marL="0">
              <a:buNone/>
            </a:pPr>
            <a:r>
              <a:rPr lang="en-US" sz="1700" b="1" dirty="0">
                <a:solidFill>
                  <a:srgbClr val="64FFDA"/>
                </a:solidFill>
              </a:rPr>
              <a:t>Apa itu Decision Tree?</a:t>
            </a:r>
            <a:endParaRPr lang="en-US" sz="1700" dirty="0"/>
          </a:p>
        </p:txBody>
      </p:sp>
      <p:sp>
        <p:nvSpPr>
          <p:cNvPr id="7" name="Text 5"/>
          <p:cNvSpPr/>
          <p:nvPr/>
        </p:nvSpPr>
        <p:spPr>
          <a:xfrm>
            <a:off x="274320" y="1417320"/>
            <a:ext cx="8686800" cy="914400"/>
          </a:xfrm>
          <a:prstGeom prst="rect">
            <a:avLst/>
          </a:prstGeom>
          <a:noFill/>
          <a:ln/>
        </p:spPr>
        <p:txBody>
          <a:bodyPr wrap="square" rtlCol="0" anchor="ctr"/>
          <a:lstStyle/>
          <a:p>
            <a:pPr indent="0" marL="0">
              <a:buNone/>
            </a:pPr>
            <a:r>
              <a:rPr lang="en-US" sz="1300" dirty="0">
                <a:solidFill>
                  <a:srgbClr val="AAAAAA"/>
                </a:solidFill>
              </a:rPr>
              <a:t>Decision Tree adalah algoritma supervised learning berbentuk pohon keputusan. Setiap node internal merepresentasikan tes pada fitur, setiap cabang merepresentasikan hasil tes, dan setiap daun (leaf) merepresentasikan label kelas atau nilai prediksi.</a:t>
            </a:r>
            <a:endParaRPr lang="en-US" sz="1300" dirty="0"/>
          </a:p>
        </p:txBody>
      </p:sp>
      <p:pic>
        <p:nvPicPr>
          <p:cNvPr id="8" name="Image 0" descr="preencoded.png">    </p:cNvPr>
          <p:cNvPicPr>
            <a:picLocks noChangeAspect="1"/>
          </p:cNvPicPr>
          <p:nvPr/>
        </p:nvPicPr>
        <p:blipFill>
          <a:blip r:embed="rId1"/>
          <a:stretch>
            <a:fillRect/>
          </a:stretch>
        </p:blipFill>
        <p:spPr>
          <a:xfrm>
            <a:off x="274320" y="2377440"/>
            <a:ext cx="8595360" cy="2560320"/>
          </a:xfrm>
          <a:prstGeom prst="rect">
            <a:avLst/>
          </a:prstGeom>
        </p:spPr>
      </p:pic>
      <p:sp>
        <p:nvSpPr>
          <p:cNvPr id="9" name="Shape 6"/>
          <p:cNvSpPr/>
          <p:nvPr/>
        </p:nvSpPr>
        <p:spPr>
          <a:xfrm>
            <a:off x="0" y="5074920"/>
            <a:ext cx="9144000" cy="73152"/>
          </a:xfrm>
          <a:prstGeom prst="rect">
            <a:avLst/>
          </a:prstGeom>
          <a:solidFill>
            <a:srgbClr val="1565C0"/>
          </a:solidFill>
          <a:ln w="12700">
            <a:solidFill>
              <a:srgbClr val="1565C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Shape 1"/>
          <p:cNvSpPr/>
          <p:nvPr/>
        </p:nvSpPr>
        <p:spPr>
          <a:xfrm>
            <a:off x="0" y="0"/>
            <a:ext cx="9144000" cy="73152"/>
          </a:xfrm>
          <a:prstGeom prst="rect">
            <a:avLst/>
          </a:prstGeom>
          <a:solidFill>
            <a:srgbClr val="1565C0"/>
          </a:solidFill>
          <a:ln w="12700">
            <a:solidFill>
              <a:srgbClr val="1565C0"/>
            </a:solidFill>
            <a:prstDash val="solid"/>
          </a:ln>
        </p:spPr>
      </p:sp>
      <p:sp>
        <p:nvSpPr>
          <p:cNvPr id="4" name="Text 2"/>
          <p:cNvSpPr/>
          <p:nvPr/>
        </p:nvSpPr>
        <p:spPr>
          <a:xfrm>
            <a:off x="274320" y="137160"/>
            <a:ext cx="8686800" cy="548640"/>
          </a:xfrm>
          <a:prstGeom prst="rect">
            <a:avLst/>
          </a:prstGeom>
          <a:noFill/>
          <a:ln/>
        </p:spPr>
        <p:txBody>
          <a:bodyPr wrap="square" rtlCol="0" anchor="ctr"/>
          <a:lstStyle/>
          <a:p>
            <a:pPr indent="0" marL="0">
              <a:buNone/>
            </a:pPr>
            <a:r>
              <a:rPr lang="en-US" sz="2600" b="1" dirty="0">
                <a:solidFill>
                  <a:srgbClr val="FFFFFF"/>
                </a:solidFill>
              </a:rPr>
              <a:t>🌳  Mathematical Intuition &amp; Cara Kerja</a:t>
            </a:r>
            <a:endParaRPr lang="en-US" sz="2600" dirty="0"/>
          </a:p>
        </p:txBody>
      </p:sp>
      <p:sp>
        <p:nvSpPr>
          <p:cNvPr id="5" name="Shape 3"/>
          <p:cNvSpPr/>
          <p:nvPr/>
        </p:nvSpPr>
        <p:spPr>
          <a:xfrm>
            <a:off x="274320" y="777240"/>
            <a:ext cx="4114800" cy="4160520"/>
          </a:xfrm>
          <a:prstGeom prst="rect">
            <a:avLst/>
          </a:prstGeom>
          <a:solidFill>
            <a:srgbClr val="162032"/>
          </a:solidFill>
          <a:ln w="19050">
            <a:solidFill>
              <a:srgbClr val="1565C0"/>
            </a:solidFill>
            <a:prstDash val="solid"/>
          </a:ln>
        </p:spPr>
      </p:sp>
      <p:sp>
        <p:nvSpPr>
          <p:cNvPr id="6" name="Shape 4"/>
          <p:cNvSpPr/>
          <p:nvPr/>
        </p:nvSpPr>
        <p:spPr>
          <a:xfrm>
            <a:off x="274320" y="777240"/>
            <a:ext cx="4114800" cy="411480"/>
          </a:xfrm>
          <a:prstGeom prst="rect">
            <a:avLst/>
          </a:prstGeom>
          <a:solidFill>
            <a:srgbClr val="1565C0"/>
          </a:solidFill>
          <a:ln w="12700">
            <a:solidFill>
              <a:srgbClr val="1565C0"/>
            </a:solidFill>
            <a:prstDash val="solid"/>
          </a:ln>
        </p:spPr>
      </p:sp>
      <p:sp>
        <p:nvSpPr>
          <p:cNvPr id="7" name="Text 5"/>
          <p:cNvSpPr/>
          <p:nvPr/>
        </p:nvSpPr>
        <p:spPr>
          <a:xfrm>
            <a:off x="274320" y="777240"/>
            <a:ext cx="4114800" cy="411480"/>
          </a:xfrm>
          <a:prstGeom prst="rect">
            <a:avLst/>
          </a:prstGeom>
          <a:noFill/>
          <a:ln/>
        </p:spPr>
        <p:txBody>
          <a:bodyPr wrap="square" rtlCol="0" anchor="ctr"/>
          <a:lstStyle/>
          <a:p>
            <a:pPr algn="ctr" indent="0" marL="0">
              <a:buNone/>
            </a:pPr>
            <a:r>
              <a:rPr lang="en-US" sz="1300" b="1" dirty="0">
                <a:solidFill>
                  <a:srgbClr val="FFFFFF"/>
                </a:solidFill>
              </a:rPr>
              <a:t>📐 Matematika: Gini Impurity</a:t>
            </a:r>
            <a:endParaRPr lang="en-US" sz="1300" dirty="0"/>
          </a:p>
        </p:txBody>
      </p:sp>
      <p:sp>
        <p:nvSpPr>
          <p:cNvPr id="8" name="Text 6"/>
          <p:cNvSpPr/>
          <p:nvPr/>
        </p:nvSpPr>
        <p:spPr>
          <a:xfrm>
            <a:off x="365760" y="1261872"/>
            <a:ext cx="3931920" cy="3657600"/>
          </a:xfrm>
          <a:prstGeom prst="rect">
            <a:avLst/>
          </a:prstGeom>
          <a:noFill/>
          <a:ln/>
        </p:spPr>
        <p:txBody>
          <a:bodyPr wrap="square" rtlCol="0" anchor="ctr"/>
          <a:lstStyle/>
          <a:p>
            <a:pPr indent="0" marL="0">
              <a:buNone/>
            </a:pPr>
            <a:r>
              <a:rPr lang="en-US" sz="1200" dirty="0">
                <a:solidFill>
                  <a:srgbClr val="AAAAAA"/>
                </a:solidFill>
              </a:rPr>
              <a:t>Gini Impurity mengukur seberapa "kotor" sebuah node:
</a:t>
            </a:r>
            <a:pPr indent="0" marL="0">
              <a:buNone/>
            </a:pPr>
            <a:r>
              <a:rPr lang="en-US" sz="1500" b="1" dirty="0">
                <a:solidFill>
                  <a:srgbClr val="64FFDA"/>
                </a:solidFill>
              </a:rPr>
              <a:t>Gini(t) = 1 - Σ pᵢ²
</a:t>
            </a:r>
            <a:pPr indent="0" marL="0">
              <a:buNone/>
            </a:pPr>
            <a:r>
              <a:rPr lang="en-US" sz="1100" dirty="0">
                <a:solidFill>
                  <a:srgbClr val="AAAAAA"/>
                </a:solidFill>
              </a:rPr>
              <a:t>pᵢ = proporsi kelas i di node t
</a:t>
            </a:r>
            <a:pPr indent="0" marL="0">
              <a:buNone/>
            </a:pPr>
            <a:r>
              <a:rPr lang="en-US" sz="1100" dirty="0">
                <a:solidFill>
                  <a:srgbClr val="FFFFFF"/>
                </a:solidFill>
              </a:rPr>
              <a:t>Contoh:
Node A: [50 merah, 50 biru]
Gini = 1 - (0.5² + 0.5²) = 0.5
</a:t>
            </a:r>
            <a:pPr indent="0" marL="0">
              <a:buNone/>
            </a:pPr>
            <a:r>
              <a:rPr lang="en-US" sz="1100" dirty="0">
                <a:solidFill>
                  <a:srgbClr val="64FFDA"/>
                </a:solidFill>
              </a:rPr>
              <a:t>Node B: [100 merah, 0 biru]
Gini = 1 - (1² + 0²) = 0 ✅ PURE
</a:t>
            </a:r>
            <a:pPr indent="0" marL="0">
              <a:buNone/>
            </a:pPr>
            <a:r>
              <a:rPr lang="en-US" sz="1200" b="1" dirty="0">
                <a:solidFill>
                  <a:srgbClr val="FFD700"/>
                </a:solidFill>
              </a:rPr>
              <a:t>Tujuan: Cari split yang MINIMUMKAN Gini!</a:t>
            </a:r>
            <a:endParaRPr lang="en-US" sz="1200" dirty="0"/>
          </a:p>
        </p:txBody>
      </p:sp>
      <p:sp>
        <p:nvSpPr>
          <p:cNvPr id="9" name="Shape 7"/>
          <p:cNvSpPr/>
          <p:nvPr/>
        </p:nvSpPr>
        <p:spPr>
          <a:xfrm>
            <a:off x="4572000" y="777240"/>
            <a:ext cx="4389120" cy="4160520"/>
          </a:xfrm>
          <a:prstGeom prst="rect">
            <a:avLst/>
          </a:prstGeom>
          <a:solidFill>
            <a:srgbClr val="162032"/>
          </a:solidFill>
          <a:ln w="19050">
            <a:solidFill>
              <a:srgbClr val="4FC3F7"/>
            </a:solidFill>
            <a:prstDash val="solid"/>
          </a:ln>
        </p:spPr>
      </p:sp>
      <p:sp>
        <p:nvSpPr>
          <p:cNvPr id="10" name="Shape 8"/>
          <p:cNvSpPr/>
          <p:nvPr/>
        </p:nvSpPr>
        <p:spPr>
          <a:xfrm>
            <a:off x="4572000" y="777240"/>
            <a:ext cx="4389120" cy="411480"/>
          </a:xfrm>
          <a:prstGeom prst="rect">
            <a:avLst/>
          </a:prstGeom>
          <a:solidFill>
            <a:srgbClr val="1976D2"/>
          </a:solidFill>
          <a:ln w="12700">
            <a:solidFill>
              <a:srgbClr val="1976D2"/>
            </a:solidFill>
            <a:prstDash val="solid"/>
          </a:ln>
        </p:spPr>
      </p:sp>
      <p:sp>
        <p:nvSpPr>
          <p:cNvPr id="11" name="Text 9"/>
          <p:cNvSpPr/>
          <p:nvPr/>
        </p:nvSpPr>
        <p:spPr>
          <a:xfrm>
            <a:off x="4572000" y="777240"/>
            <a:ext cx="4389120" cy="411480"/>
          </a:xfrm>
          <a:prstGeom prst="rect">
            <a:avLst/>
          </a:prstGeom>
          <a:noFill/>
          <a:ln/>
        </p:spPr>
        <p:txBody>
          <a:bodyPr wrap="square" rtlCol="0" anchor="ctr"/>
          <a:lstStyle/>
          <a:p>
            <a:pPr algn="ctr" indent="0" marL="0">
              <a:buNone/>
            </a:pPr>
            <a:r>
              <a:rPr lang="en-US" sz="1300" b="1" dirty="0">
                <a:solidFill>
                  <a:srgbClr val="FFFFFF"/>
                </a:solidFill>
              </a:rPr>
              <a:t>🔄 Cara Kerja (Step-by-Step)</a:t>
            </a:r>
            <a:endParaRPr lang="en-US" sz="1300" dirty="0"/>
          </a:p>
        </p:txBody>
      </p:sp>
      <p:sp>
        <p:nvSpPr>
          <p:cNvPr id="12" name="Shape 10"/>
          <p:cNvSpPr/>
          <p:nvPr/>
        </p:nvSpPr>
        <p:spPr>
          <a:xfrm>
            <a:off x="4709160" y="1298448"/>
            <a:ext cx="347472" cy="347472"/>
          </a:xfrm>
          <a:prstGeom prst="ellipse">
            <a:avLst/>
          </a:prstGeom>
          <a:solidFill>
            <a:srgbClr val="1565C0"/>
          </a:solidFill>
          <a:ln w="12700">
            <a:solidFill>
              <a:srgbClr val="4FC3F7"/>
            </a:solidFill>
            <a:prstDash val="solid"/>
          </a:ln>
        </p:spPr>
      </p:sp>
      <p:sp>
        <p:nvSpPr>
          <p:cNvPr id="13" name="Text 11"/>
          <p:cNvSpPr/>
          <p:nvPr/>
        </p:nvSpPr>
        <p:spPr>
          <a:xfrm>
            <a:off x="4709160" y="1298448"/>
            <a:ext cx="347472" cy="347472"/>
          </a:xfrm>
          <a:prstGeom prst="rect">
            <a:avLst/>
          </a:prstGeom>
          <a:noFill/>
          <a:ln/>
        </p:spPr>
        <p:txBody>
          <a:bodyPr wrap="square" rtlCol="0" anchor="ctr"/>
          <a:lstStyle/>
          <a:p>
            <a:pPr algn="ctr" indent="0" marL="0">
              <a:buNone/>
            </a:pPr>
            <a:r>
              <a:rPr lang="en-US" sz="1200" b="1" dirty="0">
                <a:solidFill>
                  <a:srgbClr val="FFFFFF"/>
                </a:solidFill>
              </a:rPr>
              <a:t>1</a:t>
            </a:r>
            <a:endParaRPr lang="en-US" sz="1200" dirty="0"/>
          </a:p>
        </p:txBody>
      </p:sp>
      <p:sp>
        <p:nvSpPr>
          <p:cNvPr id="14" name="Text 12"/>
          <p:cNvSpPr/>
          <p:nvPr/>
        </p:nvSpPr>
        <p:spPr>
          <a:xfrm>
            <a:off x="5138928" y="1325880"/>
            <a:ext cx="3749040" cy="347472"/>
          </a:xfrm>
          <a:prstGeom prst="rect">
            <a:avLst/>
          </a:prstGeom>
          <a:noFill/>
          <a:ln/>
        </p:spPr>
        <p:txBody>
          <a:bodyPr wrap="square" rtlCol="0" anchor="ctr"/>
          <a:lstStyle/>
          <a:p>
            <a:pPr indent="0" marL="0">
              <a:buNone/>
            </a:pPr>
            <a:r>
              <a:rPr lang="en-US" sz="1200" dirty="0">
                <a:solidFill>
                  <a:srgbClr val="FFFFFF"/>
                </a:solidFill>
              </a:rPr>
              <a:t>Mulai dari root node (semua data)</a:t>
            </a:r>
            <a:endParaRPr lang="en-US" sz="1200" dirty="0"/>
          </a:p>
        </p:txBody>
      </p:sp>
      <p:sp>
        <p:nvSpPr>
          <p:cNvPr id="15" name="Shape 13"/>
          <p:cNvSpPr/>
          <p:nvPr/>
        </p:nvSpPr>
        <p:spPr>
          <a:xfrm>
            <a:off x="4709160" y="1920240"/>
            <a:ext cx="347472" cy="347472"/>
          </a:xfrm>
          <a:prstGeom prst="ellipse">
            <a:avLst/>
          </a:prstGeom>
          <a:solidFill>
            <a:srgbClr val="1565C0"/>
          </a:solidFill>
          <a:ln w="12700">
            <a:solidFill>
              <a:srgbClr val="4FC3F7"/>
            </a:solidFill>
            <a:prstDash val="solid"/>
          </a:ln>
        </p:spPr>
      </p:sp>
      <p:sp>
        <p:nvSpPr>
          <p:cNvPr id="16" name="Text 14"/>
          <p:cNvSpPr/>
          <p:nvPr/>
        </p:nvSpPr>
        <p:spPr>
          <a:xfrm>
            <a:off x="4709160" y="1920240"/>
            <a:ext cx="347472" cy="347472"/>
          </a:xfrm>
          <a:prstGeom prst="rect">
            <a:avLst/>
          </a:prstGeom>
          <a:noFill/>
          <a:ln/>
        </p:spPr>
        <p:txBody>
          <a:bodyPr wrap="square" rtlCol="0" anchor="ctr"/>
          <a:lstStyle/>
          <a:p>
            <a:pPr algn="ctr" indent="0" marL="0">
              <a:buNone/>
            </a:pPr>
            <a:r>
              <a:rPr lang="en-US" sz="1200" b="1" dirty="0">
                <a:solidFill>
                  <a:srgbClr val="FFFFFF"/>
                </a:solidFill>
              </a:rPr>
              <a:t>2</a:t>
            </a:r>
            <a:endParaRPr lang="en-US" sz="1200" dirty="0"/>
          </a:p>
        </p:txBody>
      </p:sp>
      <p:sp>
        <p:nvSpPr>
          <p:cNvPr id="17" name="Text 15"/>
          <p:cNvSpPr/>
          <p:nvPr/>
        </p:nvSpPr>
        <p:spPr>
          <a:xfrm>
            <a:off x="5138928" y="1947672"/>
            <a:ext cx="3749040" cy="347472"/>
          </a:xfrm>
          <a:prstGeom prst="rect">
            <a:avLst/>
          </a:prstGeom>
          <a:noFill/>
          <a:ln/>
        </p:spPr>
        <p:txBody>
          <a:bodyPr wrap="square" rtlCol="0" anchor="ctr"/>
          <a:lstStyle/>
          <a:p>
            <a:pPr indent="0" marL="0">
              <a:buNone/>
            </a:pPr>
            <a:r>
              <a:rPr lang="en-US" sz="1200" dirty="0">
                <a:solidFill>
                  <a:srgbClr val="FFFFFF"/>
                </a:solidFill>
              </a:rPr>
              <a:t>Hitung Gini Impurity untuk setiap fitur &amp; threshold</a:t>
            </a:r>
            <a:endParaRPr lang="en-US" sz="1200" dirty="0"/>
          </a:p>
        </p:txBody>
      </p:sp>
      <p:sp>
        <p:nvSpPr>
          <p:cNvPr id="18" name="Shape 16"/>
          <p:cNvSpPr/>
          <p:nvPr/>
        </p:nvSpPr>
        <p:spPr>
          <a:xfrm>
            <a:off x="4709160" y="2542032"/>
            <a:ext cx="347472" cy="347472"/>
          </a:xfrm>
          <a:prstGeom prst="ellipse">
            <a:avLst/>
          </a:prstGeom>
          <a:solidFill>
            <a:srgbClr val="1565C0"/>
          </a:solidFill>
          <a:ln w="12700">
            <a:solidFill>
              <a:srgbClr val="4FC3F7"/>
            </a:solidFill>
            <a:prstDash val="solid"/>
          </a:ln>
        </p:spPr>
      </p:sp>
      <p:sp>
        <p:nvSpPr>
          <p:cNvPr id="19" name="Text 17"/>
          <p:cNvSpPr/>
          <p:nvPr/>
        </p:nvSpPr>
        <p:spPr>
          <a:xfrm>
            <a:off x="4709160" y="2542032"/>
            <a:ext cx="347472" cy="347472"/>
          </a:xfrm>
          <a:prstGeom prst="rect">
            <a:avLst/>
          </a:prstGeom>
          <a:noFill/>
          <a:ln/>
        </p:spPr>
        <p:txBody>
          <a:bodyPr wrap="square" rtlCol="0" anchor="ctr"/>
          <a:lstStyle/>
          <a:p>
            <a:pPr algn="ctr" indent="0" marL="0">
              <a:buNone/>
            </a:pPr>
            <a:r>
              <a:rPr lang="en-US" sz="1200" b="1" dirty="0">
                <a:solidFill>
                  <a:srgbClr val="FFFFFF"/>
                </a:solidFill>
              </a:rPr>
              <a:t>3</a:t>
            </a:r>
            <a:endParaRPr lang="en-US" sz="1200" dirty="0"/>
          </a:p>
        </p:txBody>
      </p:sp>
      <p:sp>
        <p:nvSpPr>
          <p:cNvPr id="20" name="Text 18"/>
          <p:cNvSpPr/>
          <p:nvPr/>
        </p:nvSpPr>
        <p:spPr>
          <a:xfrm>
            <a:off x="5138928" y="2569464"/>
            <a:ext cx="3749040" cy="347472"/>
          </a:xfrm>
          <a:prstGeom prst="rect">
            <a:avLst/>
          </a:prstGeom>
          <a:noFill/>
          <a:ln/>
        </p:spPr>
        <p:txBody>
          <a:bodyPr wrap="square" rtlCol="0" anchor="ctr"/>
          <a:lstStyle/>
          <a:p>
            <a:pPr indent="0" marL="0">
              <a:buNone/>
            </a:pPr>
            <a:r>
              <a:rPr lang="en-US" sz="1200" dirty="0">
                <a:solidFill>
                  <a:srgbClr val="FFFFFF"/>
                </a:solidFill>
              </a:rPr>
              <a:t>Pilih split dengan Information Gain tertinggi</a:t>
            </a:r>
            <a:endParaRPr lang="en-US" sz="1200" dirty="0"/>
          </a:p>
        </p:txBody>
      </p:sp>
      <p:sp>
        <p:nvSpPr>
          <p:cNvPr id="21" name="Shape 19"/>
          <p:cNvSpPr/>
          <p:nvPr/>
        </p:nvSpPr>
        <p:spPr>
          <a:xfrm>
            <a:off x="4709160" y="3163824"/>
            <a:ext cx="347472" cy="347472"/>
          </a:xfrm>
          <a:prstGeom prst="ellipse">
            <a:avLst/>
          </a:prstGeom>
          <a:solidFill>
            <a:srgbClr val="1565C0"/>
          </a:solidFill>
          <a:ln w="12700">
            <a:solidFill>
              <a:srgbClr val="4FC3F7"/>
            </a:solidFill>
            <a:prstDash val="solid"/>
          </a:ln>
        </p:spPr>
      </p:sp>
      <p:sp>
        <p:nvSpPr>
          <p:cNvPr id="22" name="Text 20"/>
          <p:cNvSpPr/>
          <p:nvPr/>
        </p:nvSpPr>
        <p:spPr>
          <a:xfrm>
            <a:off x="4709160" y="3163824"/>
            <a:ext cx="347472" cy="347472"/>
          </a:xfrm>
          <a:prstGeom prst="rect">
            <a:avLst/>
          </a:prstGeom>
          <a:noFill/>
          <a:ln/>
        </p:spPr>
        <p:txBody>
          <a:bodyPr wrap="square" rtlCol="0" anchor="ctr"/>
          <a:lstStyle/>
          <a:p>
            <a:pPr algn="ctr" indent="0" marL="0">
              <a:buNone/>
            </a:pPr>
            <a:r>
              <a:rPr lang="en-US" sz="1200" b="1" dirty="0">
                <a:solidFill>
                  <a:srgbClr val="FFFFFF"/>
                </a:solidFill>
              </a:rPr>
              <a:t>4</a:t>
            </a:r>
            <a:endParaRPr lang="en-US" sz="1200" dirty="0"/>
          </a:p>
        </p:txBody>
      </p:sp>
      <p:sp>
        <p:nvSpPr>
          <p:cNvPr id="23" name="Text 21"/>
          <p:cNvSpPr/>
          <p:nvPr/>
        </p:nvSpPr>
        <p:spPr>
          <a:xfrm>
            <a:off x="5138928" y="3191256"/>
            <a:ext cx="3749040" cy="347472"/>
          </a:xfrm>
          <a:prstGeom prst="rect">
            <a:avLst/>
          </a:prstGeom>
          <a:noFill/>
          <a:ln/>
        </p:spPr>
        <p:txBody>
          <a:bodyPr wrap="square" rtlCol="0" anchor="ctr"/>
          <a:lstStyle/>
          <a:p>
            <a:pPr indent="0" marL="0">
              <a:buNone/>
            </a:pPr>
            <a:r>
              <a:rPr lang="en-US" sz="1200" dirty="0">
                <a:solidFill>
                  <a:srgbClr val="FFFFFF"/>
                </a:solidFill>
              </a:rPr>
              <a:t>Bagi data menjadi 2 subset (kiri &amp; kanan)</a:t>
            </a:r>
            <a:endParaRPr lang="en-US" sz="1200" dirty="0"/>
          </a:p>
        </p:txBody>
      </p:sp>
      <p:sp>
        <p:nvSpPr>
          <p:cNvPr id="24" name="Shape 22"/>
          <p:cNvSpPr/>
          <p:nvPr/>
        </p:nvSpPr>
        <p:spPr>
          <a:xfrm>
            <a:off x="4709160" y="3785616"/>
            <a:ext cx="347472" cy="347472"/>
          </a:xfrm>
          <a:prstGeom prst="ellipse">
            <a:avLst/>
          </a:prstGeom>
          <a:solidFill>
            <a:srgbClr val="1565C0"/>
          </a:solidFill>
          <a:ln w="12700">
            <a:solidFill>
              <a:srgbClr val="4FC3F7"/>
            </a:solidFill>
            <a:prstDash val="solid"/>
          </a:ln>
        </p:spPr>
      </p:sp>
      <p:sp>
        <p:nvSpPr>
          <p:cNvPr id="25" name="Text 23"/>
          <p:cNvSpPr/>
          <p:nvPr/>
        </p:nvSpPr>
        <p:spPr>
          <a:xfrm>
            <a:off x="4709160" y="3785616"/>
            <a:ext cx="347472" cy="347472"/>
          </a:xfrm>
          <a:prstGeom prst="rect">
            <a:avLst/>
          </a:prstGeom>
          <a:noFill/>
          <a:ln/>
        </p:spPr>
        <p:txBody>
          <a:bodyPr wrap="square" rtlCol="0" anchor="ctr"/>
          <a:lstStyle/>
          <a:p>
            <a:pPr algn="ctr" indent="0" marL="0">
              <a:buNone/>
            </a:pPr>
            <a:r>
              <a:rPr lang="en-US" sz="1200" b="1" dirty="0">
                <a:solidFill>
                  <a:srgbClr val="FFFFFF"/>
                </a:solidFill>
              </a:rPr>
              <a:t>5</a:t>
            </a:r>
            <a:endParaRPr lang="en-US" sz="1200" dirty="0"/>
          </a:p>
        </p:txBody>
      </p:sp>
      <p:sp>
        <p:nvSpPr>
          <p:cNvPr id="26" name="Text 24"/>
          <p:cNvSpPr/>
          <p:nvPr/>
        </p:nvSpPr>
        <p:spPr>
          <a:xfrm>
            <a:off x="5138928" y="3813048"/>
            <a:ext cx="3749040" cy="347472"/>
          </a:xfrm>
          <a:prstGeom prst="rect">
            <a:avLst/>
          </a:prstGeom>
          <a:noFill/>
          <a:ln/>
        </p:spPr>
        <p:txBody>
          <a:bodyPr wrap="square" rtlCol="0" anchor="ctr"/>
          <a:lstStyle/>
          <a:p>
            <a:pPr indent="0" marL="0">
              <a:buNone/>
            </a:pPr>
            <a:r>
              <a:rPr lang="en-US" sz="1200" dirty="0">
                <a:solidFill>
                  <a:srgbClr val="FFFFFF"/>
                </a:solidFill>
              </a:rPr>
              <a:t>Rekursif ulangi untuk setiap subset</a:t>
            </a:r>
            <a:endParaRPr lang="en-US" sz="1200" dirty="0"/>
          </a:p>
        </p:txBody>
      </p:sp>
      <p:sp>
        <p:nvSpPr>
          <p:cNvPr id="27" name="Shape 25"/>
          <p:cNvSpPr/>
          <p:nvPr/>
        </p:nvSpPr>
        <p:spPr>
          <a:xfrm>
            <a:off x="4709160" y="4407408"/>
            <a:ext cx="347472" cy="347472"/>
          </a:xfrm>
          <a:prstGeom prst="ellipse">
            <a:avLst/>
          </a:prstGeom>
          <a:solidFill>
            <a:srgbClr val="1565C0"/>
          </a:solidFill>
          <a:ln w="12700">
            <a:solidFill>
              <a:srgbClr val="4FC3F7"/>
            </a:solidFill>
            <a:prstDash val="solid"/>
          </a:ln>
        </p:spPr>
      </p:sp>
      <p:sp>
        <p:nvSpPr>
          <p:cNvPr id="28" name="Text 26"/>
          <p:cNvSpPr/>
          <p:nvPr/>
        </p:nvSpPr>
        <p:spPr>
          <a:xfrm>
            <a:off x="4709160" y="4407408"/>
            <a:ext cx="347472" cy="347472"/>
          </a:xfrm>
          <a:prstGeom prst="rect">
            <a:avLst/>
          </a:prstGeom>
          <a:noFill/>
          <a:ln/>
        </p:spPr>
        <p:txBody>
          <a:bodyPr wrap="square" rtlCol="0" anchor="ctr"/>
          <a:lstStyle/>
          <a:p>
            <a:pPr algn="ctr" indent="0" marL="0">
              <a:buNone/>
            </a:pPr>
            <a:r>
              <a:rPr lang="en-US" sz="1200" b="1" dirty="0">
                <a:solidFill>
                  <a:srgbClr val="FFFFFF"/>
                </a:solidFill>
              </a:rPr>
              <a:t>6</a:t>
            </a:r>
            <a:endParaRPr lang="en-US" sz="1200" dirty="0"/>
          </a:p>
        </p:txBody>
      </p:sp>
      <p:sp>
        <p:nvSpPr>
          <p:cNvPr id="29" name="Text 27"/>
          <p:cNvSpPr/>
          <p:nvPr/>
        </p:nvSpPr>
        <p:spPr>
          <a:xfrm>
            <a:off x="5138928" y="4434840"/>
            <a:ext cx="3749040" cy="347472"/>
          </a:xfrm>
          <a:prstGeom prst="rect">
            <a:avLst/>
          </a:prstGeom>
          <a:noFill/>
          <a:ln/>
        </p:spPr>
        <p:txBody>
          <a:bodyPr wrap="square" rtlCol="0" anchor="ctr"/>
          <a:lstStyle/>
          <a:p>
            <a:pPr indent="0" marL="0">
              <a:buNone/>
            </a:pPr>
            <a:r>
              <a:rPr lang="en-US" sz="1200" dirty="0">
                <a:solidFill>
                  <a:srgbClr val="FFFFFF"/>
                </a:solidFill>
              </a:rPr>
              <a:t>Berhenti jika: max_depth tercapai, node pure, atau data &lt; min_samples</a:t>
            </a:r>
            <a:endParaRPr lang="en-US" sz="1200" dirty="0"/>
          </a:p>
        </p:txBody>
      </p:sp>
      <p:sp>
        <p:nvSpPr>
          <p:cNvPr id="30" name="Shape 28"/>
          <p:cNvSpPr/>
          <p:nvPr/>
        </p:nvSpPr>
        <p:spPr>
          <a:xfrm>
            <a:off x="0" y="5074920"/>
            <a:ext cx="9144000" cy="73152"/>
          </a:xfrm>
          <a:prstGeom prst="rect">
            <a:avLst/>
          </a:prstGeom>
          <a:solidFill>
            <a:srgbClr val="1565C0"/>
          </a:solidFill>
          <a:ln w="12700">
            <a:solidFill>
              <a:srgbClr val="1565C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Shape 1"/>
          <p:cNvSpPr/>
          <p:nvPr/>
        </p:nvSpPr>
        <p:spPr>
          <a:xfrm>
            <a:off x="0" y="0"/>
            <a:ext cx="9144000" cy="73152"/>
          </a:xfrm>
          <a:prstGeom prst="rect">
            <a:avLst/>
          </a:prstGeom>
          <a:solidFill>
            <a:srgbClr val="1565C0"/>
          </a:solidFill>
          <a:ln w="12700">
            <a:solidFill>
              <a:srgbClr val="1565C0"/>
            </a:solidFill>
            <a:prstDash val="solid"/>
          </a:ln>
        </p:spPr>
      </p:sp>
      <p:sp>
        <p:nvSpPr>
          <p:cNvPr id="4" name="Text 2"/>
          <p:cNvSpPr/>
          <p:nvPr/>
        </p:nvSpPr>
        <p:spPr>
          <a:xfrm>
            <a:off x="274320" y="137160"/>
            <a:ext cx="8686800" cy="548640"/>
          </a:xfrm>
          <a:prstGeom prst="rect">
            <a:avLst/>
          </a:prstGeom>
          <a:noFill/>
          <a:ln/>
        </p:spPr>
        <p:txBody>
          <a:bodyPr wrap="square" rtlCol="0" anchor="ctr"/>
          <a:lstStyle/>
          <a:p>
            <a:pPr indent="0" marL="0">
              <a:buNone/>
            </a:pPr>
            <a:r>
              <a:rPr lang="en-US" sz="2600" b="1" dirty="0">
                <a:solidFill>
                  <a:srgbClr val="FFFFFF"/>
                </a:solidFill>
              </a:rPr>
              <a:t>🌳  Kelebihan &amp; Kekurangan Decision Tree</a:t>
            </a:r>
            <a:endParaRPr lang="en-US" sz="2600" dirty="0"/>
          </a:p>
        </p:txBody>
      </p:sp>
      <p:sp>
        <p:nvSpPr>
          <p:cNvPr id="5" name="Shape 3"/>
          <p:cNvSpPr/>
          <p:nvPr/>
        </p:nvSpPr>
        <p:spPr>
          <a:xfrm>
            <a:off x="274320" y="777240"/>
            <a:ext cx="4114800" cy="4206240"/>
          </a:xfrm>
          <a:prstGeom prst="rect">
            <a:avLst/>
          </a:prstGeom>
          <a:solidFill>
            <a:srgbClr val="162032"/>
          </a:solidFill>
          <a:ln w="19050">
            <a:solidFill>
              <a:srgbClr val="43A047"/>
            </a:solidFill>
            <a:prstDash val="solid"/>
          </a:ln>
        </p:spPr>
      </p:sp>
      <p:sp>
        <p:nvSpPr>
          <p:cNvPr id="6" name="Shape 4"/>
          <p:cNvSpPr/>
          <p:nvPr/>
        </p:nvSpPr>
        <p:spPr>
          <a:xfrm>
            <a:off x="274320" y="777240"/>
            <a:ext cx="4114800" cy="457200"/>
          </a:xfrm>
          <a:prstGeom prst="rect">
            <a:avLst/>
          </a:prstGeom>
          <a:solidFill>
            <a:srgbClr val="2E7D32"/>
          </a:solidFill>
          <a:ln w="12700">
            <a:solidFill>
              <a:srgbClr val="2E7D32"/>
            </a:solidFill>
            <a:prstDash val="solid"/>
          </a:ln>
        </p:spPr>
      </p:sp>
      <p:sp>
        <p:nvSpPr>
          <p:cNvPr id="7" name="Text 5"/>
          <p:cNvSpPr/>
          <p:nvPr/>
        </p:nvSpPr>
        <p:spPr>
          <a:xfrm>
            <a:off x="274320" y="777240"/>
            <a:ext cx="4114800" cy="457200"/>
          </a:xfrm>
          <a:prstGeom prst="rect">
            <a:avLst/>
          </a:prstGeom>
          <a:noFill/>
          <a:ln/>
        </p:spPr>
        <p:txBody>
          <a:bodyPr wrap="square" rtlCol="0" anchor="ctr"/>
          <a:lstStyle/>
          <a:p>
            <a:pPr algn="ctr" indent="0" marL="0">
              <a:buNone/>
            </a:pPr>
            <a:r>
              <a:rPr lang="en-US" sz="1500" b="1" dirty="0">
                <a:solidFill>
                  <a:srgbClr val="FFFFFF"/>
                </a:solidFill>
              </a:rPr>
              <a:t>✅  KELEBIHAN</a:t>
            </a:r>
            <a:endParaRPr lang="en-US" sz="1500" dirty="0"/>
          </a:p>
        </p:txBody>
      </p:sp>
      <p:sp>
        <p:nvSpPr>
          <p:cNvPr id="8" name="Shape 6"/>
          <p:cNvSpPr/>
          <p:nvPr/>
        </p:nvSpPr>
        <p:spPr>
          <a:xfrm>
            <a:off x="411480" y="1325880"/>
            <a:ext cx="274320" cy="274320"/>
          </a:xfrm>
          <a:prstGeom prst="rect">
            <a:avLst/>
          </a:prstGeom>
          <a:solidFill>
            <a:srgbClr val="43A047"/>
          </a:solidFill>
          <a:ln w="12700">
            <a:solidFill>
              <a:srgbClr val="43A047"/>
            </a:solidFill>
            <a:prstDash val="solid"/>
          </a:ln>
        </p:spPr>
      </p:sp>
      <p:sp>
        <p:nvSpPr>
          <p:cNvPr id="9" name="Text 7"/>
          <p:cNvSpPr/>
          <p:nvPr/>
        </p:nvSpPr>
        <p:spPr>
          <a:xfrm>
            <a:off x="411480" y="132588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0" name="Text 8"/>
          <p:cNvSpPr/>
          <p:nvPr/>
        </p:nvSpPr>
        <p:spPr>
          <a:xfrm>
            <a:off x="777240" y="1325880"/>
            <a:ext cx="3520440" cy="320040"/>
          </a:xfrm>
          <a:prstGeom prst="rect">
            <a:avLst/>
          </a:prstGeom>
          <a:noFill/>
          <a:ln/>
        </p:spPr>
        <p:txBody>
          <a:bodyPr wrap="square" rtlCol="0" anchor="ctr"/>
          <a:lstStyle/>
          <a:p>
            <a:pPr indent="0" marL="0">
              <a:buNone/>
            </a:pPr>
            <a:r>
              <a:rPr lang="en-US" sz="1200" dirty="0">
                <a:solidFill>
                  <a:srgbClr val="FFFFFF"/>
                </a:solidFill>
              </a:rPr>
              <a:t>Mudah diinterpretasikan &amp; divisualisasikan</a:t>
            </a:r>
            <a:endParaRPr lang="en-US" sz="1200" dirty="0"/>
          </a:p>
        </p:txBody>
      </p:sp>
      <p:sp>
        <p:nvSpPr>
          <p:cNvPr id="11" name="Shape 9"/>
          <p:cNvSpPr/>
          <p:nvPr/>
        </p:nvSpPr>
        <p:spPr>
          <a:xfrm>
            <a:off x="411480" y="1801368"/>
            <a:ext cx="274320" cy="274320"/>
          </a:xfrm>
          <a:prstGeom prst="rect">
            <a:avLst/>
          </a:prstGeom>
          <a:solidFill>
            <a:srgbClr val="43A047"/>
          </a:solidFill>
          <a:ln w="12700">
            <a:solidFill>
              <a:srgbClr val="43A047"/>
            </a:solidFill>
            <a:prstDash val="solid"/>
          </a:ln>
        </p:spPr>
      </p:sp>
      <p:sp>
        <p:nvSpPr>
          <p:cNvPr id="12" name="Text 10"/>
          <p:cNvSpPr/>
          <p:nvPr/>
        </p:nvSpPr>
        <p:spPr>
          <a:xfrm>
            <a:off x="411480" y="1801368"/>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3" name="Text 11"/>
          <p:cNvSpPr/>
          <p:nvPr/>
        </p:nvSpPr>
        <p:spPr>
          <a:xfrm>
            <a:off x="777240" y="1801368"/>
            <a:ext cx="3520440" cy="320040"/>
          </a:xfrm>
          <a:prstGeom prst="rect">
            <a:avLst/>
          </a:prstGeom>
          <a:noFill/>
          <a:ln/>
        </p:spPr>
        <p:txBody>
          <a:bodyPr wrap="square" rtlCol="0" anchor="ctr"/>
          <a:lstStyle/>
          <a:p>
            <a:pPr indent="0" marL="0">
              <a:buNone/>
            </a:pPr>
            <a:r>
              <a:rPr lang="en-US" sz="1200" dirty="0">
                <a:solidFill>
                  <a:srgbClr val="FFFFFF"/>
                </a:solidFill>
              </a:rPr>
              <a:t>Tidak perlu normalisasi data</a:t>
            </a:r>
            <a:endParaRPr lang="en-US" sz="1200" dirty="0"/>
          </a:p>
        </p:txBody>
      </p:sp>
      <p:sp>
        <p:nvSpPr>
          <p:cNvPr id="14" name="Shape 12"/>
          <p:cNvSpPr/>
          <p:nvPr/>
        </p:nvSpPr>
        <p:spPr>
          <a:xfrm>
            <a:off x="411480" y="2276856"/>
            <a:ext cx="274320" cy="274320"/>
          </a:xfrm>
          <a:prstGeom prst="rect">
            <a:avLst/>
          </a:prstGeom>
          <a:solidFill>
            <a:srgbClr val="43A047"/>
          </a:solidFill>
          <a:ln w="12700">
            <a:solidFill>
              <a:srgbClr val="43A047"/>
            </a:solidFill>
            <a:prstDash val="solid"/>
          </a:ln>
        </p:spPr>
      </p:sp>
      <p:sp>
        <p:nvSpPr>
          <p:cNvPr id="15" name="Text 13"/>
          <p:cNvSpPr/>
          <p:nvPr/>
        </p:nvSpPr>
        <p:spPr>
          <a:xfrm>
            <a:off x="411480" y="2276856"/>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6" name="Text 14"/>
          <p:cNvSpPr/>
          <p:nvPr/>
        </p:nvSpPr>
        <p:spPr>
          <a:xfrm>
            <a:off x="777240" y="2276856"/>
            <a:ext cx="3520440" cy="320040"/>
          </a:xfrm>
          <a:prstGeom prst="rect">
            <a:avLst/>
          </a:prstGeom>
          <a:noFill/>
          <a:ln/>
        </p:spPr>
        <p:txBody>
          <a:bodyPr wrap="square" rtlCol="0" anchor="ctr"/>
          <a:lstStyle/>
          <a:p>
            <a:pPr indent="0" marL="0">
              <a:buNone/>
            </a:pPr>
            <a:r>
              <a:rPr lang="en-US" sz="1200" dirty="0">
                <a:solidFill>
                  <a:srgbClr val="FFFFFF"/>
                </a:solidFill>
              </a:rPr>
              <a:t>Dapat menangani data numerik &amp; kategorikal</a:t>
            </a:r>
            <a:endParaRPr lang="en-US" sz="1200" dirty="0"/>
          </a:p>
        </p:txBody>
      </p:sp>
      <p:sp>
        <p:nvSpPr>
          <p:cNvPr id="17" name="Shape 15"/>
          <p:cNvSpPr/>
          <p:nvPr/>
        </p:nvSpPr>
        <p:spPr>
          <a:xfrm>
            <a:off x="411480" y="2752344"/>
            <a:ext cx="274320" cy="274320"/>
          </a:xfrm>
          <a:prstGeom prst="rect">
            <a:avLst/>
          </a:prstGeom>
          <a:solidFill>
            <a:srgbClr val="43A047"/>
          </a:solidFill>
          <a:ln w="12700">
            <a:solidFill>
              <a:srgbClr val="43A047"/>
            </a:solidFill>
            <a:prstDash val="solid"/>
          </a:ln>
        </p:spPr>
      </p:sp>
      <p:sp>
        <p:nvSpPr>
          <p:cNvPr id="18" name="Text 16"/>
          <p:cNvSpPr/>
          <p:nvPr/>
        </p:nvSpPr>
        <p:spPr>
          <a:xfrm>
            <a:off x="411480" y="2752344"/>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9" name="Text 17"/>
          <p:cNvSpPr/>
          <p:nvPr/>
        </p:nvSpPr>
        <p:spPr>
          <a:xfrm>
            <a:off x="777240" y="2752344"/>
            <a:ext cx="3520440" cy="320040"/>
          </a:xfrm>
          <a:prstGeom prst="rect">
            <a:avLst/>
          </a:prstGeom>
          <a:noFill/>
          <a:ln/>
        </p:spPr>
        <p:txBody>
          <a:bodyPr wrap="square" rtlCol="0" anchor="ctr"/>
          <a:lstStyle/>
          <a:p>
            <a:pPr indent="0" marL="0">
              <a:buNone/>
            </a:pPr>
            <a:r>
              <a:rPr lang="en-US" sz="1200" dirty="0">
                <a:solidFill>
                  <a:srgbClr val="FFFFFF"/>
                </a:solidFill>
              </a:rPr>
              <a:t>Efektif pada dataset dengan banyak fitur</a:t>
            </a:r>
            <a:endParaRPr lang="en-US" sz="1200" dirty="0"/>
          </a:p>
        </p:txBody>
      </p:sp>
      <p:sp>
        <p:nvSpPr>
          <p:cNvPr id="20" name="Shape 18"/>
          <p:cNvSpPr/>
          <p:nvPr/>
        </p:nvSpPr>
        <p:spPr>
          <a:xfrm>
            <a:off x="411480" y="3227832"/>
            <a:ext cx="274320" cy="274320"/>
          </a:xfrm>
          <a:prstGeom prst="rect">
            <a:avLst/>
          </a:prstGeom>
          <a:solidFill>
            <a:srgbClr val="43A047"/>
          </a:solidFill>
          <a:ln w="12700">
            <a:solidFill>
              <a:srgbClr val="43A047"/>
            </a:solidFill>
            <a:prstDash val="solid"/>
          </a:ln>
        </p:spPr>
      </p:sp>
      <p:sp>
        <p:nvSpPr>
          <p:cNvPr id="21" name="Text 19"/>
          <p:cNvSpPr/>
          <p:nvPr/>
        </p:nvSpPr>
        <p:spPr>
          <a:xfrm>
            <a:off x="411480" y="3227832"/>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22" name="Text 20"/>
          <p:cNvSpPr/>
          <p:nvPr/>
        </p:nvSpPr>
        <p:spPr>
          <a:xfrm>
            <a:off x="777240" y="3227832"/>
            <a:ext cx="3520440" cy="320040"/>
          </a:xfrm>
          <a:prstGeom prst="rect">
            <a:avLst/>
          </a:prstGeom>
          <a:noFill/>
          <a:ln/>
        </p:spPr>
        <p:txBody>
          <a:bodyPr wrap="square" rtlCol="0" anchor="ctr"/>
          <a:lstStyle/>
          <a:p>
            <a:pPr indent="0" marL="0">
              <a:buNone/>
            </a:pPr>
            <a:r>
              <a:rPr lang="en-US" sz="1200" dirty="0">
                <a:solidFill>
                  <a:srgbClr val="FFFFFF"/>
                </a:solidFill>
              </a:rPr>
              <a:t>Dapat menangani missing values</a:t>
            </a:r>
            <a:endParaRPr lang="en-US" sz="1200" dirty="0"/>
          </a:p>
        </p:txBody>
      </p:sp>
      <p:sp>
        <p:nvSpPr>
          <p:cNvPr id="23" name="Shape 21"/>
          <p:cNvSpPr/>
          <p:nvPr/>
        </p:nvSpPr>
        <p:spPr>
          <a:xfrm>
            <a:off x="411480" y="3703320"/>
            <a:ext cx="274320" cy="274320"/>
          </a:xfrm>
          <a:prstGeom prst="rect">
            <a:avLst/>
          </a:prstGeom>
          <a:solidFill>
            <a:srgbClr val="43A047"/>
          </a:solidFill>
          <a:ln w="12700">
            <a:solidFill>
              <a:srgbClr val="43A047"/>
            </a:solidFill>
            <a:prstDash val="solid"/>
          </a:ln>
        </p:spPr>
      </p:sp>
      <p:sp>
        <p:nvSpPr>
          <p:cNvPr id="24" name="Text 22"/>
          <p:cNvSpPr/>
          <p:nvPr/>
        </p:nvSpPr>
        <p:spPr>
          <a:xfrm>
            <a:off x="411480" y="370332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25" name="Text 23"/>
          <p:cNvSpPr/>
          <p:nvPr/>
        </p:nvSpPr>
        <p:spPr>
          <a:xfrm>
            <a:off x="777240" y="3703320"/>
            <a:ext cx="3520440" cy="320040"/>
          </a:xfrm>
          <a:prstGeom prst="rect">
            <a:avLst/>
          </a:prstGeom>
          <a:noFill/>
          <a:ln/>
        </p:spPr>
        <p:txBody>
          <a:bodyPr wrap="square" rtlCol="0" anchor="ctr"/>
          <a:lstStyle/>
          <a:p>
            <a:pPr indent="0" marL="0">
              <a:buNone/>
            </a:pPr>
            <a:r>
              <a:rPr lang="en-US" sz="1200" dirty="0">
                <a:solidFill>
                  <a:srgbClr val="FFFFFF"/>
                </a:solidFill>
              </a:rPr>
              <a:t>Tidak memerlukan asumsi distribusi data</a:t>
            </a:r>
            <a:endParaRPr lang="en-US" sz="1200" dirty="0"/>
          </a:p>
        </p:txBody>
      </p:sp>
      <p:sp>
        <p:nvSpPr>
          <p:cNvPr id="26" name="Shape 24"/>
          <p:cNvSpPr/>
          <p:nvPr/>
        </p:nvSpPr>
        <p:spPr>
          <a:xfrm>
            <a:off x="4754880" y="777240"/>
            <a:ext cx="4206240" cy="4206240"/>
          </a:xfrm>
          <a:prstGeom prst="rect">
            <a:avLst/>
          </a:prstGeom>
          <a:solidFill>
            <a:srgbClr val="162032"/>
          </a:solidFill>
          <a:ln w="19050">
            <a:solidFill>
              <a:srgbClr val="EF5350"/>
            </a:solidFill>
            <a:prstDash val="solid"/>
          </a:ln>
        </p:spPr>
      </p:sp>
      <p:sp>
        <p:nvSpPr>
          <p:cNvPr id="27" name="Shape 25"/>
          <p:cNvSpPr/>
          <p:nvPr/>
        </p:nvSpPr>
        <p:spPr>
          <a:xfrm>
            <a:off x="4754880" y="777240"/>
            <a:ext cx="4206240" cy="457200"/>
          </a:xfrm>
          <a:prstGeom prst="rect">
            <a:avLst/>
          </a:prstGeom>
          <a:solidFill>
            <a:srgbClr val="C62828"/>
          </a:solidFill>
          <a:ln w="12700">
            <a:solidFill>
              <a:srgbClr val="C62828"/>
            </a:solidFill>
            <a:prstDash val="solid"/>
          </a:ln>
        </p:spPr>
      </p:sp>
      <p:sp>
        <p:nvSpPr>
          <p:cNvPr id="28" name="Text 26"/>
          <p:cNvSpPr/>
          <p:nvPr/>
        </p:nvSpPr>
        <p:spPr>
          <a:xfrm>
            <a:off x="4754880" y="777240"/>
            <a:ext cx="4206240" cy="457200"/>
          </a:xfrm>
          <a:prstGeom prst="rect">
            <a:avLst/>
          </a:prstGeom>
          <a:noFill/>
          <a:ln/>
        </p:spPr>
        <p:txBody>
          <a:bodyPr wrap="square" rtlCol="0" anchor="ctr"/>
          <a:lstStyle/>
          <a:p>
            <a:pPr algn="ctr" indent="0" marL="0">
              <a:buNone/>
            </a:pPr>
            <a:r>
              <a:rPr lang="en-US" sz="1500" b="1" dirty="0">
                <a:solidFill>
                  <a:srgbClr val="FFFFFF"/>
                </a:solidFill>
              </a:rPr>
              <a:t>❌  KEKURANGAN</a:t>
            </a:r>
            <a:endParaRPr lang="en-US" sz="1500" dirty="0"/>
          </a:p>
        </p:txBody>
      </p:sp>
      <p:sp>
        <p:nvSpPr>
          <p:cNvPr id="29" name="Shape 27"/>
          <p:cNvSpPr/>
          <p:nvPr/>
        </p:nvSpPr>
        <p:spPr>
          <a:xfrm>
            <a:off x="4892040" y="1325880"/>
            <a:ext cx="274320" cy="274320"/>
          </a:xfrm>
          <a:prstGeom prst="rect">
            <a:avLst/>
          </a:prstGeom>
          <a:solidFill>
            <a:srgbClr val="C62828"/>
          </a:solidFill>
          <a:ln w="12700">
            <a:solidFill>
              <a:srgbClr val="C62828"/>
            </a:solidFill>
            <a:prstDash val="solid"/>
          </a:ln>
        </p:spPr>
      </p:sp>
      <p:sp>
        <p:nvSpPr>
          <p:cNvPr id="30" name="Text 28"/>
          <p:cNvSpPr/>
          <p:nvPr/>
        </p:nvSpPr>
        <p:spPr>
          <a:xfrm>
            <a:off x="4892040" y="132588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31" name="Text 29"/>
          <p:cNvSpPr/>
          <p:nvPr/>
        </p:nvSpPr>
        <p:spPr>
          <a:xfrm>
            <a:off x="5257800" y="1325880"/>
            <a:ext cx="3566160" cy="320040"/>
          </a:xfrm>
          <a:prstGeom prst="rect">
            <a:avLst/>
          </a:prstGeom>
          <a:noFill/>
          <a:ln/>
        </p:spPr>
        <p:txBody>
          <a:bodyPr wrap="square" rtlCol="0" anchor="ctr"/>
          <a:lstStyle/>
          <a:p>
            <a:pPr indent="0" marL="0">
              <a:buNone/>
            </a:pPr>
            <a:r>
              <a:rPr lang="en-US" sz="1200" dirty="0">
                <a:solidFill>
                  <a:srgbClr val="FFFFFF"/>
                </a:solidFill>
              </a:rPr>
              <a:t>Rentan overfitting tanpa pruning</a:t>
            </a:r>
            <a:endParaRPr lang="en-US" sz="1200" dirty="0"/>
          </a:p>
        </p:txBody>
      </p:sp>
      <p:sp>
        <p:nvSpPr>
          <p:cNvPr id="32" name="Shape 30"/>
          <p:cNvSpPr/>
          <p:nvPr/>
        </p:nvSpPr>
        <p:spPr>
          <a:xfrm>
            <a:off x="4892040" y="1801368"/>
            <a:ext cx="274320" cy="274320"/>
          </a:xfrm>
          <a:prstGeom prst="rect">
            <a:avLst/>
          </a:prstGeom>
          <a:solidFill>
            <a:srgbClr val="C62828"/>
          </a:solidFill>
          <a:ln w="12700">
            <a:solidFill>
              <a:srgbClr val="C62828"/>
            </a:solidFill>
            <a:prstDash val="solid"/>
          </a:ln>
        </p:spPr>
      </p:sp>
      <p:sp>
        <p:nvSpPr>
          <p:cNvPr id="33" name="Text 31"/>
          <p:cNvSpPr/>
          <p:nvPr/>
        </p:nvSpPr>
        <p:spPr>
          <a:xfrm>
            <a:off x="4892040" y="1801368"/>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34" name="Text 32"/>
          <p:cNvSpPr/>
          <p:nvPr/>
        </p:nvSpPr>
        <p:spPr>
          <a:xfrm>
            <a:off x="5257800" y="1801368"/>
            <a:ext cx="3566160" cy="320040"/>
          </a:xfrm>
          <a:prstGeom prst="rect">
            <a:avLst/>
          </a:prstGeom>
          <a:noFill/>
          <a:ln/>
        </p:spPr>
        <p:txBody>
          <a:bodyPr wrap="square" rtlCol="0" anchor="ctr"/>
          <a:lstStyle/>
          <a:p>
            <a:pPr indent="0" marL="0">
              <a:buNone/>
            </a:pPr>
            <a:r>
              <a:rPr lang="en-US" sz="1200" dirty="0">
                <a:solidFill>
                  <a:srgbClr val="FFFFFF"/>
                </a:solidFill>
              </a:rPr>
              <a:t>Tidak stabil (sensitive terhadap data)</a:t>
            </a:r>
            <a:endParaRPr lang="en-US" sz="1200" dirty="0"/>
          </a:p>
        </p:txBody>
      </p:sp>
      <p:sp>
        <p:nvSpPr>
          <p:cNvPr id="35" name="Shape 33"/>
          <p:cNvSpPr/>
          <p:nvPr/>
        </p:nvSpPr>
        <p:spPr>
          <a:xfrm>
            <a:off x="4892040" y="2276856"/>
            <a:ext cx="274320" cy="274320"/>
          </a:xfrm>
          <a:prstGeom prst="rect">
            <a:avLst/>
          </a:prstGeom>
          <a:solidFill>
            <a:srgbClr val="C62828"/>
          </a:solidFill>
          <a:ln w="12700">
            <a:solidFill>
              <a:srgbClr val="C62828"/>
            </a:solidFill>
            <a:prstDash val="solid"/>
          </a:ln>
        </p:spPr>
      </p:sp>
      <p:sp>
        <p:nvSpPr>
          <p:cNvPr id="36" name="Text 34"/>
          <p:cNvSpPr/>
          <p:nvPr/>
        </p:nvSpPr>
        <p:spPr>
          <a:xfrm>
            <a:off x="4892040" y="2276856"/>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37" name="Text 35"/>
          <p:cNvSpPr/>
          <p:nvPr/>
        </p:nvSpPr>
        <p:spPr>
          <a:xfrm>
            <a:off x="5257800" y="2276856"/>
            <a:ext cx="3566160" cy="320040"/>
          </a:xfrm>
          <a:prstGeom prst="rect">
            <a:avLst/>
          </a:prstGeom>
          <a:noFill/>
          <a:ln/>
        </p:spPr>
        <p:txBody>
          <a:bodyPr wrap="square" rtlCol="0" anchor="ctr"/>
          <a:lstStyle/>
          <a:p>
            <a:pPr indent="0" marL="0">
              <a:buNone/>
            </a:pPr>
            <a:r>
              <a:rPr lang="en-US" sz="1200" dirty="0">
                <a:solidFill>
                  <a:srgbClr val="FFFFFF"/>
                </a:solidFill>
              </a:rPr>
              <a:t>Bias pada fitur dengan banyak kategori</a:t>
            </a:r>
            <a:endParaRPr lang="en-US" sz="1200" dirty="0"/>
          </a:p>
        </p:txBody>
      </p:sp>
      <p:sp>
        <p:nvSpPr>
          <p:cNvPr id="38" name="Shape 36"/>
          <p:cNvSpPr/>
          <p:nvPr/>
        </p:nvSpPr>
        <p:spPr>
          <a:xfrm>
            <a:off x="4892040" y="2752344"/>
            <a:ext cx="274320" cy="274320"/>
          </a:xfrm>
          <a:prstGeom prst="rect">
            <a:avLst/>
          </a:prstGeom>
          <a:solidFill>
            <a:srgbClr val="C62828"/>
          </a:solidFill>
          <a:ln w="12700">
            <a:solidFill>
              <a:srgbClr val="C62828"/>
            </a:solidFill>
            <a:prstDash val="solid"/>
          </a:ln>
        </p:spPr>
      </p:sp>
      <p:sp>
        <p:nvSpPr>
          <p:cNvPr id="39" name="Text 37"/>
          <p:cNvSpPr/>
          <p:nvPr/>
        </p:nvSpPr>
        <p:spPr>
          <a:xfrm>
            <a:off x="4892040" y="2752344"/>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40" name="Text 38"/>
          <p:cNvSpPr/>
          <p:nvPr/>
        </p:nvSpPr>
        <p:spPr>
          <a:xfrm>
            <a:off x="5257800" y="2752344"/>
            <a:ext cx="3566160" cy="320040"/>
          </a:xfrm>
          <a:prstGeom prst="rect">
            <a:avLst/>
          </a:prstGeom>
          <a:noFill/>
          <a:ln/>
        </p:spPr>
        <p:txBody>
          <a:bodyPr wrap="square" rtlCol="0" anchor="ctr"/>
          <a:lstStyle/>
          <a:p>
            <a:pPr indent="0" marL="0">
              <a:buNone/>
            </a:pPr>
            <a:r>
              <a:rPr lang="en-US" sz="1200" dirty="0">
                <a:solidFill>
                  <a:srgbClr val="FFFFFF"/>
                </a:solidFill>
              </a:rPr>
              <a:t>Kurang akurat dibanding ensemble methods</a:t>
            </a:r>
            <a:endParaRPr lang="en-US" sz="1200" dirty="0"/>
          </a:p>
        </p:txBody>
      </p:sp>
      <p:sp>
        <p:nvSpPr>
          <p:cNvPr id="41" name="Shape 39"/>
          <p:cNvSpPr/>
          <p:nvPr/>
        </p:nvSpPr>
        <p:spPr>
          <a:xfrm>
            <a:off x="4892040" y="3227832"/>
            <a:ext cx="274320" cy="274320"/>
          </a:xfrm>
          <a:prstGeom prst="rect">
            <a:avLst/>
          </a:prstGeom>
          <a:solidFill>
            <a:srgbClr val="C62828"/>
          </a:solidFill>
          <a:ln w="12700">
            <a:solidFill>
              <a:srgbClr val="C62828"/>
            </a:solidFill>
            <a:prstDash val="solid"/>
          </a:ln>
        </p:spPr>
      </p:sp>
      <p:sp>
        <p:nvSpPr>
          <p:cNvPr id="42" name="Text 40"/>
          <p:cNvSpPr/>
          <p:nvPr/>
        </p:nvSpPr>
        <p:spPr>
          <a:xfrm>
            <a:off x="4892040" y="3227832"/>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43" name="Text 41"/>
          <p:cNvSpPr/>
          <p:nvPr/>
        </p:nvSpPr>
        <p:spPr>
          <a:xfrm>
            <a:off x="5257800" y="3227832"/>
            <a:ext cx="3566160" cy="320040"/>
          </a:xfrm>
          <a:prstGeom prst="rect">
            <a:avLst/>
          </a:prstGeom>
          <a:noFill/>
          <a:ln/>
        </p:spPr>
        <p:txBody>
          <a:bodyPr wrap="square" rtlCol="0" anchor="ctr"/>
          <a:lstStyle/>
          <a:p>
            <a:pPr indent="0" marL="0">
              <a:buNone/>
            </a:pPr>
            <a:r>
              <a:rPr lang="en-US" sz="1200" dirty="0">
                <a:solidFill>
                  <a:srgbClr val="FFFFFF"/>
                </a:solidFill>
              </a:rPr>
              <a:t>Tidak bagus untuk data time-series</a:t>
            </a:r>
            <a:endParaRPr lang="en-US" sz="1200" dirty="0"/>
          </a:p>
        </p:txBody>
      </p:sp>
      <p:sp>
        <p:nvSpPr>
          <p:cNvPr id="44" name="Shape 42"/>
          <p:cNvSpPr/>
          <p:nvPr/>
        </p:nvSpPr>
        <p:spPr>
          <a:xfrm>
            <a:off x="4892040" y="3703320"/>
            <a:ext cx="274320" cy="274320"/>
          </a:xfrm>
          <a:prstGeom prst="rect">
            <a:avLst/>
          </a:prstGeom>
          <a:solidFill>
            <a:srgbClr val="C62828"/>
          </a:solidFill>
          <a:ln w="12700">
            <a:solidFill>
              <a:srgbClr val="C62828"/>
            </a:solidFill>
            <a:prstDash val="solid"/>
          </a:ln>
        </p:spPr>
      </p:sp>
      <p:sp>
        <p:nvSpPr>
          <p:cNvPr id="45" name="Text 43"/>
          <p:cNvSpPr/>
          <p:nvPr/>
        </p:nvSpPr>
        <p:spPr>
          <a:xfrm>
            <a:off x="4892040" y="370332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46" name="Text 44"/>
          <p:cNvSpPr/>
          <p:nvPr/>
        </p:nvSpPr>
        <p:spPr>
          <a:xfrm>
            <a:off x="5257800" y="3703320"/>
            <a:ext cx="3566160" cy="320040"/>
          </a:xfrm>
          <a:prstGeom prst="rect">
            <a:avLst/>
          </a:prstGeom>
          <a:noFill/>
          <a:ln/>
        </p:spPr>
        <p:txBody>
          <a:bodyPr wrap="square" rtlCol="0" anchor="ctr"/>
          <a:lstStyle/>
          <a:p>
            <a:pPr indent="0" marL="0">
              <a:buNone/>
            </a:pPr>
            <a:r>
              <a:rPr lang="en-US" sz="1200" dirty="0">
                <a:solidFill>
                  <a:srgbClr val="FFFFFF"/>
                </a:solidFill>
              </a:rPr>
              <a:t>Decision boundary hanya horizontal/vertikal</a:t>
            </a:r>
            <a:endParaRPr lang="en-US" sz="1200" dirty="0"/>
          </a:p>
        </p:txBody>
      </p:sp>
      <p:sp>
        <p:nvSpPr>
          <p:cNvPr id="47" name="Shape 45"/>
          <p:cNvSpPr/>
          <p:nvPr/>
        </p:nvSpPr>
        <p:spPr>
          <a:xfrm>
            <a:off x="0" y="5074920"/>
            <a:ext cx="9144000" cy="73152"/>
          </a:xfrm>
          <a:prstGeom prst="rect">
            <a:avLst/>
          </a:prstGeom>
          <a:solidFill>
            <a:srgbClr val="1565C0"/>
          </a:solidFill>
          <a:ln w="12700">
            <a:solidFill>
              <a:srgbClr val="1565C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Shape 1"/>
          <p:cNvSpPr/>
          <p:nvPr/>
        </p:nvSpPr>
        <p:spPr>
          <a:xfrm>
            <a:off x="0" y="0"/>
            <a:ext cx="9144000" cy="73152"/>
          </a:xfrm>
          <a:prstGeom prst="rect">
            <a:avLst/>
          </a:prstGeom>
          <a:solidFill>
            <a:srgbClr val="1565C0"/>
          </a:solidFill>
          <a:ln w="12700">
            <a:solidFill>
              <a:srgbClr val="1565C0"/>
            </a:solidFill>
            <a:prstDash val="solid"/>
          </a:ln>
        </p:spPr>
      </p:sp>
      <p:sp>
        <p:nvSpPr>
          <p:cNvPr id="4" name="Text 2"/>
          <p:cNvSpPr/>
          <p:nvPr/>
        </p:nvSpPr>
        <p:spPr>
          <a:xfrm>
            <a:off x="274320" y="137160"/>
            <a:ext cx="8686800" cy="502920"/>
          </a:xfrm>
          <a:prstGeom prst="rect">
            <a:avLst/>
          </a:prstGeom>
          <a:noFill/>
          <a:ln/>
        </p:spPr>
        <p:txBody>
          <a:bodyPr wrap="square" rtlCol="0" anchor="ctr"/>
          <a:lstStyle/>
          <a:p>
            <a:pPr indent="0" marL="0">
              <a:buNone/>
            </a:pPr>
            <a:r>
              <a:rPr lang="en-US" sz="2600" b="1" dirty="0">
                <a:solidFill>
                  <a:srgbClr val="FFFFFF"/>
                </a:solidFill>
              </a:rPr>
              <a:t>🌳  Code Implementation: Decision Tree</a:t>
            </a:r>
            <a:endParaRPr lang="en-US" sz="2600" dirty="0"/>
          </a:p>
        </p:txBody>
      </p:sp>
      <p:sp>
        <p:nvSpPr>
          <p:cNvPr id="5" name="Shape 3"/>
          <p:cNvSpPr/>
          <p:nvPr/>
        </p:nvSpPr>
        <p:spPr>
          <a:xfrm>
            <a:off x="274320" y="713232"/>
            <a:ext cx="5120640" cy="4251960"/>
          </a:xfrm>
          <a:prstGeom prst="rect">
            <a:avLst/>
          </a:prstGeom>
          <a:solidFill>
            <a:srgbClr val="0A1628"/>
          </a:solidFill>
          <a:ln w="19050">
            <a:solidFill>
              <a:srgbClr val="64FFDA"/>
            </a:solidFill>
            <a:prstDash val="solid"/>
          </a:ln>
        </p:spPr>
      </p:sp>
      <p:sp>
        <p:nvSpPr>
          <p:cNvPr id="6" name="Shape 4"/>
          <p:cNvSpPr/>
          <p:nvPr/>
        </p:nvSpPr>
        <p:spPr>
          <a:xfrm>
            <a:off x="274320" y="713232"/>
            <a:ext cx="5120640" cy="320040"/>
          </a:xfrm>
          <a:prstGeom prst="rect">
            <a:avLst/>
          </a:prstGeom>
          <a:solidFill>
            <a:srgbClr val="1A2A1A"/>
          </a:solidFill>
          <a:ln w="19050">
            <a:solidFill>
              <a:srgbClr val="64FFDA"/>
            </a:solidFill>
            <a:prstDash val="solid"/>
          </a:ln>
        </p:spPr>
      </p:sp>
      <p:sp>
        <p:nvSpPr>
          <p:cNvPr id="7" name="Text 5"/>
          <p:cNvSpPr/>
          <p:nvPr/>
        </p:nvSpPr>
        <p:spPr>
          <a:xfrm>
            <a:off x="274320" y="713232"/>
            <a:ext cx="5120640" cy="320040"/>
          </a:xfrm>
          <a:prstGeom prst="rect">
            <a:avLst/>
          </a:prstGeom>
          <a:noFill/>
          <a:ln/>
        </p:spPr>
        <p:txBody>
          <a:bodyPr wrap="square" rtlCol="0" anchor="ctr"/>
          <a:lstStyle/>
          <a:p>
            <a:pPr algn="ctr" indent="0" marL="0">
              <a:buNone/>
            </a:pPr>
            <a:r>
              <a:rPr lang="en-US" sz="1100" dirty="0">
                <a:solidFill>
                  <a:srgbClr val="64FFDA"/>
                </a:solidFill>
              </a:rPr>
              <a:t>Python — scikit-learn</a:t>
            </a:r>
            <a:endParaRPr lang="en-US" sz="1100" dirty="0"/>
          </a:p>
        </p:txBody>
      </p:sp>
      <p:sp>
        <p:nvSpPr>
          <p:cNvPr id="8" name="Text 6"/>
          <p:cNvSpPr/>
          <p:nvPr/>
        </p:nvSpPr>
        <p:spPr>
          <a:xfrm>
            <a:off x="411480" y="1097280"/>
            <a:ext cx="4892040" cy="3749040"/>
          </a:xfrm>
          <a:prstGeom prst="rect">
            <a:avLst/>
          </a:prstGeom>
          <a:noFill/>
          <a:ln/>
        </p:spPr>
        <p:txBody>
          <a:bodyPr wrap="square" rtlCol="0" anchor="t"/>
          <a:lstStyle/>
          <a:p>
            <a:pPr indent="0" marL="0">
              <a:buNone/>
            </a:pPr>
            <a:r>
              <a:rPr lang="en-US" sz="1100" dirty="0">
                <a:solidFill>
                  <a:srgbClr val="6A9955"/>
                </a:solidFill>
                <a:latin typeface="Consolas" pitchFamily="34" charset="0"/>
                <a:ea typeface="Consolas" pitchFamily="34" charset="-122"/>
                <a:cs typeface="Consolas" pitchFamily="34" charset="-120"/>
              </a:rPr>
              <a:t># 1. Import library
</a:t>
            </a:r>
            <a:pPr indent="0" marL="0">
              <a:buNone/>
            </a:pPr>
            <a:r>
              <a:rPr lang="en-US" sz="1100" dirty="0">
                <a:solidFill>
                  <a:srgbClr val="C586C0"/>
                </a:solidFill>
                <a:latin typeface="Consolas" pitchFamily="34" charset="0"/>
                <a:ea typeface="Consolas" pitchFamily="34" charset="-122"/>
                <a:cs typeface="Consolas" pitchFamily="34" charset="-120"/>
              </a:rPr>
              <a:t>from</a:t>
            </a:r>
            <a:pPr indent="0" marL="0">
              <a:buNone/>
            </a:pPr>
            <a:r>
              <a:rPr lang="en-US" sz="1100" dirty="0">
                <a:solidFill>
                  <a:srgbClr val="FFFFFF"/>
                </a:solidFill>
                <a:latin typeface="Consolas" pitchFamily="34" charset="0"/>
                <a:ea typeface="Consolas" pitchFamily="34" charset="-122"/>
                <a:cs typeface="Consolas" pitchFamily="34" charset="-120"/>
              </a:rPr>
              <a:t> sklearn.tree </a:t>
            </a:r>
            <a:pPr indent="0" marL="0">
              <a:buNone/>
            </a:pPr>
            <a:r>
              <a:rPr lang="en-US" sz="1100" dirty="0">
                <a:solidFill>
                  <a:srgbClr val="C586C0"/>
                </a:solidFill>
                <a:latin typeface="Consolas" pitchFamily="34" charset="0"/>
                <a:ea typeface="Consolas" pitchFamily="34" charset="-122"/>
                <a:cs typeface="Consolas" pitchFamily="34" charset="-120"/>
              </a:rPr>
              <a:t>import</a:t>
            </a:r>
            <a:pPr indent="0" marL="0">
              <a:buNone/>
            </a:pPr>
            <a:r>
              <a:rPr lang="en-US" sz="1100" dirty="0">
                <a:solidFill>
                  <a:srgbClr val="4EC9B0"/>
                </a:solidFill>
                <a:latin typeface="Consolas" pitchFamily="34" charset="0"/>
                <a:ea typeface="Consolas" pitchFamily="34" charset="-122"/>
                <a:cs typeface="Consolas" pitchFamily="34" charset="-120"/>
              </a:rPr>
              <a:t> DecisionTreeClassifier
</a:t>
            </a:r>
            <a:pPr indent="0" marL="0">
              <a:buNone/>
            </a:pPr>
            <a:r>
              <a:rPr lang="en-US" sz="1100" dirty="0">
                <a:solidFill>
                  <a:srgbClr val="C586C0"/>
                </a:solidFill>
                <a:latin typeface="Consolas" pitchFamily="34" charset="0"/>
                <a:ea typeface="Consolas" pitchFamily="34" charset="-122"/>
                <a:cs typeface="Consolas" pitchFamily="34" charset="-120"/>
              </a:rPr>
              <a:t>from</a:t>
            </a:r>
            <a:pPr indent="0" marL="0">
              <a:buNone/>
            </a:pPr>
            <a:r>
              <a:rPr lang="en-US" sz="1100" dirty="0">
                <a:solidFill>
                  <a:srgbClr val="FFFFFF"/>
                </a:solidFill>
                <a:latin typeface="Consolas" pitchFamily="34" charset="0"/>
                <a:ea typeface="Consolas" pitchFamily="34" charset="-122"/>
                <a:cs typeface="Consolas" pitchFamily="34" charset="-120"/>
              </a:rPr>
              <a:t> sklearn.datasets </a:t>
            </a:r>
            <a:pPr indent="0" marL="0">
              <a:buNone/>
            </a:pPr>
            <a:r>
              <a:rPr lang="en-US" sz="1100" dirty="0">
                <a:solidFill>
                  <a:srgbClr val="C586C0"/>
                </a:solidFill>
                <a:latin typeface="Consolas" pitchFamily="34" charset="0"/>
                <a:ea typeface="Consolas" pitchFamily="34" charset="-122"/>
                <a:cs typeface="Consolas" pitchFamily="34" charset="-120"/>
              </a:rPr>
              <a:t>import</a:t>
            </a:r>
            <a:pPr indent="0" marL="0">
              <a:buNone/>
            </a:pPr>
            <a:r>
              <a:rPr lang="en-US" sz="1100" dirty="0">
                <a:solidFill>
                  <a:srgbClr val="4EC9B0"/>
                </a:solidFill>
                <a:latin typeface="Consolas" pitchFamily="34" charset="0"/>
                <a:ea typeface="Consolas" pitchFamily="34" charset="-122"/>
                <a:cs typeface="Consolas" pitchFamily="34" charset="-120"/>
              </a:rPr>
              <a:t> load_iris
</a:t>
            </a:r>
            <a:pPr indent="0" marL="0">
              <a:buNone/>
            </a:pPr>
            <a:r>
              <a:rPr lang="en-US" sz="1100" dirty="0">
                <a:solidFill>
                  <a:srgbClr val="C586C0"/>
                </a:solidFill>
                <a:latin typeface="Consolas" pitchFamily="34" charset="0"/>
                <a:ea typeface="Consolas" pitchFamily="34" charset="-122"/>
                <a:cs typeface="Consolas" pitchFamily="34" charset="-120"/>
              </a:rPr>
              <a:t>from</a:t>
            </a:r>
            <a:pPr indent="0" marL="0">
              <a:buNone/>
            </a:pPr>
            <a:r>
              <a:rPr lang="en-US" sz="1100" dirty="0">
                <a:solidFill>
                  <a:srgbClr val="FFFFFF"/>
                </a:solidFill>
                <a:latin typeface="Consolas" pitchFamily="34" charset="0"/>
                <a:ea typeface="Consolas" pitchFamily="34" charset="-122"/>
                <a:cs typeface="Consolas" pitchFamily="34" charset="-120"/>
              </a:rPr>
              <a:t> sklearn.model_selection </a:t>
            </a:r>
            <a:pPr indent="0" marL="0">
              <a:buNone/>
            </a:pPr>
            <a:r>
              <a:rPr lang="en-US" sz="1100" dirty="0">
                <a:solidFill>
                  <a:srgbClr val="C586C0"/>
                </a:solidFill>
                <a:latin typeface="Consolas" pitchFamily="34" charset="0"/>
                <a:ea typeface="Consolas" pitchFamily="34" charset="-122"/>
                <a:cs typeface="Consolas" pitchFamily="34" charset="-120"/>
              </a:rPr>
              <a:t>import</a:t>
            </a:r>
            <a:pPr indent="0" marL="0">
              <a:buNone/>
            </a:pPr>
            <a:r>
              <a:rPr lang="en-US" sz="1100" dirty="0">
                <a:solidFill>
                  <a:srgbClr val="4EC9B0"/>
                </a:solidFill>
                <a:latin typeface="Consolas" pitchFamily="34" charset="0"/>
                <a:ea typeface="Consolas" pitchFamily="34" charset="-122"/>
                <a:cs typeface="Consolas" pitchFamily="34" charset="-120"/>
              </a:rPr>
              <a:t> train_test_split
</a:t>
            </a:r>
            <a:pPr indent="0" marL="0">
              <a:buNone/>
            </a:pPr>
            <a:r>
              <a:rPr lang="en-US" sz="1100" dirty="0">
                <a:solidFill>
                  <a:srgbClr val="6A9955"/>
                </a:solidFill>
                <a:latin typeface="Consolas" pitchFamily="34" charset="0"/>
                <a:ea typeface="Consolas" pitchFamily="34" charset="-122"/>
                <a:cs typeface="Consolas" pitchFamily="34" charset="-120"/>
              </a:rPr>
              <a:t># 2. Load dataset
</a:t>
            </a:r>
            <a:pPr indent="0" marL="0">
              <a:buNone/>
            </a:pPr>
            <a:r>
              <a:rPr lang="en-US" sz="1100" dirty="0">
                <a:solidFill>
                  <a:srgbClr val="FFFFFF"/>
                </a:solidFill>
                <a:latin typeface="Consolas" pitchFamily="34" charset="0"/>
                <a:ea typeface="Consolas" pitchFamily="34" charset="-122"/>
                <a:cs typeface="Consolas" pitchFamily="34" charset="-120"/>
              </a:rPr>
              <a:t>iris = load_iris()
</a:t>
            </a:r>
            <a:pPr indent="0" marL="0">
              <a:buNone/>
            </a:pPr>
            <a:r>
              <a:rPr lang="en-US" sz="1100" dirty="0">
                <a:solidFill>
                  <a:srgbClr val="FFFFFF"/>
                </a:solidFill>
                <a:latin typeface="Consolas" pitchFamily="34" charset="0"/>
                <a:ea typeface="Consolas" pitchFamily="34" charset="-122"/>
                <a:cs typeface="Consolas" pitchFamily="34" charset="-120"/>
              </a:rPr>
              <a:t>X, y = iris.data, iris.target
</a:t>
            </a:r>
            <a:pPr indent="0" marL="0">
              <a:buNone/>
            </a:pPr>
            <a:r>
              <a:rPr lang="en-US" sz="1100" dirty="0">
                <a:solidFill>
                  <a:srgbClr val="6A9955"/>
                </a:solidFill>
                <a:latin typeface="Consolas" pitchFamily="34" charset="0"/>
                <a:ea typeface="Consolas" pitchFamily="34" charset="-122"/>
                <a:cs typeface="Consolas" pitchFamily="34" charset="-120"/>
              </a:rPr>
              <a:t># 3. Split data (80% train, 20% test)
</a:t>
            </a:r>
            <a:pPr indent="0" marL="0">
              <a:buNone/>
            </a:pPr>
            <a:r>
              <a:rPr lang="en-US" sz="1100" dirty="0">
                <a:solidFill>
                  <a:srgbClr val="FFFFFF"/>
                </a:solidFill>
                <a:latin typeface="Consolas" pitchFamily="34" charset="0"/>
                <a:ea typeface="Consolas" pitchFamily="34" charset="-122"/>
                <a:cs typeface="Consolas" pitchFamily="34" charset="-120"/>
              </a:rPr>
              <a:t>X_train, X_test, y_train, y_test =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train_test_split(X, y, test_size=</a:t>
            </a:r>
            <a:endParaRPr lang="en-US" sz="1100" dirty="0"/>
          </a:p>
          <a:p>
            <a:pPr indent="0" marL="0">
              <a:buNone/>
            </a:pPr>
            <a:r>
              <a:rPr lang="en-US" sz="1100" dirty="0">
                <a:solidFill>
                  <a:srgbClr val="B5CEA8"/>
                </a:solidFill>
                <a:latin typeface="Consolas" pitchFamily="34" charset="0"/>
                <a:ea typeface="Consolas" pitchFamily="34" charset="-122"/>
                <a:cs typeface="Consolas" pitchFamily="34" charset="-120"/>
              </a:rPr>
              <a:t>0.2</a:t>
            </a:r>
            <a:pPr indent="0" marL="0">
              <a:buNone/>
            </a:pPr>
            <a:r>
              <a:rPr lang="en-US" sz="1100" dirty="0">
                <a:solidFill>
                  <a:srgbClr val="FFFFFF"/>
                </a:solidFill>
                <a:latin typeface="Consolas" pitchFamily="34" charset="0"/>
                <a:ea typeface="Consolas" pitchFamily="34" charset="-122"/>
                <a:cs typeface="Consolas" pitchFamily="34" charset="-120"/>
              </a:rPr>
              <a:t>, random_state=</a:t>
            </a:r>
            <a:pPr indent="0" marL="0">
              <a:buNone/>
            </a:pPr>
            <a:r>
              <a:rPr lang="en-US" sz="1100" dirty="0">
                <a:solidFill>
                  <a:srgbClr val="B5CEA8"/>
                </a:solidFill>
                <a:latin typeface="Consolas" pitchFamily="34" charset="0"/>
                <a:ea typeface="Consolas" pitchFamily="34" charset="-122"/>
                <a:cs typeface="Consolas" pitchFamily="34" charset="-120"/>
              </a:rPr>
              <a:t>42</a:t>
            </a:r>
            <a:pPr indent="0" marL="0">
              <a:buNone/>
            </a:pPr>
            <a:r>
              <a:rPr lang="en-US" sz="1100" dirty="0">
                <a:solidFill>
                  <a:srgbClr val="FFFFFF"/>
                </a:solidFill>
                <a:latin typeface="Consolas" pitchFamily="34" charset="0"/>
                <a:ea typeface="Consolas" pitchFamily="34" charset="-122"/>
                <a:cs typeface="Consolas" pitchFamily="34" charset="-120"/>
              </a:rPr>
              <a:t>)
</a:t>
            </a:r>
            <a:pPr indent="0" marL="0">
              <a:buNone/>
            </a:pPr>
            <a:r>
              <a:rPr lang="en-US" sz="1100" dirty="0">
                <a:solidFill>
                  <a:srgbClr val="6A9955"/>
                </a:solidFill>
                <a:latin typeface="Consolas" pitchFamily="34" charset="0"/>
                <a:ea typeface="Consolas" pitchFamily="34" charset="-122"/>
                <a:cs typeface="Consolas" pitchFamily="34" charset="-120"/>
              </a:rPr>
              <a:t># 4. Buat dan latih model
</a:t>
            </a:r>
            <a:pPr indent="0" marL="0">
              <a:buNone/>
            </a:pPr>
            <a:r>
              <a:rPr lang="en-US" sz="1100" dirty="0">
                <a:solidFill>
                  <a:srgbClr val="FFFFFF"/>
                </a:solidFill>
                <a:latin typeface="Consolas" pitchFamily="34" charset="0"/>
                <a:ea typeface="Consolas" pitchFamily="34" charset="-122"/>
                <a:cs typeface="Consolas" pitchFamily="34" charset="-120"/>
              </a:rPr>
              <a:t>model = </a:t>
            </a:r>
            <a:pPr indent="0" marL="0">
              <a:buNone/>
            </a:pPr>
            <a:r>
              <a:rPr lang="en-US" sz="1100" dirty="0">
                <a:solidFill>
                  <a:srgbClr val="4EC9B0"/>
                </a:solidFill>
                <a:latin typeface="Consolas" pitchFamily="34" charset="0"/>
                <a:ea typeface="Consolas" pitchFamily="34" charset="-122"/>
                <a:cs typeface="Consolas" pitchFamily="34" charset="-120"/>
              </a:rPr>
              <a:t>DecisionTreeClassifier</a:t>
            </a:r>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criterion=</a:t>
            </a:r>
            <a:endParaRPr lang="en-US" sz="1100" dirty="0"/>
          </a:p>
          <a:p>
            <a:pPr indent="0" marL="0">
              <a:buNone/>
            </a:pPr>
            <a:r>
              <a:rPr lang="en-US" sz="1100" dirty="0">
                <a:solidFill>
                  <a:srgbClr val="CE9178"/>
                </a:solidFill>
                <a:latin typeface="Consolas" pitchFamily="34" charset="0"/>
                <a:ea typeface="Consolas" pitchFamily="34" charset="-122"/>
                <a:cs typeface="Consolas" pitchFamily="34" charset="-120"/>
              </a:rPr>
              <a:t>"gini"</a:t>
            </a:r>
            <a:pPr indent="0" marL="0">
              <a:buNone/>
            </a:pPr>
            <a:r>
              <a:rPr lang="en-US" sz="1100" dirty="0">
                <a:solidFill>
                  <a:srgbClr val="FFFFFF"/>
                </a:solidFill>
                <a:latin typeface="Consolas" pitchFamily="34" charset="0"/>
                <a:ea typeface="Consolas" pitchFamily="34" charset="-122"/>
                <a:cs typeface="Consolas" pitchFamily="34" charset="-120"/>
              </a:rPr>
              <a:t>,   </a:t>
            </a:r>
            <a:pPr indent="0" marL="0">
              <a:buNone/>
            </a:pPr>
            <a:r>
              <a:rPr lang="en-US" sz="1100" dirty="0">
                <a:solidFill>
                  <a:srgbClr val="6A9955"/>
                </a:solidFill>
                <a:latin typeface="Consolas" pitchFamily="34" charset="0"/>
                <a:ea typeface="Consolas" pitchFamily="34" charset="-122"/>
                <a:cs typeface="Consolas" pitchFamily="34" charset="-120"/>
              </a:rPr>
              <a:t># metode split
</a:t>
            </a:r>
            <a:pPr indent="0" marL="0">
              <a:buNone/>
            </a:pPr>
            <a:r>
              <a:rPr lang="en-US" sz="1100" dirty="0">
                <a:solidFill>
                  <a:srgbClr val="FFFFFF"/>
                </a:solidFill>
                <a:latin typeface="Consolas" pitchFamily="34" charset="0"/>
                <a:ea typeface="Consolas" pitchFamily="34" charset="-122"/>
                <a:cs typeface="Consolas" pitchFamily="34" charset="-120"/>
              </a:rPr>
              <a:t>    max_depth=</a:t>
            </a:r>
            <a:pPr indent="0" marL="0">
              <a:buNone/>
            </a:pPr>
            <a:r>
              <a:rPr lang="en-US" sz="1100" dirty="0">
                <a:solidFill>
                  <a:srgbClr val="B5CEA8"/>
                </a:solidFill>
                <a:latin typeface="Consolas" pitchFamily="34" charset="0"/>
                <a:ea typeface="Consolas" pitchFamily="34" charset="-122"/>
                <a:cs typeface="Consolas" pitchFamily="34" charset="-120"/>
              </a:rPr>
              <a:t>3</a:t>
            </a:r>
            <a:pPr indent="0" marL="0">
              <a:buNone/>
            </a:pPr>
            <a:r>
              <a:rPr lang="en-US" sz="1100" dirty="0">
                <a:solidFill>
                  <a:srgbClr val="FFFFFF"/>
                </a:solidFill>
                <a:latin typeface="Consolas" pitchFamily="34" charset="0"/>
                <a:ea typeface="Consolas" pitchFamily="34" charset="-122"/>
                <a:cs typeface="Consolas" pitchFamily="34" charset="-120"/>
              </a:rPr>
              <a:t>,       </a:t>
            </a:r>
            <a:pPr indent="0" marL="0">
              <a:buNone/>
            </a:pPr>
            <a:r>
              <a:rPr lang="en-US" sz="1100" dirty="0">
                <a:solidFill>
                  <a:srgbClr val="6A9955"/>
                </a:solidFill>
                <a:latin typeface="Consolas" pitchFamily="34" charset="0"/>
                <a:ea typeface="Consolas" pitchFamily="34" charset="-122"/>
                <a:cs typeface="Consolas" pitchFamily="34" charset="-120"/>
              </a:rPr>
              <a:t># cegah overfitting
</a:t>
            </a:r>
            <a:pPr indent="0" marL="0">
              <a:buNone/>
            </a:pPr>
            <a:r>
              <a:rPr lang="en-US" sz="1100" dirty="0">
                <a:solidFill>
                  <a:srgbClr val="FFFFFF"/>
                </a:solidFill>
                <a:latin typeface="Consolas" pitchFamily="34" charset="0"/>
                <a:ea typeface="Consolas" pitchFamily="34" charset="-122"/>
                <a:cs typeface="Consolas" pitchFamily="34" charset="-120"/>
              </a:rPr>
              <a:t>    random_state=</a:t>
            </a:r>
            <a:pPr indent="0" marL="0">
              <a:buNone/>
            </a:pPr>
            <a:r>
              <a:rPr lang="en-US" sz="1100" dirty="0">
                <a:solidFill>
                  <a:srgbClr val="B5CEA8"/>
                </a:solidFill>
                <a:latin typeface="Consolas" pitchFamily="34" charset="0"/>
                <a:ea typeface="Consolas" pitchFamily="34" charset="-122"/>
                <a:cs typeface="Consolas" pitchFamily="34" charset="-120"/>
              </a:rPr>
              <a:t>42</a:t>
            </a:r>
            <a:pPr indent="0" marL="0">
              <a:buNone/>
            </a:pPr>
            <a:r>
              <a:rPr lang="en-US" sz="1100" dirty="0">
                <a:solidFill>
                  <a:srgbClr val="FFFFFF"/>
                </a:solidFill>
                <a:latin typeface="Consolas" pitchFamily="34" charset="0"/>
                <a:ea typeface="Consolas" pitchFamily="34" charset="-122"/>
                <a:cs typeface="Consolas" pitchFamily="34" charset="-120"/>
              </a:rPr>
              <a:t>
)
model.fit(X_train, y_train)
</a:t>
            </a:r>
            <a:pPr indent="0" marL="0">
              <a:buNone/>
            </a:pPr>
            <a:r>
              <a:rPr lang="en-US" sz="1100" dirty="0">
                <a:solidFill>
                  <a:srgbClr val="6A9955"/>
                </a:solidFill>
                <a:latin typeface="Consolas" pitchFamily="34" charset="0"/>
                <a:ea typeface="Consolas" pitchFamily="34" charset="-122"/>
                <a:cs typeface="Consolas" pitchFamily="34" charset="-120"/>
              </a:rPr>
              <a:t># 5. Evaluasi model
</a:t>
            </a:r>
            <a:pPr indent="0" marL="0">
              <a:buNone/>
            </a:pPr>
            <a:r>
              <a:rPr lang="en-US" sz="1100" dirty="0">
                <a:solidFill>
                  <a:srgbClr val="FFFFFF"/>
                </a:solidFill>
                <a:latin typeface="Consolas" pitchFamily="34" charset="0"/>
                <a:ea typeface="Consolas" pitchFamily="34" charset="-122"/>
                <a:cs typeface="Consolas" pitchFamily="34" charset="-120"/>
              </a:rPr>
              <a:t>accuracy = model.score(X_test, y_test)
</a:t>
            </a:r>
            <a:pPr indent="0" marL="0">
              <a:buNone/>
            </a:pPr>
            <a:r>
              <a:rPr lang="en-US" sz="1100" dirty="0">
                <a:solidFill>
                  <a:srgbClr val="DCDCAA"/>
                </a:solidFill>
                <a:latin typeface="Consolas" pitchFamily="34" charset="0"/>
                <a:ea typeface="Consolas" pitchFamily="34" charset="-122"/>
                <a:cs typeface="Consolas" pitchFamily="34" charset="-120"/>
              </a:rPr>
              <a:t>print</a:t>
            </a:r>
            <a:pPr indent="0" marL="0">
              <a:buNone/>
            </a:pPr>
            <a:r>
              <a:rPr lang="en-US" sz="1100" dirty="0">
                <a:solidFill>
                  <a:srgbClr val="FFFFFF"/>
                </a:solidFill>
                <a:latin typeface="Consolas" pitchFamily="34" charset="0"/>
                <a:ea typeface="Consolas" pitchFamily="34" charset="-122"/>
                <a:cs typeface="Consolas" pitchFamily="34" charset="-120"/>
              </a:rPr>
              <a:t>(</a:t>
            </a:r>
            <a:pPr indent="0" marL="0">
              <a:buNone/>
            </a:pPr>
            <a:r>
              <a:rPr lang="en-US" sz="1100" dirty="0">
                <a:solidFill>
                  <a:srgbClr val="CE9178"/>
                </a:solidFill>
                <a:latin typeface="Consolas" pitchFamily="34" charset="0"/>
                <a:ea typeface="Consolas" pitchFamily="34" charset="-122"/>
                <a:cs typeface="Consolas" pitchFamily="34" charset="-120"/>
              </a:rPr>
              <a:t>f"Akurasi: {accuracy:.2%}"</a:t>
            </a:r>
            <a:pPr indent="0" marL="0">
              <a:buNone/>
            </a:pPr>
            <a:r>
              <a:rPr lang="en-US" sz="1100" dirty="0">
                <a:solidFill>
                  <a:srgbClr val="FFFFFF"/>
                </a:solidFill>
                <a:latin typeface="Consolas" pitchFamily="34" charset="0"/>
                <a:ea typeface="Consolas" pitchFamily="34" charset="-122"/>
                <a:cs typeface="Consolas" pitchFamily="34" charset="-120"/>
              </a:rPr>
              <a:t>)
</a:t>
            </a:r>
            <a:pPr indent="0" marL="0">
              <a:buNone/>
            </a:pPr>
            <a:r>
              <a:rPr lang="en-US" sz="1100" dirty="0">
                <a:solidFill>
                  <a:srgbClr val="6A9955"/>
                </a:solidFill>
                <a:latin typeface="Consolas" pitchFamily="34" charset="0"/>
                <a:ea typeface="Consolas" pitchFamily="34" charset="-122"/>
                <a:cs typeface="Consolas" pitchFamily="34" charset="-120"/>
              </a:rPr>
              <a:t># Output: Akurasi: 100.00%</a:t>
            </a:r>
            <a:endParaRPr lang="en-US" sz="1100" dirty="0"/>
          </a:p>
        </p:txBody>
      </p:sp>
      <p:sp>
        <p:nvSpPr>
          <p:cNvPr id="9" name="Shape 7"/>
          <p:cNvSpPr/>
          <p:nvPr/>
        </p:nvSpPr>
        <p:spPr>
          <a:xfrm>
            <a:off x="5577840" y="914400"/>
            <a:ext cx="3383280" cy="594360"/>
          </a:xfrm>
          <a:prstGeom prst="rect">
            <a:avLst/>
          </a:prstGeom>
          <a:solidFill>
            <a:srgbClr val="162032"/>
          </a:solidFill>
          <a:ln w="12700">
            <a:solidFill>
              <a:srgbClr val="64FFDA"/>
            </a:solidFill>
            <a:prstDash val="solid"/>
          </a:ln>
        </p:spPr>
      </p:sp>
      <p:sp>
        <p:nvSpPr>
          <p:cNvPr id="10" name="Shape 8"/>
          <p:cNvSpPr/>
          <p:nvPr/>
        </p:nvSpPr>
        <p:spPr>
          <a:xfrm>
            <a:off x="5577840" y="914400"/>
            <a:ext cx="64008" cy="594360"/>
          </a:xfrm>
          <a:prstGeom prst="rect">
            <a:avLst/>
          </a:prstGeom>
          <a:solidFill>
            <a:srgbClr val="64FFDA"/>
          </a:solidFill>
          <a:ln w="12700">
            <a:solidFill>
              <a:srgbClr val="64FFDA"/>
            </a:solidFill>
            <a:prstDash val="solid"/>
          </a:ln>
        </p:spPr>
      </p:sp>
      <p:sp>
        <p:nvSpPr>
          <p:cNvPr id="11" name="Text 9"/>
          <p:cNvSpPr/>
          <p:nvPr/>
        </p:nvSpPr>
        <p:spPr>
          <a:xfrm>
            <a:off x="5715000" y="932688"/>
            <a:ext cx="3200400" cy="256032"/>
          </a:xfrm>
          <a:prstGeom prst="rect">
            <a:avLst/>
          </a:prstGeom>
          <a:noFill/>
          <a:ln/>
        </p:spPr>
        <p:txBody>
          <a:bodyPr wrap="square" rtlCol="0" anchor="ctr"/>
          <a:lstStyle/>
          <a:p>
            <a:pPr indent="0" marL="0">
              <a:buNone/>
            </a:pPr>
            <a:r>
              <a:rPr lang="en-US" sz="1200" b="1" dirty="0">
                <a:solidFill>
                  <a:srgbClr val="64FFDA"/>
                </a:solidFill>
              </a:rPr>
              <a:t>📦 Import</a:t>
            </a:r>
            <a:endParaRPr lang="en-US" sz="1200" dirty="0"/>
          </a:p>
        </p:txBody>
      </p:sp>
      <p:sp>
        <p:nvSpPr>
          <p:cNvPr id="12" name="Text 10"/>
          <p:cNvSpPr/>
          <p:nvPr/>
        </p:nvSpPr>
        <p:spPr>
          <a:xfrm>
            <a:off x="5715000" y="1188720"/>
            <a:ext cx="3200400" cy="256032"/>
          </a:xfrm>
          <a:prstGeom prst="rect">
            <a:avLst/>
          </a:prstGeom>
          <a:noFill/>
          <a:ln/>
        </p:spPr>
        <p:txBody>
          <a:bodyPr wrap="square" rtlCol="0" anchor="ctr"/>
          <a:lstStyle/>
          <a:p>
            <a:pPr indent="0" marL="0">
              <a:buNone/>
            </a:pPr>
            <a:r>
              <a:rPr lang="en-US" sz="1100" dirty="0">
                <a:solidFill>
                  <a:srgbClr val="AAAAAA"/>
                </a:solidFill>
              </a:rPr>
              <a:t>1. Load library sklearn, numpy, dsb</a:t>
            </a:r>
            <a:endParaRPr lang="en-US" sz="1100" dirty="0"/>
          </a:p>
        </p:txBody>
      </p:sp>
      <p:sp>
        <p:nvSpPr>
          <p:cNvPr id="13" name="Shape 11"/>
          <p:cNvSpPr/>
          <p:nvPr/>
        </p:nvSpPr>
        <p:spPr>
          <a:xfrm>
            <a:off x="5577840" y="1627632"/>
            <a:ext cx="3383280" cy="594360"/>
          </a:xfrm>
          <a:prstGeom prst="rect">
            <a:avLst/>
          </a:prstGeom>
          <a:solidFill>
            <a:srgbClr val="162032"/>
          </a:solidFill>
          <a:ln w="12700">
            <a:solidFill>
              <a:srgbClr val="FFD700"/>
            </a:solidFill>
            <a:prstDash val="solid"/>
          </a:ln>
        </p:spPr>
      </p:sp>
      <p:sp>
        <p:nvSpPr>
          <p:cNvPr id="14" name="Shape 12"/>
          <p:cNvSpPr/>
          <p:nvPr/>
        </p:nvSpPr>
        <p:spPr>
          <a:xfrm>
            <a:off x="5577840" y="1627632"/>
            <a:ext cx="64008" cy="594360"/>
          </a:xfrm>
          <a:prstGeom prst="rect">
            <a:avLst/>
          </a:prstGeom>
          <a:solidFill>
            <a:srgbClr val="FFD700"/>
          </a:solidFill>
          <a:ln w="12700">
            <a:solidFill>
              <a:srgbClr val="FFD700"/>
            </a:solidFill>
            <a:prstDash val="solid"/>
          </a:ln>
        </p:spPr>
      </p:sp>
      <p:sp>
        <p:nvSpPr>
          <p:cNvPr id="15" name="Text 13"/>
          <p:cNvSpPr/>
          <p:nvPr/>
        </p:nvSpPr>
        <p:spPr>
          <a:xfrm>
            <a:off x="5715000" y="1645920"/>
            <a:ext cx="3200400" cy="256032"/>
          </a:xfrm>
          <a:prstGeom prst="rect">
            <a:avLst/>
          </a:prstGeom>
          <a:noFill/>
          <a:ln/>
        </p:spPr>
        <p:txBody>
          <a:bodyPr wrap="square" rtlCol="0" anchor="ctr"/>
          <a:lstStyle/>
          <a:p>
            <a:pPr indent="0" marL="0">
              <a:buNone/>
            </a:pPr>
            <a:r>
              <a:rPr lang="en-US" sz="1200" b="1" dirty="0">
                <a:solidFill>
                  <a:srgbClr val="FFD700"/>
                </a:solidFill>
              </a:rPr>
              <a:t>📊 Dataset</a:t>
            </a:r>
            <a:endParaRPr lang="en-US" sz="1200" dirty="0"/>
          </a:p>
        </p:txBody>
      </p:sp>
      <p:sp>
        <p:nvSpPr>
          <p:cNvPr id="16" name="Text 14"/>
          <p:cNvSpPr/>
          <p:nvPr/>
        </p:nvSpPr>
        <p:spPr>
          <a:xfrm>
            <a:off x="5715000" y="1901952"/>
            <a:ext cx="3200400" cy="256032"/>
          </a:xfrm>
          <a:prstGeom prst="rect">
            <a:avLst/>
          </a:prstGeom>
          <a:noFill/>
          <a:ln/>
        </p:spPr>
        <p:txBody>
          <a:bodyPr wrap="square" rtlCol="0" anchor="ctr"/>
          <a:lstStyle/>
          <a:p>
            <a:pPr indent="0" marL="0">
              <a:buNone/>
            </a:pPr>
            <a:r>
              <a:rPr lang="en-US" sz="1100" dirty="0">
                <a:solidFill>
                  <a:srgbClr val="AAAAAA"/>
                </a:solidFill>
              </a:rPr>
              <a:t>2. Iris: 150 sampel, 4 fitur, 3 kelas</a:t>
            </a:r>
            <a:endParaRPr lang="en-US" sz="1100" dirty="0"/>
          </a:p>
        </p:txBody>
      </p:sp>
      <p:sp>
        <p:nvSpPr>
          <p:cNvPr id="17" name="Shape 15"/>
          <p:cNvSpPr/>
          <p:nvPr/>
        </p:nvSpPr>
        <p:spPr>
          <a:xfrm>
            <a:off x="5577840" y="2340864"/>
            <a:ext cx="3383280" cy="594360"/>
          </a:xfrm>
          <a:prstGeom prst="rect">
            <a:avLst/>
          </a:prstGeom>
          <a:solidFill>
            <a:srgbClr val="162032"/>
          </a:solidFill>
          <a:ln w="12700">
            <a:solidFill>
              <a:srgbClr val="4FC3F7"/>
            </a:solidFill>
            <a:prstDash val="solid"/>
          </a:ln>
        </p:spPr>
      </p:sp>
      <p:sp>
        <p:nvSpPr>
          <p:cNvPr id="18" name="Shape 16"/>
          <p:cNvSpPr/>
          <p:nvPr/>
        </p:nvSpPr>
        <p:spPr>
          <a:xfrm>
            <a:off x="5577840" y="2340864"/>
            <a:ext cx="64008" cy="594360"/>
          </a:xfrm>
          <a:prstGeom prst="rect">
            <a:avLst/>
          </a:prstGeom>
          <a:solidFill>
            <a:srgbClr val="4FC3F7"/>
          </a:solidFill>
          <a:ln w="12700">
            <a:solidFill>
              <a:srgbClr val="4FC3F7"/>
            </a:solidFill>
            <a:prstDash val="solid"/>
          </a:ln>
        </p:spPr>
      </p:sp>
      <p:sp>
        <p:nvSpPr>
          <p:cNvPr id="19" name="Text 17"/>
          <p:cNvSpPr/>
          <p:nvPr/>
        </p:nvSpPr>
        <p:spPr>
          <a:xfrm>
            <a:off x="5715000" y="2359152"/>
            <a:ext cx="3200400" cy="256032"/>
          </a:xfrm>
          <a:prstGeom prst="rect">
            <a:avLst/>
          </a:prstGeom>
          <a:noFill/>
          <a:ln/>
        </p:spPr>
        <p:txBody>
          <a:bodyPr wrap="square" rtlCol="0" anchor="ctr"/>
          <a:lstStyle/>
          <a:p>
            <a:pPr indent="0" marL="0">
              <a:buNone/>
            </a:pPr>
            <a:r>
              <a:rPr lang="en-US" sz="1200" b="1" dirty="0">
                <a:solidFill>
                  <a:srgbClr val="4FC3F7"/>
                </a:solidFill>
              </a:rPr>
              <a:t>✂️ Split</a:t>
            </a:r>
            <a:endParaRPr lang="en-US" sz="1200" dirty="0"/>
          </a:p>
        </p:txBody>
      </p:sp>
      <p:sp>
        <p:nvSpPr>
          <p:cNvPr id="20" name="Text 18"/>
          <p:cNvSpPr/>
          <p:nvPr/>
        </p:nvSpPr>
        <p:spPr>
          <a:xfrm>
            <a:off x="5715000" y="2615184"/>
            <a:ext cx="3200400" cy="256032"/>
          </a:xfrm>
          <a:prstGeom prst="rect">
            <a:avLst/>
          </a:prstGeom>
          <a:noFill/>
          <a:ln/>
        </p:spPr>
        <p:txBody>
          <a:bodyPr wrap="square" rtlCol="0" anchor="ctr"/>
          <a:lstStyle/>
          <a:p>
            <a:pPr indent="0" marL="0">
              <a:buNone/>
            </a:pPr>
            <a:r>
              <a:rPr lang="en-US" sz="1100" dirty="0">
                <a:solidFill>
                  <a:srgbClr val="AAAAAA"/>
                </a:solidFill>
              </a:rPr>
              <a:t>3. Pisahkan data latih &amp; uji</a:t>
            </a:r>
            <a:endParaRPr lang="en-US" sz="1100" dirty="0"/>
          </a:p>
        </p:txBody>
      </p:sp>
      <p:sp>
        <p:nvSpPr>
          <p:cNvPr id="21" name="Shape 19"/>
          <p:cNvSpPr/>
          <p:nvPr/>
        </p:nvSpPr>
        <p:spPr>
          <a:xfrm>
            <a:off x="5577840" y="3054096"/>
            <a:ext cx="3383280" cy="594360"/>
          </a:xfrm>
          <a:prstGeom prst="rect">
            <a:avLst/>
          </a:prstGeom>
          <a:solidFill>
            <a:srgbClr val="162032"/>
          </a:solidFill>
          <a:ln w="12700">
            <a:solidFill>
              <a:srgbClr val="FF9800"/>
            </a:solidFill>
            <a:prstDash val="solid"/>
          </a:ln>
        </p:spPr>
      </p:sp>
      <p:sp>
        <p:nvSpPr>
          <p:cNvPr id="22" name="Shape 20"/>
          <p:cNvSpPr/>
          <p:nvPr/>
        </p:nvSpPr>
        <p:spPr>
          <a:xfrm>
            <a:off x="5577840" y="3054096"/>
            <a:ext cx="64008" cy="594360"/>
          </a:xfrm>
          <a:prstGeom prst="rect">
            <a:avLst/>
          </a:prstGeom>
          <a:solidFill>
            <a:srgbClr val="FF9800"/>
          </a:solidFill>
          <a:ln w="12700">
            <a:solidFill>
              <a:srgbClr val="FF9800"/>
            </a:solidFill>
            <a:prstDash val="solid"/>
          </a:ln>
        </p:spPr>
      </p:sp>
      <p:sp>
        <p:nvSpPr>
          <p:cNvPr id="23" name="Text 21"/>
          <p:cNvSpPr/>
          <p:nvPr/>
        </p:nvSpPr>
        <p:spPr>
          <a:xfrm>
            <a:off x="5715000" y="3072384"/>
            <a:ext cx="3200400" cy="256032"/>
          </a:xfrm>
          <a:prstGeom prst="rect">
            <a:avLst/>
          </a:prstGeom>
          <a:noFill/>
          <a:ln/>
        </p:spPr>
        <p:txBody>
          <a:bodyPr wrap="square" rtlCol="0" anchor="ctr"/>
          <a:lstStyle/>
          <a:p>
            <a:pPr indent="0" marL="0">
              <a:buNone/>
            </a:pPr>
            <a:r>
              <a:rPr lang="en-US" sz="1200" b="1" dirty="0">
                <a:solidFill>
                  <a:srgbClr val="FF9800"/>
                </a:solidFill>
              </a:rPr>
              <a:t>🏋️ Train</a:t>
            </a:r>
            <a:endParaRPr lang="en-US" sz="1200" dirty="0"/>
          </a:p>
        </p:txBody>
      </p:sp>
      <p:sp>
        <p:nvSpPr>
          <p:cNvPr id="24" name="Text 22"/>
          <p:cNvSpPr/>
          <p:nvPr/>
        </p:nvSpPr>
        <p:spPr>
          <a:xfrm>
            <a:off x="5715000" y="3328416"/>
            <a:ext cx="3200400" cy="256032"/>
          </a:xfrm>
          <a:prstGeom prst="rect">
            <a:avLst/>
          </a:prstGeom>
          <a:noFill/>
          <a:ln/>
        </p:spPr>
        <p:txBody>
          <a:bodyPr wrap="square" rtlCol="0" anchor="ctr"/>
          <a:lstStyle/>
          <a:p>
            <a:pPr indent="0" marL="0">
              <a:buNone/>
            </a:pPr>
            <a:r>
              <a:rPr lang="en-US" sz="1100" dirty="0">
                <a:solidFill>
                  <a:srgbClr val="AAAAAA"/>
                </a:solidFill>
              </a:rPr>
              <a:t>4. Model belajar dari X_train, y_train</a:t>
            </a:r>
            <a:endParaRPr lang="en-US" sz="1100" dirty="0"/>
          </a:p>
        </p:txBody>
      </p:sp>
      <p:sp>
        <p:nvSpPr>
          <p:cNvPr id="25" name="Shape 23"/>
          <p:cNvSpPr/>
          <p:nvPr/>
        </p:nvSpPr>
        <p:spPr>
          <a:xfrm>
            <a:off x="5577840" y="3767328"/>
            <a:ext cx="3383280" cy="594360"/>
          </a:xfrm>
          <a:prstGeom prst="rect">
            <a:avLst/>
          </a:prstGeom>
          <a:solidFill>
            <a:srgbClr val="162032"/>
          </a:solidFill>
          <a:ln w="12700">
            <a:solidFill>
              <a:srgbClr val="CE93D8"/>
            </a:solidFill>
            <a:prstDash val="solid"/>
          </a:ln>
        </p:spPr>
      </p:sp>
      <p:sp>
        <p:nvSpPr>
          <p:cNvPr id="26" name="Shape 24"/>
          <p:cNvSpPr/>
          <p:nvPr/>
        </p:nvSpPr>
        <p:spPr>
          <a:xfrm>
            <a:off x="5577840" y="3767328"/>
            <a:ext cx="64008" cy="594360"/>
          </a:xfrm>
          <a:prstGeom prst="rect">
            <a:avLst/>
          </a:prstGeom>
          <a:solidFill>
            <a:srgbClr val="CE93D8"/>
          </a:solidFill>
          <a:ln w="12700">
            <a:solidFill>
              <a:srgbClr val="CE93D8"/>
            </a:solidFill>
            <a:prstDash val="solid"/>
          </a:ln>
        </p:spPr>
      </p:sp>
      <p:sp>
        <p:nvSpPr>
          <p:cNvPr id="27" name="Text 25"/>
          <p:cNvSpPr/>
          <p:nvPr/>
        </p:nvSpPr>
        <p:spPr>
          <a:xfrm>
            <a:off x="5715000" y="3785616"/>
            <a:ext cx="3200400" cy="256032"/>
          </a:xfrm>
          <a:prstGeom prst="rect">
            <a:avLst/>
          </a:prstGeom>
          <a:noFill/>
          <a:ln/>
        </p:spPr>
        <p:txBody>
          <a:bodyPr wrap="square" rtlCol="0" anchor="ctr"/>
          <a:lstStyle/>
          <a:p>
            <a:pPr indent="0" marL="0">
              <a:buNone/>
            </a:pPr>
            <a:r>
              <a:rPr lang="en-US" sz="1200" b="1" dirty="0">
                <a:solidFill>
                  <a:srgbClr val="CE93D8"/>
                </a:solidFill>
              </a:rPr>
              <a:t>📈 Eval</a:t>
            </a:r>
            <a:endParaRPr lang="en-US" sz="1200" dirty="0"/>
          </a:p>
        </p:txBody>
      </p:sp>
      <p:sp>
        <p:nvSpPr>
          <p:cNvPr id="28" name="Text 26"/>
          <p:cNvSpPr/>
          <p:nvPr/>
        </p:nvSpPr>
        <p:spPr>
          <a:xfrm>
            <a:off x="5715000" y="4041648"/>
            <a:ext cx="3200400" cy="256032"/>
          </a:xfrm>
          <a:prstGeom prst="rect">
            <a:avLst/>
          </a:prstGeom>
          <a:noFill/>
          <a:ln/>
        </p:spPr>
        <p:txBody>
          <a:bodyPr wrap="square" rtlCol="0" anchor="ctr"/>
          <a:lstStyle/>
          <a:p>
            <a:pPr indent="0" marL="0">
              <a:buNone/>
            </a:pPr>
            <a:r>
              <a:rPr lang="en-US" sz="1100" dirty="0">
                <a:solidFill>
                  <a:srgbClr val="AAAAAA"/>
                </a:solidFill>
              </a:rPr>
              <a:t>5. Ukur performa di data baru</a:t>
            </a:r>
            <a:endParaRPr lang="en-US" sz="1100" dirty="0"/>
          </a:p>
        </p:txBody>
      </p:sp>
      <p:sp>
        <p:nvSpPr>
          <p:cNvPr id="29" name="Shape 27"/>
          <p:cNvSpPr/>
          <p:nvPr/>
        </p:nvSpPr>
        <p:spPr>
          <a:xfrm>
            <a:off x="0" y="5074920"/>
            <a:ext cx="9144000" cy="73152"/>
          </a:xfrm>
          <a:prstGeom prst="rect">
            <a:avLst/>
          </a:prstGeom>
          <a:solidFill>
            <a:srgbClr val="1565C0"/>
          </a:solidFill>
          <a:ln w="12700">
            <a:solidFill>
              <a:srgbClr val="1565C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Shape 1"/>
          <p:cNvSpPr/>
          <p:nvPr/>
        </p:nvSpPr>
        <p:spPr>
          <a:xfrm>
            <a:off x="0" y="0"/>
            <a:ext cx="9144000" cy="73152"/>
          </a:xfrm>
          <a:prstGeom prst="rect">
            <a:avLst/>
          </a:prstGeom>
          <a:solidFill>
            <a:srgbClr val="1565C0"/>
          </a:solidFill>
          <a:ln w="12700">
            <a:solidFill>
              <a:srgbClr val="1565C0"/>
            </a:solidFill>
            <a:prstDash val="solid"/>
          </a:ln>
        </p:spPr>
      </p:sp>
      <p:sp>
        <p:nvSpPr>
          <p:cNvPr id="4" name="Text 2"/>
          <p:cNvSpPr/>
          <p:nvPr/>
        </p:nvSpPr>
        <p:spPr>
          <a:xfrm>
            <a:off x="274320" y="137160"/>
            <a:ext cx="8686800" cy="502920"/>
          </a:xfrm>
          <a:prstGeom prst="rect">
            <a:avLst/>
          </a:prstGeom>
          <a:noFill/>
          <a:ln/>
        </p:spPr>
        <p:txBody>
          <a:bodyPr wrap="square" rtlCol="0" anchor="ctr"/>
          <a:lstStyle/>
          <a:p>
            <a:pPr indent="0" marL="0">
              <a:buNone/>
            </a:pPr>
            <a:r>
              <a:rPr lang="en-US" sz="2600" b="1" dirty="0">
                <a:solidFill>
                  <a:srgbClr val="FFFFFF"/>
                </a:solidFill>
              </a:rPr>
              <a:t>🌳  Visualisasi Hasil: Decision Tree</a:t>
            </a:r>
            <a:endParaRPr lang="en-US" sz="2600" dirty="0"/>
          </a:p>
        </p:txBody>
      </p:sp>
      <p:pic>
        <p:nvPicPr>
          <p:cNvPr id="5" name="Image 0" descr="preencoded.png">    </p:cNvPr>
          <p:cNvPicPr>
            <a:picLocks noChangeAspect="1"/>
          </p:cNvPicPr>
          <p:nvPr/>
        </p:nvPicPr>
        <p:blipFill>
          <a:blip r:embed="rId1"/>
          <a:stretch>
            <a:fillRect/>
          </a:stretch>
        </p:blipFill>
        <p:spPr>
          <a:xfrm>
            <a:off x="274320" y="731520"/>
            <a:ext cx="8595360" cy="4114800"/>
          </a:xfrm>
          <a:prstGeom prst="rect">
            <a:avLst/>
          </a:prstGeom>
        </p:spPr>
      </p:pic>
      <p:sp>
        <p:nvSpPr>
          <p:cNvPr id="6" name="Shape 3"/>
          <p:cNvSpPr/>
          <p:nvPr/>
        </p:nvSpPr>
        <p:spPr>
          <a:xfrm>
            <a:off x="0" y="5074920"/>
            <a:ext cx="9144000" cy="73152"/>
          </a:xfrm>
          <a:prstGeom prst="rect">
            <a:avLst/>
          </a:prstGeom>
          <a:solidFill>
            <a:srgbClr val="1565C0"/>
          </a:solidFill>
          <a:ln w="12700">
            <a:solidFill>
              <a:srgbClr val="1565C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A1B9A"/>
          </a:solidFill>
          <a:ln w="12700">
            <a:solidFill>
              <a:srgbClr val="6A1B9A"/>
            </a:solidFill>
            <a:prstDash val="solid"/>
          </a:ln>
        </p:spPr>
      </p:sp>
      <p:sp>
        <p:nvSpPr>
          <p:cNvPr id="3" name="Shape 1"/>
          <p:cNvSpPr/>
          <p:nvPr/>
        </p:nvSpPr>
        <p:spPr>
          <a:xfrm>
            <a:off x="1828800" y="731520"/>
            <a:ext cx="1828800" cy="1828800"/>
          </a:xfrm>
          <a:prstGeom prst="ellipse">
            <a:avLst/>
          </a:prstGeom>
          <a:solidFill>
            <a:srgbClr val="1565C0">
              <a:alpha val="70000"/>
            </a:srgbClr>
          </a:solidFill>
          <a:ln w="25400">
            <a:solidFill>
              <a:srgbClr val="4FC3F7"/>
            </a:solidFill>
            <a:prstDash val="solid"/>
          </a:ln>
        </p:spPr>
      </p:sp>
      <p:sp>
        <p:nvSpPr>
          <p:cNvPr id="4" name="Text 2"/>
          <p:cNvSpPr/>
          <p:nvPr/>
        </p:nvSpPr>
        <p:spPr>
          <a:xfrm>
            <a:off x="1828800" y="731520"/>
            <a:ext cx="1828800" cy="1828800"/>
          </a:xfrm>
          <a:prstGeom prst="rect">
            <a:avLst/>
          </a:prstGeom>
          <a:noFill/>
          <a:ln/>
        </p:spPr>
        <p:txBody>
          <a:bodyPr wrap="square" rtlCol="0" anchor="ctr"/>
          <a:lstStyle/>
          <a:p>
            <a:pPr algn="ctr" indent="0" marL="0">
              <a:buNone/>
            </a:pPr>
            <a:r>
              <a:rPr lang="en-US" sz="1300" b="1" dirty="0">
                <a:solidFill>
                  <a:srgbClr val="FFFFFF"/>
                </a:solidFill>
              </a:rPr>
              <a:t>✅</a:t>
            </a:r>
            <a:endParaRPr lang="en-US" sz="1300" dirty="0"/>
          </a:p>
          <a:p>
            <a:pPr algn="ctr" indent="0" marL="0">
              <a:buNone/>
            </a:pPr>
            <a:r>
              <a:rPr lang="en-US" sz="1300" b="1" dirty="0">
                <a:solidFill>
                  <a:srgbClr val="FFFFFF"/>
                </a:solidFill>
              </a:rPr>
              <a:t>Decision Tree</a:t>
            </a:r>
            <a:endParaRPr lang="en-US" sz="1300" dirty="0"/>
          </a:p>
          <a:p>
            <a:pPr algn="ctr" indent="0" marL="0">
              <a:buNone/>
            </a:pPr>
            <a:r>
              <a:rPr lang="en-US" sz="1300" b="1" dirty="0">
                <a:solidFill>
                  <a:srgbClr val="FFFFFF"/>
                </a:solidFill>
              </a:rPr>
              <a:t>SELESAI</a:t>
            </a:r>
            <a:endParaRPr lang="en-US" sz="1300" dirty="0"/>
          </a:p>
        </p:txBody>
      </p:sp>
      <p:sp>
        <p:nvSpPr>
          <p:cNvPr id="5" name="Text 3"/>
          <p:cNvSpPr/>
          <p:nvPr/>
        </p:nvSpPr>
        <p:spPr>
          <a:xfrm>
            <a:off x="3840480" y="1371600"/>
            <a:ext cx="1463040" cy="822960"/>
          </a:xfrm>
          <a:prstGeom prst="rect">
            <a:avLst/>
          </a:prstGeom>
          <a:noFill/>
          <a:ln/>
        </p:spPr>
        <p:txBody>
          <a:bodyPr wrap="square" rtlCol="0" anchor="ctr"/>
          <a:lstStyle/>
          <a:p>
            <a:pPr algn="ctr" indent="0" marL="0">
              <a:buNone/>
            </a:pPr>
            <a:r>
              <a:rPr lang="en-US" sz="4000" dirty="0">
                <a:solidFill>
                  <a:srgbClr val="FFD700"/>
                </a:solidFill>
              </a:rPr>
              <a:t>➜</a:t>
            </a:r>
            <a:endParaRPr lang="en-US" sz="4000" dirty="0"/>
          </a:p>
        </p:txBody>
      </p:sp>
      <p:sp>
        <p:nvSpPr>
          <p:cNvPr id="6" name="Shape 4"/>
          <p:cNvSpPr/>
          <p:nvPr/>
        </p:nvSpPr>
        <p:spPr>
          <a:xfrm>
            <a:off x="5486400" y="731520"/>
            <a:ext cx="1828800" cy="1828800"/>
          </a:xfrm>
          <a:prstGeom prst="ellipse">
            <a:avLst/>
          </a:prstGeom>
          <a:solidFill>
            <a:srgbClr val="6A1B9A">
              <a:alpha val="80000"/>
            </a:srgbClr>
          </a:solidFill>
          <a:ln w="25400">
            <a:solidFill>
              <a:srgbClr val="CE93D8"/>
            </a:solidFill>
            <a:prstDash val="solid"/>
          </a:ln>
        </p:spPr>
      </p:sp>
      <p:sp>
        <p:nvSpPr>
          <p:cNvPr id="7" name="Text 5"/>
          <p:cNvSpPr/>
          <p:nvPr/>
        </p:nvSpPr>
        <p:spPr>
          <a:xfrm>
            <a:off x="5486400" y="731520"/>
            <a:ext cx="1828800" cy="1828800"/>
          </a:xfrm>
          <a:prstGeom prst="rect">
            <a:avLst/>
          </a:prstGeom>
          <a:noFill/>
          <a:ln/>
        </p:spPr>
        <p:txBody>
          <a:bodyPr wrap="square" rtlCol="0" anchor="ctr"/>
          <a:lstStyle/>
          <a:p>
            <a:pPr algn="ctr" indent="0" marL="0">
              <a:buNone/>
            </a:pPr>
            <a:r>
              <a:rPr lang="en-US" sz="1300" b="1" dirty="0">
                <a:solidFill>
                  <a:srgbClr val="FFFFFF"/>
                </a:solidFill>
              </a:rPr>
              <a:t>⭕</a:t>
            </a:r>
            <a:endParaRPr lang="en-US" sz="1300" dirty="0"/>
          </a:p>
          <a:p>
            <a:pPr algn="ctr" indent="0" marL="0">
              <a:buNone/>
            </a:pPr>
            <a:r>
              <a:rPr lang="en-US" sz="1300" b="1" dirty="0">
                <a:solidFill>
                  <a:srgbClr val="FFFFFF"/>
                </a:solidFill>
              </a:rPr>
              <a:t>K-Means</a:t>
            </a:r>
            <a:endParaRPr lang="en-US" sz="1300" dirty="0"/>
          </a:p>
          <a:p>
            <a:pPr algn="ctr" indent="0" marL="0">
              <a:buNone/>
            </a:pPr>
            <a:r>
              <a:rPr lang="en-US" sz="1300" b="1" dirty="0">
                <a:solidFill>
                  <a:srgbClr val="FFFFFF"/>
                </a:solidFill>
              </a:rPr>
              <a:t>BERIKUTNYA</a:t>
            </a:r>
            <a:endParaRPr lang="en-US" sz="1300" dirty="0"/>
          </a:p>
        </p:txBody>
      </p:sp>
      <p:sp>
        <p:nvSpPr>
          <p:cNvPr id="8" name="Text 6"/>
          <p:cNvSpPr/>
          <p:nvPr/>
        </p:nvSpPr>
        <p:spPr>
          <a:xfrm>
            <a:off x="0" y="2926080"/>
            <a:ext cx="9144000" cy="457200"/>
          </a:xfrm>
          <a:prstGeom prst="rect">
            <a:avLst/>
          </a:prstGeom>
          <a:noFill/>
          <a:ln/>
        </p:spPr>
        <p:txBody>
          <a:bodyPr wrap="square" rtlCol="0" anchor="ctr"/>
          <a:lstStyle/>
          <a:p>
            <a:pPr algn="ctr" indent="0" marL="0">
              <a:buNone/>
            </a:pPr>
            <a:r>
              <a:rPr lang="en-US" sz="1600" b="1" spc="800" kern="0" dirty="0">
                <a:solidFill>
                  <a:srgbClr val="CE93D8"/>
                </a:solidFill>
              </a:rPr>
              <a:t>Bagian 2</a:t>
            </a:r>
            <a:endParaRPr lang="en-US" sz="1600" dirty="0"/>
          </a:p>
        </p:txBody>
      </p:sp>
      <p:sp>
        <p:nvSpPr>
          <p:cNvPr id="9" name="Text 7"/>
          <p:cNvSpPr/>
          <p:nvPr/>
        </p:nvSpPr>
        <p:spPr>
          <a:xfrm>
            <a:off x="0" y="3383280"/>
            <a:ext cx="9144000" cy="822960"/>
          </a:xfrm>
          <a:prstGeom prst="rect">
            <a:avLst/>
          </a:prstGeom>
          <a:noFill/>
          <a:ln/>
        </p:spPr>
        <p:txBody>
          <a:bodyPr wrap="square" rtlCol="0" anchor="ctr"/>
          <a:lstStyle/>
          <a:p>
            <a:pPr algn="ctr" indent="0" marL="0">
              <a:buNone/>
            </a:pPr>
            <a:r>
              <a:rPr lang="en-US" sz="4000" b="1" dirty="0">
                <a:solidFill>
                  <a:srgbClr val="FFFFFF"/>
                </a:solidFill>
              </a:rPr>
              <a:t>K-MEANS CLUSTERING</a:t>
            </a:r>
            <a:endParaRPr lang="en-US" sz="4000" dirty="0"/>
          </a:p>
        </p:txBody>
      </p:sp>
      <p:sp>
        <p:nvSpPr>
          <p:cNvPr id="10" name="Text 8"/>
          <p:cNvSpPr/>
          <p:nvPr/>
        </p:nvSpPr>
        <p:spPr>
          <a:xfrm>
            <a:off x="0" y="4206240"/>
            <a:ext cx="9144000" cy="457200"/>
          </a:xfrm>
          <a:prstGeom prst="rect">
            <a:avLst/>
          </a:prstGeom>
          <a:noFill/>
          <a:ln/>
        </p:spPr>
        <p:txBody>
          <a:bodyPr wrap="square" rtlCol="0" anchor="ctr"/>
          <a:lstStyle/>
          <a:p>
            <a:pPr algn="ctr" indent="0" marL="0">
              <a:buNone/>
            </a:pPr>
            <a:r>
              <a:rPr lang="en-US" sz="1800" i="1" dirty="0">
                <a:solidFill>
                  <a:srgbClr val="CE93D8"/>
                </a:solidFill>
              </a:rPr>
              <a:t>Unsupervised Learning Method</a:t>
            </a:r>
            <a:endParaRPr lang="en-US" sz="1800" dirty="0"/>
          </a:p>
        </p:txBody>
      </p:sp>
      <p:sp>
        <p:nvSpPr>
          <p:cNvPr id="11" name="Shape 9"/>
          <p:cNvSpPr/>
          <p:nvPr/>
        </p:nvSpPr>
        <p:spPr>
          <a:xfrm>
            <a:off x="0" y="5074920"/>
            <a:ext cx="9144000" cy="73152"/>
          </a:xfrm>
          <a:prstGeom prst="rect">
            <a:avLst/>
          </a:prstGeom>
          <a:solidFill>
            <a:srgbClr val="6A1B9A"/>
          </a:solidFill>
          <a:ln w="12700">
            <a:solidFill>
              <a:srgbClr val="6A1B9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A1B9A"/>
          </a:solidFill>
          <a:ln w="12700">
            <a:solidFill>
              <a:srgbClr val="6A1B9A"/>
            </a:solidFill>
            <a:prstDash val="solid"/>
          </a:ln>
        </p:spPr>
      </p:sp>
      <p:sp>
        <p:nvSpPr>
          <p:cNvPr id="3" name="Shape 1"/>
          <p:cNvSpPr/>
          <p:nvPr/>
        </p:nvSpPr>
        <p:spPr>
          <a:xfrm>
            <a:off x="0" y="0"/>
            <a:ext cx="9144000" cy="73152"/>
          </a:xfrm>
          <a:prstGeom prst="rect">
            <a:avLst/>
          </a:prstGeom>
          <a:solidFill>
            <a:srgbClr val="6A1B9A"/>
          </a:solidFill>
          <a:ln w="12700">
            <a:solidFill>
              <a:srgbClr val="6A1B9A"/>
            </a:solidFill>
            <a:prstDash val="solid"/>
          </a:ln>
        </p:spPr>
      </p:sp>
      <p:sp>
        <p:nvSpPr>
          <p:cNvPr id="4" name="Text 2"/>
          <p:cNvSpPr/>
          <p:nvPr/>
        </p:nvSpPr>
        <p:spPr>
          <a:xfrm>
            <a:off x="274320" y="137160"/>
            <a:ext cx="8686800" cy="548640"/>
          </a:xfrm>
          <a:prstGeom prst="rect">
            <a:avLst/>
          </a:prstGeom>
          <a:noFill/>
          <a:ln/>
        </p:spPr>
        <p:txBody>
          <a:bodyPr wrap="square" rtlCol="0" anchor="ctr"/>
          <a:lstStyle/>
          <a:p>
            <a:pPr indent="0" marL="0">
              <a:buNone/>
            </a:pPr>
            <a:r>
              <a:rPr lang="en-US" sz="3000" b="1" dirty="0">
                <a:solidFill>
                  <a:srgbClr val="FFFFFF"/>
                </a:solidFill>
              </a:rPr>
              <a:t>⭕  K-Means Clustering</a:t>
            </a:r>
            <a:endParaRPr lang="en-US" sz="3000" dirty="0"/>
          </a:p>
        </p:txBody>
      </p:sp>
      <p:sp>
        <p:nvSpPr>
          <p:cNvPr id="5" name="Text 3"/>
          <p:cNvSpPr/>
          <p:nvPr/>
        </p:nvSpPr>
        <p:spPr>
          <a:xfrm>
            <a:off x="274320" y="658368"/>
            <a:ext cx="5486400" cy="320040"/>
          </a:xfrm>
          <a:prstGeom prst="rect">
            <a:avLst/>
          </a:prstGeom>
          <a:noFill/>
          <a:ln/>
        </p:spPr>
        <p:txBody>
          <a:bodyPr wrap="square" rtlCol="0" anchor="ctr"/>
          <a:lstStyle/>
          <a:p>
            <a:pPr indent="0" marL="0">
              <a:buNone/>
            </a:pPr>
            <a:r>
              <a:rPr lang="en-US" sz="1400" i="1" dirty="0">
                <a:solidFill>
                  <a:srgbClr val="CE93D8"/>
                </a:solidFill>
              </a:rPr>
              <a:t>Unsupervised Learning Method</a:t>
            </a:r>
            <a:endParaRPr lang="en-US" sz="1400" dirty="0"/>
          </a:p>
        </p:txBody>
      </p:sp>
      <p:sp>
        <p:nvSpPr>
          <p:cNvPr id="6" name="Text 4"/>
          <p:cNvSpPr/>
          <p:nvPr/>
        </p:nvSpPr>
        <p:spPr>
          <a:xfrm>
            <a:off x="274320" y="1051560"/>
            <a:ext cx="8686800" cy="365760"/>
          </a:xfrm>
          <a:prstGeom prst="rect">
            <a:avLst/>
          </a:prstGeom>
          <a:noFill/>
          <a:ln/>
        </p:spPr>
        <p:txBody>
          <a:bodyPr wrap="square" rtlCol="0" anchor="ctr"/>
          <a:lstStyle/>
          <a:p>
            <a:pPr indent="0" marL="0">
              <a:buNone/>
            </a:pPr>
            <a:r>
              <a:rPr lang="en-US" sz="1700" b="1" dirty="0">
                <a:solidFill>
                  <a:srgbClr val="CE93D8"/>
                </a:solidFill>
              </a:rPr>
              <a:t>Apa itu K-Means?</a:t>
            </a:r>
            <a:endParaRPr lang="en-US" sz="1700" dirty="0"/>
          </a:p>
        </p:txBody>
      </p:sp>
      <p:sp>
        <p:nvSpPr>
          <p:cNvPr id="7" name="Text 5"/>
          <p:cNvSpPr/>
          <p:nvPr/>
        </p:nvSpPr>
        <p:spPr>
          <a:xfrm>
            <a:off x="274320" y="1417320"/>
            <a:ext cx="8686800" cy="914400"/>
          </a:xfrm>
          <a:prstGeom prst="rect">
            <a:avLst/>
          </a:prstGeom>
          <a:noFill/>
          <a:ln/>
        </p:spPr>
        <p:txBody>
          <a:bodyPr wrap="square" rtlCol="0" anchor="ctr"/>
          <a:lstStyle/>
          <a:p>
            <a:pPr indent="0" marL="0">
              <a:buNone/>
            </a:pPr>
            <a:r>
              <a:rPr lang="en-US" sz="1300" dirty="0">
                <a:solidFill>
                  <a:srgbClr val="AAAAAA"/>
                </a:solidFill>
              </a:rPr>
              <a:t>K-Means adalah algoritma clustering yang mempartisi n data point menjadi K cluster. Setiap data point dimasukkan ke cluster yang centroid-nya paling dekat. K-Means tidak memerlukan label — ia menemukan pola sendiri dari data.</a:t>
            </a:r>
            <a:endParaRPr lang="en-US" sz="1300" dirty="0"/>
          </a:p>
        </p:txBody>
      </p:sp>
      <p:sp>
        <p:nvSpPr>
          <p:cNvPr id="8" name="Shape 6"/>
          <p:cNvSpPr/>
          <p:nvPr/>
        </p:nvSpPr>
        <p:spPr>
          <a:xfrm>
            <a:off x="274320" y="2423160"/>
            <a:ext cx="2743200" cy="2514600"/>
          </a:xfrm>
          <a:prstGeom prst="rect">
            <a:avLst/>
          </a:prstGeom>
          <a:solidFill>
            <a:srgbClr val="162032"/>
          </a:solidFill>
          <a:ln w="25400">
            <a:solidFill>
              <a:srgbClr val="CE93D8"/>
            </a:solidFill>
            <a:prstDash val="solid"/>
          </a:ln>
        </p:spPr>
      </p:sp>
      <p:sp>
        <p:nvSpPr>
          <p:cNvPr id="9" name="Shape 7"/>
          <p:cNvSpPr/>
          <p:nvPr/>
        </p:nvSpPr>
        <p:spPr>
          <a:xfrm>
            <a:off x="274320" y="2423160"/>
            <a:ext cx="2743200" cy="548640"/>
          </a:xfrm>
          <a:prstGeom prst="rect">
            <a:avLst/>
          </a:prstGeom>
          <a:solidFill>
            <a:srgbClr val="1A1A2E"/>
          </a:solidFill>
          <a:ln w="25400">
            <a:solidFill>
              <a:srgbClr val="CE93D8"/>
            </a:solidFill>
            <a:prstDash val="solid"/>
          </a:ln>
        </p:spPr>
      </p:sp>
      <p:sp>
        <p:nvSpPr>
          <p:cNvPr id="10" name="Text 8"/>
          <p:cNvSpPr/>
          <p:nvPr/>
        </p:nvSpPr>
        <p:spPr>
          <a:xfrm>
            <a:off x="274320" y="2423160"/>
            <a:ext cx="2743200" cy="548640"/>
          </a:xfrm>
          <a:prstGeom prst="rect">
            <a:avLst/>
          </a:prstGeom>
          <a:noFill/>
          <a:ln/>
        </p:spPr>
        <p:txBody>
          <a:bodyPr wrap="square" rtlCol="0" anchor="ctr"/>
          <a:lstStyle/>
          <a:p>
            <a:pPr algn="ctr" indent="0" marL="0">
              <a:buNone/>
            </a:pPr>
            <a:r>
              <a:rPr lang="en-US" sz="1800" b="1" dirty="0">
                <a:solidFill>
                  <a:srgbClr val="CE93D8"/>
                </a:solidFill>
              </a:rPr>
              <a:t>K</a:t>
            </a:r>
            <a:endParaRPr lang="en-US" sz="1800" dirty="0"/>
          </a:p>
        </p:txBody>
      </p:sp>
      <p:sp>
        <p:nvSpPr>
          <p:cNvPr id="11" name="Text 9"/>
          <p:cNvSpPr/>
          <p:nvPr/>
        </p:nvSpPr>
        <p:spPr>
          <a:xfrm>
            <a:off x="411480" y="3063240"/>
            <a:ext cx="2468880" cy="1783080"/>
          </a:xfrm>
          <a:prstGeom prst="rect">
            <a:avLst/>
          </a:prstGeom>
          <a:noFill/>
          <a:ln/>
        </p:spPr>
        <p:txBody>
          <a:bodyPr wrap="square" rtlCol="0" anchor="ctr"/>
          <a:lstStyle/>
          <a:p>
            <a:pPr algn="ctr" indent="0" marL="0">
              <a:buNone/>
            </a:pPr>
            <a:r>
              <a:rPr lang="en-US" sz="1300" dirty="0">
                <a:solidFill>
                  <a:srgbClr val="FFFFFF"/>
                </a:solidFill>
              </a:rPr>
              <a:t>Jumlah cluster yang kita tentukan di awal (hyperparameter)</a:t>
            </a:r>
            <a:endParaRPr lang="en-US" sz="1300" dirty="0"/>
          </a:p>
        </p:txBody>
      </p:sp>
      <p:sp>
        <p:nvSpPr>
          <p:cNvPr id="12" name="Shape 10"/>
          <p:cNvSpPr/>
          <p:nvPr/>
        </p:nvSpPr>
        <p:spPr>
          <a:xfrm>
            <a:off x="3200400" y="2423160"/>
            <a:ext cx="2743200" cy="2514600"/>
          </a:xfrm>
          <a:prstGeom prst="rect">
            <a:avLst/>
          </a:prstGeom>
          <a:solidFill>
            <a:srgbClr val="162032"/>
          </a:solidFill>
          <a:ln w="25400">
            <a:solidFill>
              <a:srgbClr val="FFD700"/>
            </a:solidFill>
            <a:prstDash val="solid"/>
          </a:ln>
        </p:spPr>
      </p:sp>
      <p:sp>
        <p:nvSpPr>
          <p:cNvPr id="13" name="Shape 11"/>
          <p:cNvSpPr/>
          <p:nvPr/>
        </p:nvSpPr>
        <p:spPr>
          <a:xfrm>
            <a:off x="3200400" y="2423160"/>
            <a:ext cx="2743200" cy="548640"/>
          </a:xfrm>
          <a:prstGeom prst="rect">
            <a:avLst/>
          </a:prstGeom>
          <a:solidFill>
            <a:srgbClr val="1A1A2E"/>
          </a:solidFill>
          <a:ln w="25400">
            <a:solidFill>
              <a:srgbClr val="FFD700"/>
            </a:solidFill>
            <a:prstDash val="solid"/>
          </a:ln>
        </p:spPr>
      </p:sp>
      <p:sp>
        <p:nvSpPr>
          <p:cNvPr id="14" name="Text 12"/>
          <p:cNvSpPr/>
          <p:nvPr/>
        </p:nvSpPr>
        <p:spPr>
          <a:xfrm>
            <a:off x="3200400" y="2423160"/>
            <a:ext cx="2743200" cy="548640"/>
          </a:xfrm>
          <a:prstGeom prst="rect">
            <a:avLst/>
          </a:prstGeom>
          <a:noFill/>
          <a:ln/>
        </p:spPr>
        <p:txBody>
          <a:bodyPr wrap="square" rtlCol="0" anchor="ctr"/>
          <a:lstStyle/>
          <a:p>
            <a:pPr algn="ctr" indent="0" marL="0">
              <a:buNone/>
            </a:pPr>
            <a:r>
              <a:rPr lang="en-US" sz="1800" b="1" dirty="0">
                <a:solidFill>
                  <a:srgbClr val="FFD700"/>
                </a:solidFill>
              </a:rPr>
              <a:t>Centroid</a:t>
            </a:r>
            <a:endParaRPr lang="en-US" sz="1800" dirty="0"/>
          </a:p>
        </p:txBody>
      </p:sp>
      <p:sp>
        <p:nvSpPr>
          <p:cNvPr id="15" name="Text 13"/>
          <p:cNvSpPr/>
          <p:nvPr/>
        </p:nvSpPr>
        <p:spPr>
          <a:xfrm>
            <a:off x="3337560" y="3063240"/>
            <a:ext cx="2468880" cy="1783080"/>
          </a:xfrm>
          <a:prstGeom prst="rect">
            <a:avLst/>
          </a:prstGeom>
          <a:noFill/>
          <a:ln/>
        </p:spPr>
        <p:txBody>
          <a:bodyPr wrap="square" rtlCol="0" anchor="ctr"/>
          <a:lstStyle/>
          <a:p>
            <a:pPr algn="ctr" indent="0" marL="0">
              <a:buNone/>
            </a:pPr>
            <a:r>
              <a:rPr lang="en-US" sz="1300" dirty="0">
                <a:solidFill>
                  <a:srgbClr val="FFFFFF"/>
                </a:solidFill>
              </a:rPr>
              <a:t>Titik pusat dari setiap cluster, diupdate setiap iterasi</a:t>
            </a:r>
            <a:endParaRPr lang="en-US" sz="1300" dirty="0"/>
          </a:p>
        </p:txBody>
      </p:sp>
      <p:sp>
        <p:nvSpPr>
          <p:cNvPr id="16" name="Shape 14"/>
          <p:cNvSpPr/>
          <p:nvPr/>
        </p:nvSpPr>
        <p:spPr>
          <a:xfrm>
            <a:off x="6126480" y="2423160"/>
            <a:ext cx="2743200" cy="2514600"/>
          </a:xfrm>
          <a:prstGeom prst="rect">
            <a:avLst/>
          </a:prstGeom>
          <a:solidFill>
            <a:srgbClr val="162032"/>
          </a:solidFill>
          <a:ln w="25400">
            <a:solidFill>
              <a:srgbClr val="64FFDA"/>
            </a:solidFill>
            <a:prstDash val="solid"/>
          </a:ln>
        </p:spPr>
      </p:sp>
      <p:sp>
        <p:nvSpPr>
          <p:cNvPr id="17" name="Shape 15"/>
          <p:cNvSpPr/>
          <p:nvPr/>
        </p:nvSpPr>
        <p:spPr>
          <a:xfrm>
            <a:off x="6126480" y="2423160"/>
            <a:ext cx="2743200" cy="548640"/>
          </a:xfrm>
          <a:prstGeom prst="rect">
            <a:avLst/>
          </a:prstGeom>
          <a:solidFill>
            <a:srgbClr val="1A1A2E"/>
          </a:solidFill>
          <a:ln w="25400">
            <a:solidFill>
              <a:srgbClr val="64FFDA"/>
            </a:solidFill>
            <a:prstDash val="solid"/>
          </a:ln>
        </p:spPr>
      </p:sp>
      <p:sp>
        <p:nvSpPr>
          <p:cNvPr id="18" name="Text 16"/>
          <p:cNvSpPr/>
          <p:nvPr/>
        </p:nvSpPr>
        <p:spPr>
          <a:xfrm>
            <a:off x="6126480" y="2423160"/>
            <a:ext cx="2743200" cy="548640"/>
          </a:xfrm>
          <a:prstGeom prst="rect">
            <a:avLst/>
          </a:prstGeom>
          <a:noFill/>
          <a:ln/>
        </p:spPr>
        <p:txBody>
          <a:bodyPr wrap="square" rtlCol="0" anchor="ctr"/>
          <a:lstStyle/>
          <a:p>
            <a:pPr algn="ctr" indent="0" marL="0">
              <a:buNone/>
            </a:pPr>
            <a:r>
              <a:rPr lang="en-US" sz="1800" b="1" dirty="0">
                <a:solidFill>
                  <a:srgbClr val="64FFDA"/>
                </a:solidFill>
              </a:rPr>
              <a:t>Inertia</a:t>
            </a:r>
            <a:endParaRPr lang="en-US" sz="1800" dirty="0"/>
          </a:p>
        </p:txBody>
      </p:sp>
      <p:sp>
        <p:nvSpPr>
          <p:cNvPr id="19" name="Text 17"/>
          <p:cNvSpPr/>
          <p:nvPr/>
        </p:nvSpPr>
        <p:spPr>
          <a:xfrm>
            <a:off x="6263640" y="3063240"/>
            <a:ext cx="2468880" cy="1783080"/>
          </a:xfrm>
          <a:prstGeom prst="rect">
            <a:avLst/>
          </a:prstGeom>
          <a:noFill/>
          <a:ln/>
        </p:spPr>
        <p:txBody>
          <a:bodyPr wrap="square" rtlCol="0" anchor="ctr"/>
          <a:lstStyle/>
          <a:p>
            <a:pPr algn="ctr" indent="0" marL="0">
              <a:buNone/>
            </a:pPr>
            <a:r>
              <a:rPr lang="en-US" sz="1300" dirty="0">
                <a:solidFill>
                  <a:srgbClr val="FFFFFF"/>
                </a:solidFill>
              </a:rPr>
              <a:t>Total jarak kuadrat setiap point ke centroid-nya (loss)</a:t>
            </a:r>
            <a:endParaRPr lang="en-US" sz="1300" dirty="0"/>
          </a:p>
        </p:txBody>
      </p:sp>
      <p:sp>
        <p:nvSpPr>
          <p:cNvPr id="20" name="Shape 18"/>
          <p:cNvSpPr/>
          <p:nvPr/>
        </p:nvSpPr>
        <p:spPr>
          <a:xfrm>
            <a:off x="0" y="5074920"/>
            <a:ext cx="9144000" cy="73152"/>
          </a:xfrm>
          <a:prstGeom prst="rect">
            <a:avLst/>
          </a:prstGeom>
          <a:solidFill>
            <a:srgbClr val="6A1B9A"/>
          </a:solidFill>
          <a:ln w="12700">
            <a:solidFill>
              <a:srgbClr val="6A1B9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A1B9A"/>
          </a:solidFill>
          <a:ln w="12700">
            <a:solidFill>
              <a:srgbClr val="6A1B9A"/>
            </a:solidFill>
            <a:prstDash val="solid"/>
          </a:ln>
        </p:spPr>
      </p:sp>
      <p:sp>
        <p:nvSpPr>
          <p:cNvPr id="3" name="Shape 1"/>
          <p:cNvSpPr/>
          <p:nvPr/>
        </p:nvSpPr>
        <p:spPr>
          <a:xfrm>
            <a:off x="0" y="0"/>
            <a:ext cx="9144000" cy="73152"/>
          </a:xfrm>
          <a:prstGeom prst="rect">
            <a:avLst/>
          </a:prstGeom>
          <a:solidFill>
            <a:srgbClr val="6A1B9A"/>
          </a:solidFill>
          <a:ln w="12700">
            <a:solidFill>
              <a:srgbClr val="6A1B9A"/>
            </a:solidFill>
            <a:prstDash val="solid"/>
          </a:ln>
        </p:spPr>
      </p:sp>
      <p:sp>
        <p:nvSpPr>
          <p:cNvPr id="4" name="Text 2"/>
          <p:cNvSpPr/>
          <p:nvPr/>
        </p:nvSpPr>
        <p:spPr>
          <a:xfrm>
            <a:off x="274320" y="137160"/>
            <a:ext cx="8686800" cy="548640"/>
          </a:xfrm>
          <a:prstGeom prst="rect">
            <a:avLst/>
          </a:prstGeom>
          <a:noFill/>
          <a:ln/>
        </p:spPr>
        <p:txBody>
          <a:bodyPr wrap="square" rtlCol="0" anchor="ctr"/>
          <a:lstStyle/>
          <a:p>
            <a:pPr indent="0" marL="0">
              <a:buNone/>
            </a:pPr>
            <a:r>
              <a:rPr lang="en-US" sz="2600" b="1" dirty="0">
                <a:solidFill>
                  <a:srgbClr val="FFFFFF"/>
                </a:solidFill>
              </a:rPr>
              <a:t>⭕  Mathematical Intuition &amp; Cara Kerja</a:t>
            </a:r>
            <a:endParaRPr lang="en-US" sz="2600" dirty="0"/>
          </a:p>
        </p:txBody>
      </p:sp>
      <p:sp>
        <p:nvSpPr>
          <p:cNvPr id="5" name="Shape 3"/>
          <p:cNvSpPr/>
          <p:nvPr/>
        </p:nvSpPr>
        <p:spPr>
          <a:xfrm>
            <a:off x="274320" y="777240"/>
            <a:ext cx="4114800" cy="4160520"/>
          </a:xfrm>
          <a:prstGeom prst="rect">
            <a:avLst/>
          </a:prstGeom>
          <a:solidFill>
            <a:srgbClr val="162032"/>
          </a:solidFill>
          <a:ln w="19050">
            <a:solidFill>
              <a:srgbClr val="6A1B9A"/>
            </a:solidFill>
            <a:prstDash val="solid"/>
          </a:ln>
        </p:spPr>
      </p:sp>
      <p:sp>
        <p:nvSpPr>
          <p:cNvPr id="6" name="Shape 4"/>
          <p:cNvSpPr/>
          <p:nvPr/>
        </p:nvSpPr>
        <p:spPr>
          <a:xfrm>
            <a:off x="274320" y="777240"/>
            <a:ext cx="4114800" cy="411480"/>
          </a:xfrm>
          <a:prstGeom prst="rect">
            <a:avLst/>
          </a:prstGeom>
          <a:solidFill>
            <a:srgbClr val="6A1B9A"/>
          </a:solidFill>
          <a:ln w="12700">
            <a:solidFill>
              <a:srgbClr val="6A1B9A"/>
            </a:solidFill>
            <a:prstDash val="solid"/>
          </a:ln>
        </p:spPr>
      </p:sp>
      <p:sp>
        <p:nvSpPr>
          <p:cNvPr id="7" name="Text 5"/>
          <p:cNvSpPr/>
          <p:nvPr/>
        </p:nvSpPr>
        <p:spPr>
          <a:xfrm>
            <a:off x="274320" y="777240"/>
            <a:ext cx="4114800" cy="411480"/>
          </a:xfrm>
          <a:prstGeom prst="rect">
            <a:avLst/>
          </a:prstGeom>
          <a:noFill/>
          <a:ln/>
        </p:spPr>
        <p:txBody>
          <a:bodyPr wrap="square" rtlCol="0" anchor="ctr"/>
          <a:lstStyle/>
          <a:p>
            <a:pPr algn="ctr" indent="0" marL="0">
              <a:buNone/>
            </a:pPr>
            <a:r>
              <a:rPr lang="en-US" sz="1300" b="1" dirty="0">
                <a:solidFill>
                  <a:srgbClr val="FFFFFF"/>
                </a:solidFill>
              </a:rPr>
              <a:t>📐 Matematika: Objective Function</a:t>
            </a:r>
            <a:endParaRPr lang="en-US" sz="1300" dirty="0"/>
          </a:p>
        </p:txBody>
      </p:sp>
      <p:sp>
        <p:nvSpPr>
          <p:cNvPr id="8" name="Text 6"/>
          <p:cNvSpPr/>
          <p:nvPr/>
        </p:nvSpPr>
        <p:spPr>
          <a:xfrm>
            <a:off x="365760" y="1261872"/>
            <a:ext cx="3931920" cy="3657600"/>
          </a:xfrm>
          <a:prstGeom prst="rect">
            <a:avLst/>
          </a:prstGeom>
          <a:noFill/>
          <a:ln/>
        </p:spPr>
        <p:txBody>
          <a:bodyPr wrap="square" rtlCol="0" anchor="ctr"/>
          <a:lstStyle/>
          <a:p>
            <a:pPr indent="0" marL="0">
              <a:buNone/>
            </a:pPr>
            <a:r>
              <a:rPr lang="en-US" sz="1200" dirty="0">
                <a:solidFill>
                  <a:srgbClr val="AAAAAA"/>
                </a:solidFill>
              </a:rPr>
              <a:t>Minimumkan total Within-Cluster SSE:
</a:t>
            </a:r>
            <a:pPr indent="0" marL="0">
              <a:buNone/>
            </a:pPr>
            <a:r>
              <a:rPr lang="en-US" sz="1500" b="1" dirty="0">
                <a:solidFill>
                  <a:srgbClr val="CE93D8"/>
                </a:solidFill>
              </a:rPr>
              <a:t>J = Σᵢ Σₓ∈Cᵢ ||x - μᵢ||²
</a:t>
            </a:r>
            <a:pPr indent="0" marL="0">
              <a:buNone/>
            </a:pPr>
            <a:r>
              <a:rPr lang="en-US" sz="1100" dirty="0">
                <a:solidFill>
                  <a:srgbClr val="AAAAAA"/>
                </a:solidFill>
              </a:rPr>
              <a:t>μᵢ = centroid cluster ke-i
</a:t>
            </a:r>
            <a:pPr indent="0" marL="0">
              <a:buNone/>
            </a:pPr>
            <a:r>
              <a:rPr lang="en-US" sz="1100" dirty="0">
                <a:solidFill>
                  <a:srgbClr val="AAAAAA"/>
                </a:solidFill>
              </a:rPr>
              <a:t>Cᵢ = himpunan titik di cluster i
</a:t>
            </a:r>
            <a:pPr indent="0" marL="0">
              <a:buNone/>
            </a:pPr>
            <a:r>
              <a:rPr lang="en-US" sz="1200" dirty="0">
                <a:solidFill>
                  <a:srgbClr val="FFFFFF"/>
                </a:solidFill>
              </a:rPr>
              <a:t>Jarak Euclidean:
</a:t>
            </a:r>
            <a:pPr indent="0" marL="0">
              <a:buNone/>
            </a:pPr>
            <a:r>
              <a:rPr lang="en-US" sz="1400" b="1" dirty="0">
                <a:solidFill>
                  <a:srgbClr val="64FFDA"/>
                </a:solidFill>
              </a:rPr>
              <a:t>d(x, μ) = √(Σ(xⱼ - μⱼ)²)
</a:t>
            </a:r>
            <a:pPr indent="0" marL="0">
              <a:buNone/>
            </a:pPr>
            <a:r>
              <a:rPr lang="en-US" sz="1200" dirty="0">
                <a:solidFill>
                  <a:srgbClr val="FFFFFF"/>
                </a:solidFill>
              </a:rPr>
              <a:t>Update Centroid:
</a:t>
            </a:r>
            <a:pPr indent="0" marL="0">
              <a:buNone/>
            </a:pPr>
            <a:r>
              <a:rPr lang="en-US" sz="1400" b="1" dirty="0">
                <a:solidFill>
                  <a:srgbClr val="FFD700"/>
                </a:solidFill>
              </a:rPr>
              <a:t>μᵢ = (1/|Cᵢ|) × Σₓ∈Cᵢ x
</a:t>
            </a:r>
            <a:pPr indent="0" marL="0">
              <a:buNone/>
            </a:pPr>
            <a:r>
              <a:rPr lang="en-US" sz="1100" i="1" dirty="0">
                <a:solidFill>
                  <a:srgbClr val="AAAAAA"/>
                </a:solidFill>
              </a:rPr>
              <a:t>Artinya: rata-rata semua titik dalam cluster!</a:t>
            </a:r>
            <a:endParaRPr lang="en-US" sz="1200" dirty="0"/>
          </a:p>
        </p:txBody>
      </p:sp>
      <p:sp>
        <p:nvSpPr>
          <p:cNvPr id="9" name="Shape 7"/>
          <p:cNvSpPr/>
          <p:nvPr/>
        </p:nvSpPr>
        <p:spPr>
          <a:xfrm>
            <a:off x="4572000" y="777240"/>
            <a:ext cx="4389120" cy="4160520"/>
          </a:xfrm>
          <a:prstGeom prst="rect">
            <a:avLst/>
          </a:prstGeom>
          <a:solidFill>
            <a:srgbClr val="162032"/>
          </a:solidFill>
          <a:ln w="19050">
            <a:solidFill>
              <a:srgbClr val="CE93D8"/>
            </a:solidFill>
            <a:prstDash val="solid"/>
          </a:ln>
        </p:spPr>
      </p:sp>
      <p:sp>
        <p:nvSpPr>
          <p:cNvPr id="10" name="Shape 8"/>
          <p:cNvSpPr/>
          <p:nvPr/>
        </p:nvSpPr>
        <p:spPr>
          <a:xfrm>
            <a:off x="4572000" y="777240"/>
            <a:ext cx="4389120" cy="411480"/>
          </a:xfrm>
          <a:prstGeom prst="rect">
            <a:avLst/>
          </a:prstGeom>
          <a:solidFill>
            <a:srgbClr val="7B1FA2"/>
          </a:solidFill>
          <a:ln w="12700">
            <a:solidFill>
              <a:srgbClr val="7B1FA2"/>
            </a:solidFill>
            <a:prstDash val="solid"/>
          </a:ln>
        </p:spPr>
      </p:sp>
      <p:sp>
        <p:nvSpPr>
          <p:cNvPr id="11" name="Text 9"/>
          <p:cNvSpPr/>
          <p:nvPr/>
        </p:nvSpPr>
        <p:spPr>
          <a:xfrm>
            <a:off x="4572000" y="777240"/>
            <a:ext cx="4389120" cy="411480"/>
          </a:xfrm>
          <a:prstGeom prst="rect">
            <a:avLst/>
          </a:prstGeom>
          <a:noFill/>
          <a:ln/>
        </p:spPr>
        <p:txBody>
          <a:bodyPr wrap="square" rtlCol="0" anchor="ctr"/>
          <a:lstStyle/>
          <a:p>
            <a:pPr algn="ctr" indent="0" marL="0">
              <a:buNone/>
            </a:pPr>
            <a:r>
              <a:rPr lang="en-US" sz="1300" b="1" dirty="0">
                <a:solidFill>
                  <a:srgbClr val="FFFFFF"/>
                </a:solidFill>
              </a:rPr>
              <a:t>🔄 Cara Kerja (Iteratif)</a:t>
            </a:r>
            <a:endParaRPr lang="en-US" sz="1300" dirty="0"/>
          </a:p>
        </p:txBody>
      </p:sp>
      <p:sp>
        <p:nvSpPr>
          <p:cNvPr id="12" name="Shape 10"/>
          <p:cNvSpPr/>
          <p:nvPr/>
        </p:nvSpPr>
        <p:spPr>
          <a:xfrm>
            <a:off x="4709160" y="1298448"/>
            <a:ext cx="347472" cy="347472"/>
          </a:xfrm>
          <a:prstGeom prst="ellipse">
            <a:avLst/>
          </a:prstGeom>
          <a:solidFill>
            <a:srgbClr val="6A1B9A"/>
          </a:solidFill>
          <a:ln w="12700">
            <a:solidFill>
              <a:srgbClr val="CE93D8"/>
            </a:solidFill>
            <a:prstDash val="solid"/>
          </a:ln>
        </p:spPr>
      </p:sp>
      <p:sp>
        <p:nvSpPr>
          <p:cNvPr id="13" name="Text 11"/>
          <p:cNvSpPr/>
          <p:nvPr/>
        </p:nvSpPr>
        <p:spPr>
          <a:xfrm>
            <a:off x="4709160" y="1298448"/>
            <a:ext cx="347472" cy="347472"/>
          </a:xfrm>
          <a:prstGeom prst="rect">
            <a:avLst/>
          </a:prstGeom>
          <a:noFill/>
          <a:ln/>
        </p:spPr>
        <p:txBody>
          <a:bodyPr wrap="square" rtlCol="0" anchor="ctr"/>
          <a:lstStyle/>
          <a:p>
            <a:pPr algn="ctr" indent="0" marL="0">
              <a:buNone/>
            </a:pPr>
            <a:r>
              <a:rPr lang="en-US" sz="1200" b="1" dirty="0">
                <a:solidFill>
                  <a:srgbClr val="FFFFFF"/>
                </a:solidFill>
              </a:rPr>
              <a:t>1</a:t>
            </a:r>
            <a:endParaRPr lang="en-US" sz="1200" dirty="0"/>
          </a:p>
        </p:txBody>
      </p:sp>
      <p:sp>
        <p:nvSpPr>
          <p:cNvPr id="14" name="Text 12"/>
          <p:cNvSpPr/>
          <p:nvPr/>
        </p:nvSpPr>
        <p:spPr>
          <a:xfrm>
            <a:off x="5138928" y="1325880"/>
            <a:ext cx="3749040" cy="347472"/>
          </a:xfrm>
          <a:prstGeom prst="rect">
            <a:avLst/>
          </a:prstGeom>
          <a:noFill/>
          <a:ln/>
        </p:spPr>
        <p:txBody>
          <a:bodyPr wrap="square" rtlCol="0" anchor="ctr"/>
          <a:lstStyle/>
          <a:p>
            <a:pPr indent="0" marL="0">
              <a:buNone/>
            </a:pPr>
            <a:r>
              <a:rPr lang="en-US" sz="1200" dirty="0">
                <a:solidFill>
                  <a:srgbClr val="FFFFFF"/>
                </a:solidFill>
              </a:rPr>
              <a:t>Tentukan K (jumlah cluster)</a:t>
            </a:r>
            <a:endParaRPr lang="en-US" sz="1200" dirty="0"/>
          </a:p>
        </p:txBody>
      </p:sp>
      <p:sp>
        <p:nvSpPr>
          <p:cNvPr id="15" name="Shape 13"/>
          <p:cNvSpPr/>
          <p:nvPr/>
        </p:nvSpPr>
        <p:spPr>
          <a:xfrm>
            <a:off x="4709160" y="1920240"/>
            <a:ext cx="347472" cy="347472"/>
          </a:xfrm>
          <a:prstGeom prst="ellipse">
            <a:avLst/>
          </a:prstGeom>
          <a:solidFill>
            <a:srgbClr val="6A1B9A"/>
          </a:solidFill>
          <a:ln w="12700">
            <a:solidFill>
              <a:srgbClr val="CE93D8"/>
            </a:solidFill>
            <a:prstDash val="solid"/>
          </a:ln>
        </p:spPr>
      </p:sp>
      <p:sp>
        <p:nvSpPr>
          <p:cNvPr id="16" name="Text 14"/>
          <p:cNvSpPr/>
          <p:nvPr/>
        </p:nvSpPr>
        <p:spPr>
          <a:xfrm>
            <a:off x="4709160" y="1920240"/>
            <a:ext cx="347472" cy="347472"/>
          </a:xfrm>
          <a:prstGeom prst="rect">
            <a:avLst/>
          </a:prstGeom>
          <a:noFill/>
          <a:ln/>
        </p:spPr>
        <p:txBody>
          <a:bodyPr wrap="square" rtlCol="0" anchor="ctr"/>
          <a:lstStyle/>
          <a:p>
            <a:pPr algn="ctr" indent="0" marL="0">
              <a:buNone/>
            </a:pPr>
            <a:r>
              <a:rPr lang="en-US" sz="1200" b="1" dirty="0">
                <a:solidFill>
                  <a:srgbClr val="FFFFFF"/>
                </a:solidFill>
              </a:rPr>
              <a:t>2</a:t>
            </a:r>
            <a:endParaRPr lang="en-US" sz="1200" dirty="0"/>
          </a:p>
        </p:txBody>
      </p:sp>
      <p:sp>
        <p:nvSpPr>
          <p:cNvPr id="17" name="Text 15"/>
          <p:cNvSpPr/>
          <p:nvPr/>
        </p:nvSpPr>
        <p:spPr>
          <a:xfrm>
            <a:off x="5138928" y="1947672"/>
            <a:ext cx="3749040" cy="347472"/>
          </a:xfrm>
          <a:prstGeom prst="rect">
            <a:avLst/>
          </a:prstGeom>
          <a:noFill/>
          <a:ln/>
        </p:spPr>
        <p:txBody>
          <a:bodyPr wrap="square" rtlCol="0" anchor="ctr"/>
          <a:lstStyle/>
          <a:p>
            <a:pPr indent="0" marL="0">
              <a:buNone/>
            </a:pPr>
            <a:r>
              <a:rPr lang="en-US" sz="1200" dirty="0">
                <a:solidFill>
                  <a:srgbClr val="FFFFFF"/>
                </a:solidFill>
              </a:rPr>
              <a:t>Inisialisasi K centroid secara random</a:t>
            </a:r>
            <a:endParaRPr lang="en-US" sz="1200" dirty="0"/>
          </a:p>
        </p:txBody>
      </p:sp>
      <p:sp>
        <p:nvSpPr>
          <p:cNvPr id="18" name="Shape 16"/>
          <p:cNvSpPr/>
          <p:nvPr/>
        </p:nvSpPr>
        <p:spPr>
          <a:xfrm>
            <a:off x="4709160" y="2542032"/>
            <a:ext cx="347472" cy="347472"/>
          </a:xfrm>
          <a:prstGeom prst="ellipse">
            <a:avLst/>
          </a:prstGeom>
          <a:solidFill>
            <a:srgbClr val="6A1B9A"/>
          </a:solidFill>
          <a:ln w="12700">
            <a:solidFill>
              <a:srgbClr val="CE93D8"/>
            </a:solidFill>
            <a:prstDash val="solid"/>
          </a:ln>
        </p:spPr>
      </p:sp>
      <p:sp>
        <p:nvSpPr>
          <p:cNvPr id="19" name="Text 17"/>
          <p:cNvSpPr/>
          <p:nvPr/>
        </p:nvSpPr>
        <p:spPr>
          <a:xfrm>
            <a:off x="4709160" y="2542032"/>
            <a:ext cx="347472" cy="347472"/>
          </a:xfrm>
          <a:prstGeom prst="rect">
            <a:avLst/>
          </a:prstGeom>
          <a:noFill/>
          <a:ln/>
        </p:spPr>
        <p:txBody>
          <a:bodyPr wrap="square" rtlCol="0" anchor="ctr"/>
          <a:lstStyle/>
          <a:p>
            <a:pPr algn="ctr" indent="0" marL="0">
              <a:buNone/>
            </a:pPr>
            <a:r>
              <a:rPr lang="en-US" sz="1200" b="1" dirty="0">
                <a:solidFill>
                  <a:srgbClr val="FFFFFF"/>
                </a:solidFill>
              </a:rPr>
              <a:t>3</a:t>
            </a:r>
            <a:endParaRPr lang="en-US" sz="1200" dirty="0"/>
          </a:p>
        </p:txBody>
      </p:sp>
      <p:sp>
        <p:nvSpPr>
          <p:cNvPr id="20" name="Text 18"/>
          <p:cNvSpPr/>
          <p:nvPr/>
        </p:nvSpPr>
        <p:spPr>
          <a:xfrm>
            <a:off x="5138928" y="2569464"/>
            <a:ext cx="3749040" cy="347472"/>
          </a:xfrm>
          <a:prstGeom prst="rect">
            <a:avLst/>
          </a:prstGeom>
          <a:noFill/>
          <a:ln/>
        </p:spPr>
        <p:txBody>
          <a:bodyPr wrap="square" rtlCol="0" anchor="ctr"/>
          <a:lstStyle/>
          <a:p>
            <a:pPr indent="0" marL="0">
              <a:buNone/>
            </a:pPr>
            <a:r>
              <a:rPr lang="en-US" sz="1200" dirty="0">
                <a:solidFill>
                  <a:srgbClr val="FFFFFF"/>
                </a:solidFill>
              </a:rPr>
              <a:t>Assign setiap titik ke centroid terdekat</a:t>
            </a:r>
            <a:endParaRPr lang="en-US" sz="1200" dirty="0"/>
          </a:p>
        </p:txBody>
      </p:sp>
      <p:sp>
        <p:nvSpPr>
          <p:cNvPr id="21" name="Shape 19"/>
          <p:cNvSpPr/>
          <p:nvPr/>
        </p:nvSpPr>
        <p:spPr>
          <a:xfrm>
            <a:off x="4709160" y="3163824"/>
            <a:ext cx="347472" cy="347472"/>
          </a:xfrm>
          <a:prstGeom prst="ellipse">
            <a:avLst/>
          </a:prstGeom>
          <a:solidFill>
            <a:srgbClr val="6A1B9A"/>
          </a:solidFill>
          <a:ln w="12700">
            <a:solidFill>
              <a:srgbClr val="CE93D8"/>
            </a:solidFill>
            <a:prstDash val="solid"/>
          </a:ln>
        </p:spPr>
      </p:sp>
      <p:sp>
        <p:nvSpPr>
          <p:cNvPr id="22" name="Text 20"/>
          <p:cNvSpPr/>
          <p:nvPr/>
        </p:nvSpPr>
        <p:spPr>
          <a:xfrm>
            <a:off x="4709160" y="3163824"/>
            <a:ext cx="347472" cy="347472"/>
          </a:xfrm>
          <a:prstGeom prst="rect">
            <a:avLst/>
          </a:prstGeom>
          <a:noFill/>
          <a:ln/>
        </p:spPr>
        <p:txBody>
          <a:bodyPr wrap="square" rtlCol="0" anchor="ctr"/>
          <a:lstStyle/>
          <a:p>
            <a:pPr algn="ctr" indent="0" marL="0">
              <a:buNone/>
            </a:pPr>
            <a:r>
              <a:rPr lang="en-US" sz="1200" b="1" dirty="0">
                <a:solidFill>
                  <a:srgbClr val="FFFFFF"/>
                </a:solidFill>
              </a:rPr>
              <a:t>4</a:t>
            </a:r>
            <a:endParaRPr lang="en-US" sz="1200" dirty="0"/>
          </a:p>
        </p:txBody>
      </p:sp>
      <p:sp>
        <p:nvSpPr>
          <p:cNvPr id="23" name="Text 21"/>
          <p:cNvSpPr/>
          <p:nvPr/>
        </p:nvSpPr>
        <p:spPr>
          <a:xfrm>
            <a:off x="5138928" y="3191256"/>
            <a:ext cx="3749040" cy="347472"/>
          </a:xfrm>
          <a:prstGeom prst="rect">
            <a:avLst/>
          </a:prstGeom>
          <a:noFill/>
          <a:ln/>
        </p:spPr>
        <p:txBody>
          <a:bodyPr wrap="square" rtlCol="0" anchor="ctr"/>
          <a:lstStyle/>
          <a:p>
            <a:pPr indent="0" marL="0">
              <a:buNone/>
            </a:pPr>
            <a:r>
              <a:rPr lang="en-US" sz="1200" dirty="0">
                <a:solidFill>
                  <a:srgbClr val="FFFFFF"/>
                </a:solidFill>
              </a:rPr>
              <a:t>Hitung ulang centroid (rata-rata cluster)</a:t>
            </a:r>
            <a:endParaRPr lang="en-US" sz="1200" dirty="0"/>
          </a:p>
        </p:txBody>
      </p:sp>
      <p:sp>
        <p:nvSpPr>
          <p:cNvPr id="24" name="Shape 22"/>
          <p:cNvSpPr/>
          <p:nvPr/>
        </p:nvSpPr>
        <p:spPr>
          <a:xfrm>
            <a:off x="4709160" y="3785616"/>
            <a:ext cx="347472" cy="347472"/>
          </a:xfrm>
          <a:prstGeom prst="ellipse">
            <a:avLst/>
          </a:prstGeom>
          <a:solidFill>
            <a:srgbClr val="6A1B9A"/>
          </a:solidFill>
          <a:ln w="12700">
            <a:solidFill>
              <a:srgbClr val="CE93D8"/>
            </a:solidFill>
            <a:prstDash val="solid"/>
          </a:ln>
        </p:spPr>
      </p:sp>
      <p:sp>
        <p:nvSpPr>
          <p:cNvPr id="25" name="Text 23"/>
          <p:cNvSpPr/>
          <p:nvPr/>
        </p:nvSpPr>
        <p:spPr>
          <a:xfrm>
            <a:off x="4709160" y="3785616"/>
            <a:ext cx="347472" cy="347472"/>
          </a:xfrm>
          <a:prstGeom prst="rect">
            <a:avLst/>
          </a:prstGeom>
          <a:noFill/>
          <a:ln/>
        </p:spPr>
        <p:txBody>
          <a:bodyPr wrap="square" rtlCol="0" anchor="ctr"/>
          <a:lstStyle/>
          <a:p>
            <a:pPr algn="ctr" indent="0" marL="0">
              <a:buNone/>
            </a:pPr>
            <a:r>
              <a:rPr lang="en-US" sz="1200" b="1" dirty="0">
                <a:solidFill>
                  <a:srgbClr val="FFFFFF"/>
                </a:solidFill>
              </a:rPr>
              <a:t>5</a:t>
            </a:r>
            <a:endParaRPr lang="en-US" sz="1200" dirty="0"/>
          </a:p>
        </p:txBody>
      </p:sp>
      <p:sp>
        <p:nvSpPr>
          <p:cNvPr id="26" name="Text 24"/>
          <p:cNvSpPr/>
          <p:nvPr/>
        </p:nvSpPr>
        <p:spPr>
          <a:xfrm>
            <a:off x="5138928" y="3813048"/>
            <a:ext cx="3749040" cy="347472"/>
          </a:xfrm>
          <a:prstGeom prst="rect">
            <a:avLst/>
          </a:prstGeom>
          <a:noFill/>
          <a:ln/>
        </p:spPr>
        <p:txBody>
          <a:bodyPr wrap="square" rtlCol="0" anchor="ctr"/>
          <a:lstStyle/>
          <a:p>
            <a:pPr indent="0" marL="0">
              <a:buNone/>
            </a:pPr>
            <a:r>
              <a:rPr lang="en-US" sz="1200" dirty="0">
                <a:solidFill>
                  <a:srgbClr val="FFFFFF"/>
                </a:solidFill>
              </a:rPr>
              <a:t>Ulangi step 3-4 sampai centroid konvergen</a:t>
            </a:r>
            <a:endParaRPr lang="en-US" sz="1200" dirty="0"/>
          </a:p>
        </p:txBody>
      </p:sp>
      <p:sp>
        <p:nvSpPr>
          <p:cNvPr id="27" name="Shape 25"/>
          <p:cNvSpPr/>
          <p:nvPr/>
        </p:nvSpPr>
        <p:spPr>
          <a:xfrm>
            <a:off x="4709160" y="4407408"/>
            <a:ext cx="347472" cy="347472"/>
          </a:xfrm>
          <a:prstGeom prst="ellipse">
            <a:avLst/>
          </a:prstGeom>
          <a:solidFill>
            <a:srgbClr val="6A1B9A"/>
          </a:solidFill>
          <a:ln w="12700">
            <a:solidFill>
              <a:srgbClr val="CE93D8"/>
            </a:solidFill>
            <a:prstDash val="solid"/>
          </a:ln>
        </p:spPr>
      </p:sp>
      <p:sp>
        <p:nvSpPr>
          <p:cNvPr id="28" name="Text 26"/>
          <p:cNvSpPr/>
          <p:nvPr/>
        </p:nvSpPr>
        <p:spPr>
          <a:xfrm>
            <a:off x="4709160" y="4407408"/>
            <a:ext cx="347472" cy="347472"/>
          </a:xfrm>
          <a:prstGeom prst="rect">
            <a:avLst/>
          </a:prstGeom>
          <a:noFill/>
          <a:ln/>
        </p:spPr>
        <p:txBody>
          <a:bodyPr wrap="square" rtlCol="0" anchor="ctr"/>
          <a:lstStyle/>
          <a:p>
            <a:pPr algn="ctr" indent="0" marL="0">
              <a:buNone/>
            </a:pPr>
            <a:r>
              <a:rPr lang="en-US" sz="1200" b="1" dirty="0">
                <a:solidFill>
                  <a:srgbClr val="FFFFFF"/>
                </a:solidFill>
              </a:rPr>
              <a:t>6</a:t>
            </a:r>
            <a:endParaRPr lang="en-US" sz="1200" dirty="0"/>
          </a:p>
        </p:txBody>
      </p:sp>
      <p:sp>
        <p:nvSpPr>
          <p:cNvPr id="29" name="Text 27"/>
          <p:cNvSpPr/>
          <p:nvPr/>
        </p:nvSpPr>
        <p:spPr>
          <a:xfrm>
            <a:off x="5138928" y="4434840"/>
            <a:ext cx="3749040" cy="347472"/>
          </a:xfrm>
          <a:prstGeom prst="rect">
            <a:avLst/>
          </a:prstGeom>
          <a:noFill/>
          <a:ln/>
        </p:spPr>
        <p:txBody>
          <a:bodyPr wrap="square" rtlCol="0" anchor="ctr"/>
          <a:lstStyle/>
          <a:p>
            <a:pPr indent="0" marL="0">
              <a:buNone/>
            </a:pPr>
            <a:r>
              <a:rPr lang="en-US" sz="1200" dirty="0">
                <a:solidFill>
                  <a:srgbClr val="FFFFFF"/>
                </a:solidFill>
              </a:rPr>
              <a:t>Selesai! Data sudah terpartisi menjadi K cluster</a:t>
            </a:r>
            <a:endParaRPr lang="en-US" sz="1200" dirty="0"/>
          </a:p>
        </p:txBody>
      </p:sp>
      <p:sp>
        <p:nvSpPr>
          <p:cNvPr id="30" name="Shape 28"/>
          <p:cNvSpPr/>
          <p:nvPr/>
        </p:nvSpPr>
        <p:spPr>
          <a:xfrm>
            <a:off x="0" y="5074920"/>
            <a:ext cx="9144000" cy="73152"/>
          </a:xfrm>
          <a:prstGeom prst="rect">
            <a:avLst/>
          </a:prstGeom>
          <a:solidFill>
            <a:srgbClr val="6A1B9A"/>
          </a:solidFill>
          <a:ln w="12700">
            <a:solidFill>
              <a:srgbClr val="6A1B9A"/>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A1B9A"/>
          </a:solidFill>
          <a:ln w="12700">
            <a:solidFill>
              <a:srgbClr val="6A1B9A"/>
            </a:solidFill>
            <a:prstDash val="solid"/>
          </a:ln>
        </p:spPr>
      </p:sp>
      <p:sp>
        <p:nvSpPr>
          <p:cNvPr id="3" name="Shape 1"/>
          <p:cNvSpPr/>
          <p:nvPr/>
        </p:nvSpPr>
        <p:spPr>
          <a:xfrm>
            <a:off x="0" y="0"/>
            <a:ext cx="9144000" cy="73152"/>
          </a:xfrm>
          <a:prstGeom prst="rect">
            <a:avLst/>
          </a:prstGeom>
          <a:solidFill>
            <a:srgbClr val="6A1B9A"/>
          </a:solidFill>
          <a:ln w="12700">
            <a:solidFill>
              <a:srgbClr val="6A1B9A"/>
            </a:solidFill>
            <a:prstDash val="solid"/>
          </a:ln>
        </p:spPr>
      </p:sp>
      <p:sp>
        <p:nvSpPr>
          <p:cNvPr id="4" name="Text 2"/>
          <p:cNvSpPr/>
          <p:nvPr/>
        </p:nvSpPr>
        <p:spPr>
          <a:xfrm>
            <a:off x="274320" y="137160"/>
            <a:ext cx="8686800" cy="548640"/>
          </a:xfrm>
          <a:prstGeom prst="rect">
            <a:avLst/>
          </a:prstGeom>
          <a:noFill/>
          <a:ln/>
        </p:spPr>
        <p:txBody>
          <a:bodyPr wrap="square" rtlCol="0" anchor="ctr"/>
          <a:lstStyle/>
          <a:p>
            <a:pPr indent="0" marL="0">
              <a:buNone/>
            </a:pPr>
            <a:r>
              <a:rPr lang="en-US" sz="2600" b="1" dirty="0">
                <a:solidFill>
                  <a:srgbClr val="FFFFFF"/>
                </a:solidFill>
              </a:rPr>
              <a:t>⭕  Kelebihan &amp; Kekurangan K-Means</a:t>
            </a:r>
            <a:endParaRPr lang="en-US" sz="2600" dirty="0"/>
          </a:p>
        </p:txBody>
      </p:sp>
      <p:sp>
        <p:nvSpPr>
          <p:cNvPr id="5" name="Shape 3"/>
          <p:cNvSpPr/>
          <p:nvPr/>
        </p:nvSpPr>
        <p:spPr>
          <a:xfrm>
            <a:off x="274320" y="777240"/>
            <a:ext cx="4114800" cy="4206240"/>
          </a:xfrm>
          <a:prstGeom prst="rect">
            <a:avLst/>
          </a:prstGeom>
          <a:solidFill>
            <a:srgbClr val="162032"/>
          </a:solidFill>
          <a:ln w="19050">
            <a:solidFill>
              <a:srgbClr val="43A047"/>
            </a:solidFill>
            <a:prstDash val="solid"/>
          </a:ln>
        </p:spPr>
      </p:sp>
      <p:sp>
        <p:nvSpPr>
          <p:cNvPr id="6" name="Shape 4"/>
          <p:cNvSpPr/>
          <p:nvPr/>
        </p:nvSpPr>
        <p:spPr>
          <a:xfrm>
            <a:off x="274320" y="777240"/>
            <a:ext cx="4114800" cy="457200"/>
          </a:xfrm>
          <a:prstGeom prst="rect">
            <a:avLst/>
          </a:prstGeom>
          <a:solidFill>
            <a:srgbClr val="2E7D32"/>
          </a:solidFill>
          <a:ln w="12700">
            <a:solidFill>
              <a:srgbClr val="2E7D32"/>
            </a:solidFill>
            <a:prstDash val="solid"/>
          </a:ln>
        </p:spPr>
      </p:sp>
      <p:sp>
        <p:nvSpPr>
          <p:cNvPr id="7" name="Text 5"/>
          <p:cNvSpPr/>
          <p:nvPr/>
        </p:nvSpPr>
        <p:spPr>
          <a:xfrm>
            <a:off x="274320" y="777240"/>
            <a:ext cx="4114800" cy="457200"/>
          </a:xfrm>
          <a:prstGeom prst="rect">
            <a:avLst/>
          </a:prstGeom>
          <a:noFill/>
          <a:ln/>
        </p:spPr>
        <p:txBody>
          <a:bodyPr wrap="square" rtlCol="0" anchor="ctr"/>
          <a:lstStyle/>
          <a:p>
            <a:pPr algn="ctr" indent="0" marL="0">
              <a:buNone/>
            </a:pPr>
            <a:r>
              <a:rPr lang="en-US" sz="1500" b="1" dirty="0">
                <a:solidFill>
                  <a:srgbClr val="FFFFFF"/>
                </a:solidFill>
              </a:rPr>
              <a:t>✅  KELEBIHAN</a:t>
            </a:r>
            <a:endParaRPr lang="en-US" sz="1500" dirty="0"/>
          </a:p>
        </p:txBody>
      </p:sp>
      <p:sp>
        <p:nvSpPr>
          <p:cNvPr id="8" name="Shape 6"/>
          <p:cNvSpPr/>
          <p:nvPr/>
        </p:nvSpPr>
        <p:spPr>
          <a:xfrm>
            <a:off x="411480" y="1325880"/>
            <a:ext cx="274320" cy="274320"/>
          </a:xfrm>
          <a:prstGeom prst="rect">
            <a:avLst/>
          </a:prstGeom>
          <a:solidFill>
            <a:srgbClr val="43A047"/>
          </a:solidFill>
          <a:ln w="12700">
            <a:solidFill>
              <a:srgbClr val="43A047"/>
            </a:solidFill>
            <a:prstDash val="solid"/>
          </a:ln>
        </p:spPr>
      </p:sp>
      <p:sp>
        <p:nvSpPr>
          <p:cNvPr id="9" name="Text 7"/>
          <p:cNvSpPr/>
          <p:nvPr/>
        </p:nvSpPr>
        <p:spPr>
          <a:xfrm>
            <a:off x="411480" y="132588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0" name="Text 8"/>
          <p:cNvSpPr/>
          <p:nvPr/>
        </p:nvSpPr>
        <p:spPr>
          <a:xfrm>
            <a:off x="777240" y="1325880"/>
            <a:ext cx="3520440" cy="320040"/>
          </a:xfrm>
          <a:prstGeom prst="rect">
            <a:avLst/>
          </a:prstGeom>
          <a:noFill/>
          <a:ln/>
        </p:spPr>
        <p:txBody>
          <a:bodyPr wrap="square" rtlCol="0" anchor="ctr"/>
          <a:lstStyle/>
          <a:p>
            <a:pPr indent="0" marL="0">
              <a:buNone/>
            </a:pPr>
            <a:r>
              <a:rPr lang="en-US" sz="1200" dirty="0">
                <a:solidFill>
                  <a:srgbClr val="FFFFFF"/>
                </a:solidFill>
              </a:rPr>
              <a:t>Sederhana dan mudah diimplementasikan</a:t>
            </a:r>
            <a:endParaRPr lang="en-US" sz="1200" dirty="0"/>
          </a:p>
        </p:txBody>
      </p:sp>
      <p:sp>
        <p:nvSpPr>
          <p:cNvPr id="11" name="Shape 9"/>
          <p:cNvSpPr/>
          <p:nvPr/>
        </p:nvSpPr>
        <p:spPr>
          <a:xfrm>
            <a:off x="411480" y="1801368"/>
            <a:ext cx="274320" cy="274320"/>
          </a:xfrm>
          <a:prstGeom prst="rect">
            <a:avLst/>
          </a:prstGeom>
          <a:solidFill>
            <a:srgbClr val="43A047"/>
          </a:solidFill>
          <a:ln w="12700">
            <a:solidFill>
              <a:srgbClr val="43A047"/>
            </a:solidFill>
            <a:prstDash val="solid"/>
          </a:ln>
        </p:spPr>
      </p:sp>
      <p:sp>
        <p:nvSpPr>
          <p:cNvPr id="12" name="Text 10"/>
          <p:cNvSpPr/>
          <p:nvPr/>
        </p:nvSpPr>
        <p:spPr>
          <a:xfrm>
            <a:off x="411480" y="1801368"/>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3" name="Text 11"/>
          <p:cNvSpPr/>
          <p:nvPr/>
        </p:nvSpPr>
        <p:spPr>
          <a:xfrm>
            <a:off x="777240" y="1801368"/>
            <a:ext cx="3520440" cy="320040"/>
          </a:xfrm>
          <a:prstGeom prst="rect">
            <a:avLst/>
          </a:prstGeom>
          <a:noFill/>
          <a:ln/>
        </p:spPr>
        <p:txBody>
          <a:bodyPr wrap="square" rtlCol="0" anchor="ctr"/>
          <a:lstStyle/>
          <a:p>
            <a:pPr indent="0" marL="0">
              <a:buNone/>
            </a:pPr>
            <a:r>
              <a:rPr lang="en-US" sz="1200" dirty="0">
                <a:solidFill>
                  <a:srgbClr val="FFFFFF"/>
                </a:solidFill>
              </a:rPr>
              <a:t>Efisien pada dataset besar (O(nKt))</a:t>
            </a:r>
            <a:endParaRPr lang="en-US" sz="1200" dirty="0"/>
          </a:p>
        </p:txBody>
      </p:sp>
      <p:sp>
        <p:nvSpPr>
          <p:cNvPr id="14" name="Shape 12"/>
          <p:cNvSpPr/>
          <p:nvPr/>
        </p:nvSpPr>
        <p:spPr>
          <a:xfrm>
            <a:off x="411480" y="2276856"/>
            <a:ext cx="274320" cy="274320"/>
          </a:xfrm>
          <a:prstGeom prst="rect">
            <a:avLst/>
          </a:prstGeom>
          <a:solidFill>
            <a:srgbClr val="43A047"/>
          </a:solidFill>
          <a:ln w="12700">
            <a:solidFill>
              <a:srgbClr val="43A047"/>
            </a:solidFill>
            <a:prstDash val="solid"/>
          </a:ln>
        </p:spPr>
      </p:sp>
      <p:sp>
        <p:nvSpPr>
          <p:cNvPr id="15" name="Text 13"/>
          <p:cNvSpPr/>
          <p:nvPr/>
        </p:nvSpPr>
        <p:spPr>
          <a:xfrm>
            <a:off x="411480" y="2276856"/>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6" name="Text 14"/>
          <p:cNvSpPr/>
          <p:nvPr/>
        </p:nvSpPr>
        <p:spPr>
          <a:xfrm>
            <a:off x="777240" y="2276856"/>
            <a:ext cx="3520440" cy="320040"/>
          </a:xfrm>
          <a:prstGeom prst="rect">
            <a:avLst/>
          </a:prstGeom>
          <a:noFill/>
          <a:ln/>
        </p:spPr>
        <p:txBody>
          <a:bodyPr wrap="square" rtlCol="0" anchor="ctr"/>
          <a:lstStyle/>
          <a:p>
            <a:pPr indent="0" marL="0">
              <a:buNone/>
            </a:pPr>
            <a:r>
              <a:rPr lang="en-US" sz="1200" dirty="0">
                <a:solidFill>
                  <a:srgbClr val="FFFFFF"/>
                </a:solidFill>
              </a:rPr>
              <a:t>Scalable dan cepat secara komputasi</a:t>
            </a:r>
            <a:endParaRPr lang="en-US" sz="1200" dirty="0"/>
          </a:p>
        </p:txBody>
      </p:sp>
      <p:sp>
        <p:nvSpPr>
          <p:cNvPr id="17" name="Shape 15"/>
          <p:cNvSpPr/>
          <p:nvPr/>
        </p:nvSpPr>
        <p:spPr>
          <a:xfrm>
            <a:off x="411480" y="2752344"/>
            <a:ext cx="274320" cy="274320"/>
          </a:xfrm>
          <a:prstGeom prst="rect">
            <a:avLst/>
          </a:prstGeom>
          <a:solidFill>
            <a:srgbClr val="43A047"/>
          </a:solidFill>
          <a:ln w="12700">
            <a:solidFill>
              <a:srgbClr val="43A047"/>
            </a:solidFill>
            <a:prstDash val="solid"/>
          </a:ln>
        </p:spPr>
      </p:sp>
      <p:sp>
        <p:nvSpPr>
          <p:cNvPr id="18" name="Text 16"/>
          <p:cNvSpPr/>
          <p:nvPr/>
        </p:nvSpPr>
        <p:spPr>
          <a:xfrm>
            <a:off x="411480" y="2752344"/>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9" name="Text 17"/>
          <p:cNvSpPr/>
          <p:nvPr/>
        </p:nvSpPr>
        <p:spPr>
          <a:xfrm>
            <a:off x="777240" y="2752344"/>
            <a:ext cx="3520440" cy="320040"/>
          </a:xfrm>
          <a:prstGeom prst="rect">
            <a:avLst/>
          </a:prstGeom>
          <a:noFill/>
          <a:ln/>
        </p:spPr>
        <p:txBody>
          <a:bodyPr wrap="square" rtlCol="0" anchor="ctr"/>
          <a:lstStyle/>
          <a:p>
            <a:pPr indent="0" marL="0">
              <a:buNone/>
            </a:pPr>
            <a:r>
              <a:rPr lang="en-US" sz="1200" dirty="0">
                <a:solidFill>
                  <a:srgbClr val="FFFFFF"/>
                </a:solidFill>
              </a:rPr>
              <a:t>Hasil mudah diinterpretasikan</a:t>
            </a:r>
            <a:endParaRPr lang="en-US" sz="1200" dirty="0"/>
          </a:p>
        </p:txBody>
      </p:sp>
      <p:sp>
        <p:nvSpPr>
          <p:cNvPr id="20" name="Shape 18"/>
          <p:cNvSpPr/>
          <p:nvPr/>
        </p:nvSpPr>
        <p:spPr>
          <a:xfrm>
            <a:off x="411480" y="3227832"/>
            <a:ext cx="274320" cy="274320"/>
          </a:xfrm>
          <a:prstGeom prst="rect">
            <a:avLst/>
          </a:prstGeom>
          <a:solidFill>
            <a:srgbClr val="43A047"/>
          </a:solidFill>
          <a:ln w="12700">
            <a:solidFill>
              <a:srgbClr val="43A047"/>
            </a:solidFill>
            <a:prstDash val="solid"/>
          </a:ln>
        </p:spPr>
      </p:sp>
      <p:sp>
        <p:nvSpPr>
          <p:cNvPr id="21" name="Text 19"/>
          <p:cNvSpPr/>
          <p:nvPr/>
        </p:nvSpPr>
        <p:spPr>
          <a:xfrm>
            <a:off x="411480" y="3227832"/>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22" name="Text 20"/>
          <p:cNvSpPr/>
          <p:nvPr/>
        </p:nvSpPr>
        <p:spPr>
          <a:xfrm>
            <a:off x="777240" y="3227832"/>
            <a:ext cx="3520440" cy="320040"/>
          </a:xfrm>
          <a:prstGeom prst="rect">
            <a:avLst/>
          </a:prstGeom>
          <a:noFill/>
          <a:ln/>
        </p:spPr>
        <p:txBody>
          <a:bodyPr wrap="square" rtlCol="0" anchor="ctr"/>
          <a:lstStyle/>
          <a:p>
            <a:pPr indent="0" marL="0">
              <a:buNone/>
            </a:pPr>
            <a:r>
              <a:rPr lang="en-US" sz="1200" dirty="0">
                <a:solidFill>
                  <a:srgbClr val="FFFFFF"/>
                </a:solidFill>
              </a:rPr>
              <a:t>Bekerja baik jika cluster berbentuk bulat</a:t>
            </a:r>
            <a:endParaRPr lang="en-US" sz="1200" dirty="0"/>
          </a:p>
        </p:txBody>
      </p:sp>
      <p:sp>
        <p:nvSpPr>
          <p:cNvPr id="23" name="Shape 21"/>
          <p:cNvSpPr/>
          <p:nvPr/>
        </p:nvSpPr>
        <p:spPr>
          <a:xfrm>
            <a:off x="411480" y="3703320"/>
            <a:ext cx="274320" cy="274320"/>
          </a:xfrm>
          <a:prstGeom prst="rect">
            <a:avLst/>
          </a:prstGeom>
          <a:solidFill>
            <a:srgbClr val="43A047"/>
          </a:solidFill>
          <a:ln w="12700">
            <a:solidFill>
              <a:srgbClr val="43A047"/>
            </a:solidFill>
            <a:prstDash val="solid"/>
          </a:ln>
        </p:spPr>
      </p:sp>
      <p:sp>
        <p:nvSpPr>
          <p:cNvPr id="24" name="Text 22"/>
          <p:cNvSpPr/>
          <p:nvPr/>
        </p:nvSpPr>
        <p:spPr>
          <a:xfrm>
            <a:off x="411480" y="370332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25" name="Text 23"/>
          <p:cNvSpPr/>
          <p:nvPr/>
        </p:nvSpPr>
        <p:spPr>
          <a:xfrm>
            <a:off x="777240" y="3703320"/>
            <a:ext cx="3520440" cy="320040"/>
          </a:xfrm>
          <a:prstGeom prst="rect">
            <a:avLst/>
          </a:prstGeom>
          <a:noFill/>
          <a:ln/>
        </p:spPr>
        <p:txBody>
          <a:bodyPr wrap="square" rtlCol="0" anchor="ctr"/>
          <a:lstStyle/>
          <a:p>
            <a:pPr indent="0" marL="0">
              <a:buNone/>
            </a:pPr>
            <a:r>
              <a:rPr lang="en-US" sz="1200" dirty="0">
                <a:solidFill>
                  <a:srgbClr val="FFFFFF"/>
                </a:solidFill>
              </a:rPr>
              <a:t>Dapat digunakan untuk berbagai domain</a:t>
            </a:r>
            <a:endParaRPr lang="en-US" sz="1200" dirty="0"/>
          </a:p>
        </p:txBody>
      </p:sp>
      <p:sp>
        <p:nvSpPr>
          <p:cNvPr id="26" name="Shape 24"/>
          <p:cNvSpPr/>
          <p:nvPr/>
        </p:nvSpPr>
        <p:spPr>
          <a:xfrm>
            <a:off x="4754880" y="777240"/>
            <a:ext cx="4206240" cy="4206240"/>
          </a:xfrm>
          <a:prstGeom prst="rect">
            <a:avLst/>
          </a:prstGeom>
          <a:solidFill>
            <a:srgbClr val="162032"/>
          </a:solidFill>
          <a:ln w="19050">
            <a:solidFill>
              <a:srgbClr val="EF5350"/>
            </a:solidFill>
            <a:prstDash val="solid"/>
          </a:ln>
        </p:spPr>
      </p:sp>
      <p:sp>
        <p:nvSpPr>
          <p:cNvPr id="27" name="Shape 25"/>
          <p:cNvSpPr/>
          <p:nvPr/>
        </p:nvSpPr>
        <p:spPr>
          <a:xfrm>
            <a:off x="4754880" y="777240"/>
            <a:ext cx="4206240" cy="457200"/>
          </a:xfrm>
          <a:prstGeom prst="rect">
            <a:avLst/>
          </a:prstGeom>
          <a:solidFill>
            <a:srgbClr val="C62828"/>
          </a:solidFill>
          <a:ln w="12700">
            <a:solidFill>
              <a:srgbClr val="C62828"/>
            </a:solidFill>
            <a:prstDash val="solid"/>
          </a:ln>
        </p:spPr>
      </p:sp>
      <p:sp>
        <p:nvSpPr>
          <p:cNvPr id="28" name="Text 26"/>
          <p:cNvSpPr/>
          <p:nvPr/>
        </p:nvSpPr>
        <p:spPr>
          <a:xfrm>
            <a:off x="4754880" y="777240"/>
            <a:ext cx="4206240" cy="457200"/>
          </a:xfrm>
          <a:prstGeom prst="rect">
            <a:avLst/>
          </a:prstGeom>
          <a:noFill/>
          <a:ln/>
        </p:spPr>
        <p:txBody>
          <a:bodyPr wrap="square" rtlCol="0" anchor="ctr"/>
          <a:lstStyle/>
          <a:p>
            <a:pPr algn="ctr" indent="0" marL="0">
              <a:buNone/>
            </a:pPr>
            <a:r>
              <a:rPr lang="en-US" sz="1500" b="1" dirty="0">
                <a:solidFill>
                  <a:srgbClr val="FFFFFF"/>
                </a:solidFill>
              </a:rPr>
              <a:t>❌  KEKURANGAN</a:t>
            </a:r>
            <a:endParaRPr lang="en-US" sz="1500" dirty="0"/>
          </a:p>
        </p:txBody>
      </p:sp>
      <p:sp>
        <p:nvSpPr>
          <p:cNvPr id="29" name="Shape 27"/>
          <p:cNvSpPr/>
          <p:nvPr/>
        </p:nvSpPr>
        <p:spPr>
          <a:xfrm>
            <a:off x="4892040" y="1325880"/>
            <a:ext cx="274320" cy="274320"/>
          </a:xfrm>
          <a:prstGeom prst="rect">
            <a:avLst/>
          </a:prstGeom>
          <a:solidFill>
            <a:srgbClr val="C62828"/>
          </a:solidFill>
          <a:ln w="12700">
            <a:solidFill>
              <a:srgbClr val="C62828"/>
            </a:solidFill>
            <a:prstDash val="solid"/>
          </a:ln>
        </p:spPr>
      </p:sp>
      <p:sp>
        <p:nvSpPr>
          <p:cNvPr id="30" name="Text 28"/>
          <p:cNvSpPr/>
          <p:nvPr/>
        </p:nvSpPr>
        <p:spPr>
          <a:xfrm>
            <a:off x="4892040" y="132588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31" name="Text 29"/>
          <p:cNvSpPr/>
          <p:nvPr/>
        </p:nvSpPr>
        <p:spPr>
          <a:xfrm>
            <a:off x="5257800" y="1325880"/>
            <a:ext cx="3566160" cy="320040"/>
          </a:xfrm>
          <a:prstGeom prst="rect">
            <a:avLst/>
          </a:prstGeom>
          <a:noFill/>
          <a:ln/>
        </p:spPr>
        <p:txBody>
          <a:bodyPr wrap="square" rtlCol="0" anchor="ctr"/>
          <a:lstStyle/>
          <a:p>
            <a:pPr indent="0" marL="0">
              <a:buNone/>
            </a:pPr>
            <a:r>
              <a:rPr lang="en-US" sz="1200" dirty="0">
                <a:solidFill>
                  <a:srgbClr val="FFFFFF"/>
                </a:solidFill>
              </a:rPr>
              <a:t>Harus menentukan K di awal</a:t>
            </a:r>
            <a:endParaRPr lang="en-US" sz="1200" dirty="0"/>
          </a:p>
        </p:txBody>
      </p:sp>
      <p:sp>
        <p:nvSpPr>
          <p:cNvPr id="32" name="Shape 30"/>
          <p:cNvSpPr/>
          <p:nvPr/>
        </p:nvSpPr>
        <p:spPr>
          <a:xfrm>
            <a:off x="4892040" y="1801368"/>
            <a:ext cx="274320" cy="274320"/>
          </a:xfrm>
          <a:prstGeom prst="rect">
            <a:avLst/>
          </a:prstGeom>
          <a:solidFill>
            <a:srgbClr val="C62828"/>
          </a:solidFill>
          <a:ln w="12700">
            <a:solidFill>
              <a:srgbClr val="C62828"/>
            </a:solidFill>
            <a:prstDash val="solid"/>
          </a:ln>
        </p:spPr>
      </p:sp>
      <p:sp>
        <p:nvSpPr>
          <p:cNvPr id="33" name="Text 31"/>
          <p:cNvSpPr/>
          <p:nvPr/>
        </p:nvSpPr>
        <p:spPr>
          <a:xfrm>
            <a:off x="4892040" y="1801368"/>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34" name="Text 32"/>
          <p:cNvSpPr/>
          <p:nvPr/>
        </p:nvSpPr>
        <p:spPr>
          <a:xfrm>
            <a:off x="5257800" y="1801368"/>
            <a:ext cx="3566160" cy="320040"/>
          </a:xfrm>
          <a:prstGeom prst="rect">
            <a:avLst/>
          </a:prstGeom>
          <a:noFill/>
          <a:ln/>
        </p:spPr>
        <p:txBody>
          <a:bodyPr wrap="square" rtlCol="0" anchor="ctr"/>
          <a:lstStyle/>
          <a:p>
            <a:pPr indent="0" marL="0">
              <a:buNone/>
            </a:pPr>
            <a:r>
              <a:rPr lang="en-US" sz="1200" dirty="0">
                <a:solidFill>
                  <a:srgbClr val="FFFFFF"/>
                </a:solidFill>
              </a:rPr>
              <a:t>Sensitif terhadap inisialisasi centroid</a:t>
            </a:r>
            <a:endParaRPr lang="en-US" sz="1200" dirty="0"/>
          </a:p>
        </p:txBody>
      </p:sp>
      <p:sp>
        <p:nvSpPr>
          <p:cNvPr id="35" name="Shape 33"/>
          <p:cNvSpPr/>
          <p:nvPr/>
        </p:nvSpPr>
        <p:spPr>
          <a:xfrm>
            <a:off x="4892040" y="2276856"/>
            <a:ext cx="274320" cy="274320"/>
          </a:xfrm>
          <a:prstGeom prst="rect">
            <a:avLst/>
          </a:prstGeom>
          <a:solidFill>
            <a:srgbClr val="C62828"/>
          </a:solidFill>
          <a:ln w="12700">
            <a:solidFill>
              <a:srgbClr val="C62828"/>
            </a:solidFill>
            <a:prstDash val="solid"/>
          </a:ln>
        </p:spPr>
      </p:sp>
      <p:sp>
        <p:nvSpPr>
          <p:cNvPr id="36" name="Text 34"/>
          <p:cNvSpPr/>
          <p:nvPr/>
        </p:nvSpPr>
        <p:spPr>
          <a:xfrm>
            <a:off x="4892040" y="2276856"/>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37" name="Text 35"/>
          <p:cNvSpPr/>
          <p:nvPr/>
        </p:nvSpPr>
        <p:spPr>
          <a:xfrm>
            <a:off x="5257800" y="2276856"/>
            <a:ext cx="3566160" cy="320040"/>
          </a:xfrm>
          <a:prstGeom prst="rect">
            <a:avLst/>
          </a:prstGeom>
          <a:noFill/>
          <a:ln/>
        </p:spPr>
        <p:txBody>
          <a:bodyPr wrap="square" rtlCol="0" anchor="ctr"/>
          <a:lstStyle/>
          <a:p>
            <a:pPr indent="0" marL="0">
              <a:buNone/>
            </a:pPr>
            <a:r>
              <a:rPr lang="en-US" sz="1200" dirty="0">
                <a:solidFill>
                  <a:srgbClr val="FFFFFF"/>
                </a:solidFill>
              </a:rPr>
              <a:t>Tidak baik untuk cluster non-spherical</a:t>
            </a:r>
            <a:endParaRPr lang="en-US" sz="1200" dirty="0"/>
          </a:p>
        </p:txBody>
      </p:sp>
      <p:sp>
        <p:nvSpPr>
          <p:cNvPr id="38" name="Shape 36"/>
          <p:cNvSpPr/>
          <p:nvPr/>
        </p:nvSpPr>
        <p:spPr>
          <a:xfrm>
            <a:off x="4892040" y="2752344"/>
            <a:ext cx="274320" cy="274320"/>
          </a:xfrm>
          <a:prstGeom prst="rect">
            <a:avLst/>
          </a:prstGeom>
          <a:solidFill>
            <a:srgbClr val="C62828"/>
          </a:solidFill>
          <a:ln w="12700">
            <a:solidFill>
              <a:srgbClr val="C62828"/>
            </a:solidFill>
            <a:prstDash val="solid"/>
          </a:ln>
        </p:spPr>
      </p:sp>
      <p:sp>
        <p:nvSpPr>
          <p:cNvPr id="39" name="Text 37"/>
          <p:cNvSpPr/>
          <p:nvPr/>
        </p:nvSpPr>
        <p:spPr>
          <a:xfrm>
            <a:off x="4892040" y="2752344"/>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40" name="Text 38"/>
          <p:cNvSpPr/>
          <p:nvPr/>
        </p:nvSpPr>
        <p:spPr>
          <a:xfrm>
            <a:off x="5257800" y="2752344"/>
            <a:ext cx="3566160" cy="320040"/>
          </a:xfrm>
          <a:prstGeom prst="rect">
            <a:avLst/>
          </a:prstGeom>
          <a:noFill/>
          <a:ln/>
        </p:spPr>
        <p:txBody>
          <a:bodyPr wrap="square" rtlCol="0" anchor="ctr"/>
          <a:lstStyle/>
          <a:p>
            <a:pPr indent="0" marL="0">
              <a:buNone/>
            </a:pPr>
            <a:r>
              <a:rPr lang="en-US" sz="1200" dirty="0">
                <a:solidFill>
                  <a:srgbClr val="FFFFFF"/>
                </a:solidFill>
              </a:rPr>
              <a:t>Sensitif terhadap outlier</a:t>
            </a:r>
            <a:endParaRPr lang="en-US" sz="1200" dirty="0"/>
          </a:p>
        </p:txBody>
      </p:sp>
      <p:sp>
        <p:nvSpPr>
          <p:cNvPr id="41" name="Shape 39"/>
          <p:cNvSpPr/>
          <p:nvPr/>
        </p:nvSpPr>
        <p:spPr>
          <a:xfrm>
            <a:off x="4892040" y="3227832"/>
            <a:ext cx="274320" cy="274320"/>
          </a:xfrm>
          <a:prstGeom prst="rect">
            <a:avLst/>
          </a:prstGeom>
          <a:solidFill>
            <a:srgbClr val="C62828"/>
          </a:solidFill>
          <a:ln w="12700">
            <a:solidFill>
              <a:srgbClr val="C62828"/>
            </a:solidFill>
            <a:prstDash val="solid"/>
          </a:ln>
        </p:spPr>
      </p:sp>
      <p:sp>
        <p:nvSpPr>
          <p:cNvPr id="42" name="Text 40"/>
          <p:cNvSpPr/>
          <p:nvPr/>
        </p:nvSpPr>
        <p:spPr>
          <a:xfrm>
            <a:off x="4892040" y="3227832"/>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43" name="Text 41"/>
          <p:cNvSpPr/>
          <p:nvPr/>
        </p:nvSpPr>
        <p:spPr>
          <a:xfrm>
            <a:off x="5257800" y="3227832"/>
            <a:ext cx="3566160" cy="320040"/>
          </a:xfrm>
          <a:prstGeom prst="rect">
            <a:avLst/>
          </a:prstGeom>
          <a:noFill/>
          <a:ln/>
        </p:spPr>
        <p:txBody>
          <a:bodyPr wrap="square" rtlCol="0" anchor="ctr"/>
          <a:lstStyle/>
          <a:p>
            <a:pPr indent="0" marL="0">
              <a:buNone/>
            </a:pPr>
            <a:r>
              <a:rPr lang="en-US" sz="1200" dirty="0">
                <a:solidFill>
                  <a:srgbClr val="FFFFFF"/>
                </a:solidFill>
              </a:rPr>
              <a:t>Tidak bisa menangani data kategorikal</a:t>
            </a:r>
            <a:endParaRPr lang="en-US" sz="1200" dirty="0"/>
          </a:p>
        </p:txBody>
      </p:sp>
      <p:sp>
        <p:nvSpPr>
          <p:cNvPr id="44" name="Shape 42"/>
          <p:cNvSpPr/>
          <p:nvPr/>
        </p:nvSpPr>
        <p:spPr>
          <a:xfrm>
            <a:off x="4892040" y="3703320"/>
            <a:ext cx="274320" cy="274320"/>
          </a:xfrm>
          <a:prstGeom prst="rect">
            <a:avLst/>
          </a:prstGeom>
          <a:solidFill>
            <a:srgbClr val="C62828"/>
          </a:solidFill>
          <a:ln w="12700">
            <a:solidFill>
              <a:srgbClr val="C62828"/>
            </a:solidFill>
            <a:prstDash val="solid"/>
          </a:ln>
        </p:spPr>
      </p:sp>
      <p:sp>
        <p:nvSpPr>
          <p:cNvPr id="45" name="Text 43"/>
          <p:cNvSpPr/>
          <p:nvPr/>
        </p:nvSpPr>
        <p:spPr>
          <a:xfrm>
            <a:off x="4892040" y="370332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46" name="Text 44"/>
          <p:cNvSpPr/>
          <p:nvPr/>
        </p:nvSpPr>
        <p:spPr>
          <a:xfrm>
            <a:off x="5257800" y="3703320"/>
            <a:ext cx="3566160" cy="320040"/>
          </a:xfrm>
          <a:prstGeom prst="rect">
            <a:avLst/>
          </a:prstGeom>
          <a:noFill/>
          <a:ln/>
        </p:spPr>
        <p:txBody>
          <a:bodyPr wrap="square" rtlCol="0" anchor="ctr"/>
          <a:lstStyle/>
          <a:p>
            <a:pPr indent="0" marL="0">
              <a:buNone/>
            </a:pPr>
            <a:r>
              <a:rPr lang="en-US" sz="1200" dirty="0">
                <a:solidFill>
                  <a:srgbClr val="FFFFFF"/>
                </a:solidFill>
              </a:rPr>
              <a:t>Hasil bisa berbeda di setiap run</a:t>
            </a:r>
            <a:endParaRPr lang="en-US" sz="1200" dirty="0"/>
          </a:p>
        </p:txBody>
      </p:sp>
      <p:sp>
        <p:nvSpPr>
          <p:cNvPr id="47" name="Shape 45"/>
          <p:cNvSpPr/>
          <p:nvPr/>
        </p:nvSpPr>
        <p:spPr>
          <a:xfrm>
            <a:off x="0" y="5074920"/>
            <a:ext cx="9144000" cy="73152"/>
          </a:xfrm>
          <a:prstGeom prst="rect">
            <a:avLst/>
          </a:prstGeom>
          <a:solidFill>
            <a:srgbClr val="6A1B9A"/>
          </a:solidFill>
          <a:ln w="12700">
            <a:solidFill>
              <a:srgbClr val="6A1B9A"/>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A1B9A"/>
          </a:solidFill>
          <a:ln w="12700">
            <a:solidFill>
              <a:srgbClr val="6A1B9A"/>
            </a:solidFill>
            <a:prstDash val="solid"/>
          </a:ln>
        </p:spPr>
      </p:sp>
      <p:sp>
        <p:nvSpPr>
          <p:cNvPr id="3" name="Shape 1"/>
          <p:cNvSpPr/>
          <p:nvPr/>
        </p:nvSpPr>
        <p:spPr>
          <a:xfrm>
            <a:off x="0" y="0"/>
            <a:ext cx="9144000" cy="73152"/>
          </a:xfrm>
          <a:prstGeom prst="rect">
            <a:avLst/>
          </a:prstGeom>
          <a:solidFill>
            <a:srgbClr val="6A1B9A"/>
          </a:solidFill>
          <a:ln w="12700">
            <a:solidFill>
              <a:srgbClr val="6A1B9A"/>
            </a:solidFill>
            <a:prstDash val="solid"/>
          </a:ln>
        </p:spPr>
      </p:sp>
      <p:sp>
        <p:nvSpPr>
          <p:cNvPr id="4" name="Text 2"/>
          <p:cNvSpPr/>
          <p:nvPr/>
        </p:nvSpPr>
        <p:spPr>
          <a:xfrm>
            <a:off x="274320" y="137160"/>
            <a:ext cx="8686800" cy="502920"/>
          </a:xfrm>
          <a:prstGeom prst="rect">
            <a:avLst/>
          </a:prstGeom>
          <a:noFill/>
          <a:ln/>
        </p:spPr>
        <p:txBody>
          <a:bodyPr wrap="square" rtlCol="0" anchor="ctr"/>
          <a:lstStyle/>
          <a:p>
            <a:pPr indent="0" marL="0">
              <a:buNone/>
            </a:pPr>
            <a:r>
              <a:rPr lang="en-US" sz="2600" b="1" dirty="0">
                <a:solidFill>
                  <a:srgbClr val="FFFFFF"/>
                </a:solidFill>
              </a:rPr>
              <a:t>⭕  Code Implementation: K-Means</a:t>
            </a:r>
            <a:endParaRPr lang="en-US" sz="2600" dirty="0"/>
          </a:p>
        </p:txBody>
      </p:sp>
      <p:sp>
        <p:nvSpPr>
          <p:cNvPr id="5" name="Shape 3"/>
          <p:cNvSpPr/>
          <p:nvPr/>
        </p:nvSpPr>
        <p:spPr>
          <a:xfrm>
            <a:off x="274320" y="713232"/>
            <a:ext cx="5120640" cy="4251960"/>
          </a:xfrm>
          <a:prstGeom prst="rect">
            <a:avLst/>
          </a:prstGeom>
          <a:solidFill>
            <a:srgbClr val="0A1628"/>
          </a:solidFill>
          <a:ln w="19050">
            <a:solidFill>
              <a:srgbClr val="CE93D8"/>
            </a:solidFill>
            <a:prstDash val="solid"/>
          </a:ln>
        </p:spPr>
      </p:sp>
      <p:sp>
        <p:nvSpPr>
          <p:cNvPr id="6" name="Shape 4"/>
          <p:cNvSpPr/>
          <p:nvPr/>
        </p:nvSpPr>
        <p:spPr>
          <a:xfrm>
            <a:off x="274320" y="713232"/>
            <a:ext cx="5120640" cy="320040"/>
          </a:xfrm>
          <a:prstGeom prst="rect">
            <a:avLst/>
          </a:prstGeom>
          <a:solidFill>
            <a:srgbClr val="1A1A2E"/>
          </a:solidFill>
          <a:ln w="19050">
            <a:solidFill>
              <a:srgbClr val="CE93D8"/>
            </a:solidFill>
            <a:prstDash val="solid"/>
          </a:ln>
        </p:spPr>
      </p:sp>
      <p:sp>
        <p:nvSpPr>
          <p:cNvPr id="7" name="Text 5"/>
          <p:cNvSpPr/>
          <p:nvPr/>
        </p:nvSpPr>
        <p:spPr>
          <a:xfrm>
            <a:off x="274320" y="713232"/>
            <a:ext cx="5120640" cy="320040"/>
          </a:xfrm>
          <a:prstGeom prst="rect">
            <a:avLst/>
          </a:prstGeom>
          <a:noFill/>
          <a:ln/>
        </p:spPr>
        <p:txBody>
          <a:bodyPr wrap="square" rtlCol="0" anchor="ctr"/>
          <a:lstStyle/>
          <a:p>
            <a:pPr algn="ctr" indent="0" marL="0">
              <a:buNone/>
            </a:pPr>
            <a:r>
              <a:rPr lang="en-US" sz="1100" dirty="0">
                <a:solidFill>
                  <a:srgbClr val="CE93D8"/>
                </a:solidFill>
              </a:rPr>
              <a:t>Python — scikit-learn</a:t>
            </a:r>
            <a:endParaRPr lang="en-US" sz="1100" dirty="0"/>
          </a:p>
        </p:txBody>
      </p:sp>
      <p:sp>
        <p:nvSpPr>
          <p:cNvPr id="8" name="Text 6"/>
          <p:cNvSpPr/>
          <p:nvPr/>
        </p:nvSpPr>
        <p:spPr>
          <a:xfrm>
            <a:off x="411480" y="1115568"/>
            <a:ext cx="4892040" cy="3749040"/>
          </a:xfrm>
          <a:prstGeom prst="rect">
            <a:avLst/>
          </a:prstGeom>
          <a:noFill/>
          <a:ln/>
        </p:spPr>
        <p:txBody>
          <a:bodyPr wrap="square" rtlCol="0" anchor="t"/>
          <a:lstStyle/>
          <a:p>
            <a:pPr indent="0" marL="0">
              <a:buNone/>
            </a:pPr>
            <a:r>
              <a:rPr lang="en-US" sz="1100" dirty="0">
                <a:solidFill>
                  <a:srgbClr val="6A9955"/>
                </a:solidFill>
                <a:latin typeface="Consolas" pitchFamily="34" charset="0"/>
                <a:ea typeface="Consolas" pitchFamily="34" charset="-122"/>
                <a:cs typeface="Consolas" pitchFamily="34" charset="-120"/>
              </a:rPr>
              <a:t># 1. Import library
</a:t>
            </a:r>
            <a:pPr indent="0" marL="0">
              <a:buNone/>
            </a:pPr>
            <a:r>
              <a:rPr lang="en-US" sz="1100" dirty="0">
                <a:solidFill>
                  <a:srgbClr val="C586C0"/>
                </a:solidFill>
                <a:latin typeface="Consolas" pitchFamily="34" charset="0"/>
                <a:ea typeface="Consolas" pitchFamily="34" charset="-122"/>
                <a:cs typeface="Consolas" pitchFamily="34" charset="-120"/>
              </a:rPr>
              <a:t>from</a:t>
            </a:r>
            <a:pPr indent="0" marL="0">
              <a:buNone/>
            </a:pPr>
            <a:r>
              <a:rPr lang="en-US" sz="1100" dirty="0">
                <a:solidFill>
                  <a:srgbClr val="FFFFFF"/>
                </a:solidFill>
                <a:latin typeface="Consolas" pitchFamily="34" charset="0"/>
                <a:ea typeface="Consolas" pitchFamily="34" charset="-122"/>
                <a:cs typeface="Consolas" pitchFamily="34" charset="-120"/>
              </a:rPr>
              <a:t> sklearn.cluster </a:t>
            </a:r>
            <a:pPr indent="0" marL="0">
              <a:buNone/>
            </a:pPr>
            <a:r>
              <a:rPr lang="en-US" sz="1100" dirty="0">
                <a:solidFill>
                  <a:srgbClr val="C586C0"/>
                </a:solidFill>
                <a:latin typeface="Consolas" pitchFamily="34" charset="0"/>
                <a:ea typeface="Consolas" pitchFamily="34" charset="-122"/>
                <a:cs typeface="Consolas" pitchFamily="34" charset="-120"/>
              </a:rPr>
              <a:t>import</a:t>
            </a:r>
            <a:pPr indent="0" marL="0">
              <a:buNone/>
            </a:pPr>
            <a:r>
              <a:rPr lang="en-US" sz="1100" dirty="0">
                <a:solidFill>
                  <a:srgbClr val="4EC9B0"/>
                </a:solidFill>
                <a:latin typeface="Consolas" pitchFamily="34" charset="0"/>
                <a:ea typeface="Consolas" pitchFamily="34" charset="-122"/>
                <a:cs typeface="Consolas" pitchFamily="34" charset="-120"/>
              </a:rPr>
              <a:t> KMeans
</a:t>
            </a:r>
            <a:pPr indent="0" marL="0">
              <a:buNone/>
            </a:pPr>
            <a:r>
              <a:rPr lang="en-US" sz="1100" dirty="0">
                <a:solidFill>
                  <a:srgbClr val="C586C0"/>
                </a:solidFill>
                <a:latin typeface="Consolas" pitchFamily="34" charset="0"/>
                <a:ea typeface="Consolas" pitchFamily="34" charset="-122"/>
                <a:cs typeface="Consolas" pitchFamily="34" charset="-120"/>
              </a:rPr>
              <a:t>from</a:t>
            </a:r>
            <a:pPr indent="0" marL="0">
              <a:buNone/>
            </a:pPr>
            <a:r>
              <a:rPr lang="en-US" sz="1100" dirty="0">
                <a:solidFill>
                  <a:srgbClr val="FFFFFF"/>
                </a:solidFill>
                <a:latin typeface="Consolas" pitchFamily="34" charset="0"/>
                <a:ea typeface="Consolas" pitchFamily="34" charset="-122"/>
                <a:cs typeface="Consolas" pitchFamily="34" charset="-120"/>
              </a:rPr>
              <a:t> sklearn.preprocessing </a:t>
            </a:r>
            <a:pPr indent="0" marL="0">
              <a:buNone/>
            </a:pPr>
            <a:r>
              <a:rPr lang="en-US" sz="1100" dirty="0">
                <a:solidFill>
                  <a:srgbClr val="C586C0"/>
                </a:solidFill>
                <a:latin typeface="Consolas" pitchFamily="34" charset="0"/>
                <a:ea typeface="Consolas" pitchFamily="34" charset="-122"/>
                <a:cs typeface="Consolas" pitchFamily="34" charset="-120"/>
              </a:rPr>
              <a:t>import</a:t>
            </a:r>
            <a:pPr indent="0" marL="0">
              <a:buNone/>
            </a:pPr>
            <a:r>
              <a:rPr lang="en-US" sz="1100" dirty="0">
                <a:solidFill>
                  <a:srgbClr val="4EC9B0"/>
                </a:solidFill>
                <a:latin typeface="Consolas" pitchFamily="34" charset="0"/>
                <a:ea typeface="Consolas" pitchFamily="34" charset="-122"/>
                <a:cs typeface="Consolas" pitchFamily="34" charset="-120"/>
              </a:rPr>
              <a:t> StandardScaler
</a:t>
            </a:r>
            <a:pPr indent="0" marL="0">
              <a:buNone/>
            </a:pPr>
            <a:r>
              <a:rPr lang="en-US" sz="1100" dirty="0">
                <a:solidFill>
                  <a:srgbClr val="C586C0"/>
                </a:solidFill>
                <a:latin typeface="Consolas" pitchFamily="34" charset="0"/>
                <a:ea typeface="Consolas" pitchFamily="34" charset="-122"/>
                <a:cs typeface="Consolas" pitchFamily="34" charset="-120"/>
              </a:rPr>
              <a:t>from</a:t>
            </a:r>
            <a:pPr indent="0" marL="0">
              <a:buNone/>
            </a:pPr>
            <a:r>
              <a:rPr lang="en-US" sz="1100" dirty="0">
                <a:solidFill>
                  <a:srgbClr val="FFFFFF"/>
                </a:solidFill>
                <a:latin typeface="Consolas" pitchFamily="34" charset="0"/>
                <a:ea typeface="Consolas" pitchFamily="34" charset="-122"/>
                <a:cs typeface="Consolas" pitchFamily="34" charset="-120"/>
              </a:rPr>
              <a:t> sklearn.datasets </a:t>
            </a:r>
            <a:pPr indent="0" marL="0">
              <a:buNone/>
            </a:pPr>
            <a:r>
              <a:rPr lang="en-US" sz="1100" dirty="0">
                <a:solidFill>
                  <a:srgbClr val="C586C0"/>
                </a:solidFill>
                <a:latin typeface="Consolas" pitchFamily="34" charset="0"/>
                <a:ea typeface="Consolas" pitchFamily="34" charset="-122"/>
                <a:cs typeface="Consolas" pitchFamily="34" charset="-120"/>
              </a:rPr>
              <a:t>import</a:t>
            </a:r>
            <a:pPr indent="0" marL="0">
              <a:buNone/>
            </a:pPr>
            <a:r>
              <a:rPr lang="en-US" sz="1100" dirty="0">
                <a:solidFill>
                  <a:srgbClr val="4EC9B0"/>
                </a:solidFill>
                <a:latin typeface="Consolas" pitchFamily="34" charset="0"/>
                <a:ea typeface="Consolas" pitchFamily="34" charset="-122"/>
                <a:cs typeface="Consolas" pitchFamily="34" charset="-120"/>
              </a:rPr>
              <a:t> make_blobs
</a:t>
            </a:r>
            <a:pPr indent="0" marL="0">
              <a:buNone/>
            </a:pPr>
            <a:r>
              <a:rPr lang="en-US" sz="1100" dirty="0">
                <a:solidFill>
                  <a:srgbClr val="6A9955"/>
                </a:solidFill>
                <a:latin typeface="Consolas" pitchFamily="34" charset="0"/>
                <a:ea typeface="Consolas" pitchFamily="34" charset="-122"/>
                <a:cs typeface="Consolas" pitchFamily="34" charset="-120"/>
              </a:rPr>
              <a:t># 2. Generate / load data
</a:t>
            </a:r>
            <a:pPr indent="0" marL="0">
              <a:buNone/>
            </a:pPr>
            <a:r>
              <a:rPr lang="en-US" sz="1100" dirty="0">
                <a:solidFill>
                  <a:srgbClr val="FFFFFF"/>
                </a:solidFill>
                <a:latin typeface="Consolas" pitchFamily="34" charset="0"/>
                <a:ea typeface="Consolas" pitchFamily="34" charset="-122"/>
                <a:cs typeface="Consolas" pitchFamily="34" charset="-120"/>
              </a:rPr>
              <a:t>X, _ = make_blobs(n_samples=</a:t>
            </a:r>
            <a:pPr indent="0" marL="0">
              <a:buNone/>
            </a:pPr>
            <a:r>
              <a:rPr lang="en-US" sz="1100" dirty="0">
                <a:solidFill>
                  <a:srgbClr val="B5CEA8"/>
                </a:solidFill>
                <a:latin typeface="Consolas" pitchFamily="34" charset="0"/>
                <a:ea typeface="Consolas" pitchFamily="34" charset="-122"/>
                <a:cs typeface="Consolas" pitchFamily="34" charset="-120"/>
              </a:rPr>
              <a:t>300</a:t>
            </a:r>
            <a:pPr indent="0" marL="0">
              <a:buNone/>
            </a:pPr>
            <a:r>
              <a:rPr lang="en-US" sz="1100" dirty="0">
                <a:solidFill>
                  <a:srgbClr val="FFFFFF"/>
                </a:solidFill>
                <a:latin typeface="Consolas" pitchFamily="34" charset="0"/>
                <a:ea typeface="Consolas" pitchFamily="34" charset="-122"/>
                <a:cs typeface="Consolas" pitchFamily="34" charset="-120"/>
              </a:rPr>
              <a:t>, centers=</a:t>
            </a:r>
            <a:pPr indent="0" marL="0">
              <a:buNone/>
            </a:pPr>
            <a:r>
              <a:rPr lang="en-US" sz="1100" dirty="0">
                <a:solidFill>
                  <a:srgbClr val="B5CEA8"/>
                </a:solidFill>
                <a:latin typeface="Consolas" pitchFamily="34" charset="0"/>
                <a:ea typeface="Consolas" pitchFamily="34" charset="-122"/>
                <a:cs typeface="Consolas" pitchFamily="34" charset="-120"/>
              </a:rPr>
              <a:t>3</a:t>
            </a:r>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random_state=</a:t>
            </a:r>
            <a:endParaRPr lang="en-US" sz="1100" dirty="0"/>
          </a:p>
          <a:p>
            <a:pPr indent="0" marL="0">
              <a:buNone/>
            </a:pPr>
            <a:r>
              <a:rPr lang="en-US" sz="1100" dirty="0">
                <a:solidFill>
                  <a:srgbClr val="B5CEA8"/>
                </a:solidFill>
                <a:latin typeface="Consolas" pitchFamily="34" charset="0"/>
                <a:ea typeface="Consolas" pitchFamily="34" charset="-122"/>
                <a:cs typeface="Consolas" pitchFamily="34" charset="-120"/>
              </a:rPr>
              <a:t>42</a:t>
            </a:r>
            <a:pPr indent="0" marL="0">
              <a:buNone/>
            </a:pPr>
            <a:r>
              <a:rPr lang="en-US" sz="1100" dirty="0">
                <a:solidFill>
                  <a:srgbClr val="FFFFFF"/>
                </a:solidFill>
                <a:latin typeface="Consolas" pitchFamily="34" charset="0"/>
                <a:ea typeface="Consolas" pitchFamily="34" charset="-122"/>
                <a:cs typeface="Consolas" pitchFamily="34" charset="-120"/>
              </a:rPr>
              <a:t>)
</a:t>
            </a:r>
            <a:pPr indent="0" marL="0">
              <a:buNone/>
            </a:pPr>
            <a:r>
              <a:rPr lang="en-US" sz="1100" dirty="0">
                <a:solidFill>
                  <a:srgbClr val="6A9955"/>
                </a:solidFill>
                <a:latin typeface="Consolas" pitchFamily="34" charset="0"/>
                <a:ea typeface="Consolas" pitchFamily="34" charset="-122"/>
                <a:cs typeface="Consolas" pitchFamily="34" charset="-120"/>
              </a:rPr>
              <a:t># 3. Normalisasi data (penting!)
</a:t>
            </a:r>
            <a:pPr indent="0" marL="0">
              <a:buNone/>
            </a:pPr>
            <a:r>
              <a:rPr lang="en-US" sz="1100" dirty="0">
                <a:solidFill>
                  <a:srgbClr val="FFFFFF"/>
                </a:solidFill>
                <a:latin typeface="Consolas" pitchFamily="34" charset="0"/>
                <a:ea typeface="Consolas" pitchFamily="34" charset="-122"/>
                <a:cs typeface="Consolas" pitchFamily="34" charset="-120"/>
              </a:rPr>
              <a:t>scaler = StandardScaler()
</a:t>
            </a:r>
            <a:pPr indent="0" marL="0">
              <a:buNone/>
            </a:pPr>
            <a:r>
              <a:rPr lang="en-US" sz="1100" dirty="0">
                <a:solidFill>
                  <a:srgbClr val="FFFFFF"/>
                </a:solidFill>
                <a:latin typeface="Consolas" pitchFamily="34" charset="0"/>
                <a:ea typeface="Consolas" pitchFamily="34" charset="-122"/>
                <a:cs typeface="Consolas" pitchFamily="34" charset="-120"/>
              </a:rPr>
              <a:t>X_scaled = scaler.fit_transform(X)
</a:t>
            </a:r>
            <a:pPr indent="0" marL="0">
              <a:buNone/>
            </a:pPr>
            <a:r>
              <a:rPr lang="en-US" sz="1100" dirty="0">
                <a:solidFill>
                  <a:srgbClr val="6A9955"/>
                </a:solidFill>
                <a:latin typeface="Consolas" pitchFamily="34" charset="0"/>
                <a:ea typeface="Consolas" pitchFamily="34" charset="-122"/>
                <a:cs typeface="Consolas" pitchFamily="34" charset="-120"/>
              </a:rPr>
              <a:t># 4. Buat dan latih model
</a:t>
            </a:r>
            <a:pPr indent="0" marL="0">
              <a:buNone/>
            </a:pPr>
            <a:r>
              <a:rPr lang="en-US" sz="1100" dirty="0">
                <a:solidFill>
                  <a:srgbClr val="FFFFFF"/>
                </a:solidFill>
                <a:latin typeface="Consolas" pitchFamily="34" charset="0"/>
                <a:ea typeface="Consolas" pitchFamily="34" charset="-122"/>
                <a:cs typeface="Consolas" pitchFamily="34" charset="-120"/>
              </a:rPr>
              <a:t>model = </a:t>
            </a:r>
            <a:pPr indent="0" marL="0">
              <a:buNone/>
            </a:pPr>
            <a:r>
              <a:rPr lang="en-US" sz="1100" dirty="0">
                <a:solidFill>
                  <a:srgbClr val="4EC9B0"/>
                </a:solidFill>
                <a:latin typeface="Consolas" pitchFamily="34" charset="0"/>
                <a:ea typeface="Consolas" pitchFamily="34" charset="-122"/>
                <a:cs typeface="Consolas" pitchFamily="34" charset="-120"/>
              </a:rPr>
              <a:t>KMeans</a:t>
            </a:r>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n_clusters=</a:t>
            </a:r>
            <a:endParaRPr lang="en-US" sz="1100" dirty="0"/>
          </a:p>
          <a:p>
            <a:pPr indent="0" marL="0">
              <a:buNone/>
            </a:pPr>
            <a:r>
              <a:rPr lang="en-US" sz="1100" dirty="0">
                <a:solidFill>
                  <a:srgbClr val="B5CEA8"/>
                </a:solidFill>
                <a:latin typeface="Consolas" pitchFamily="34" charset="0"/>
                <a:ea typeface="Consolas" pitchFamily="34" charset="-122"/>
                <a:cs typeface="Consolas" pitchFamily="34" charset="-120"/>
              </a:rPr>
              <a:t>3</a:t>
            </a:r>
            <a:pPr indent="0" marL="0">
              <a:buNone/>
            </a:pPr>
            <a:r>
              <a:rPr lang="en-US" sz="1100" dirty="0">
                <a:solidFill>
                  <a:srgbClr val="FFFFFF"/>
                </a:solidFill>
                <a:latin typeface="Consolas" pitchFamily="34" charset="0"/>
                <a:ea typeface="Consolas" pitchFamily="34" charset="-122"/>
                <a:cs typeface="Consolas" pitchFamily="34" charset="-120"/>
              </a:rPr>
              <a:t>,     </a:t>
            </a:r>
            <a:pPr indent="0" marL="0">
              <a:buNone/>
            </a:pPr>
            <a:r>
              <a:rPr lang="en-US" sz="1100" dirty="0">
                <a:solidFill>
                  <a:srgbClr val="6A9955"/>
                </a:solidFill>
                <a:latin typeface="Consolas" pitchFamily="34" charset="0"/>
                <a:ea typeface="Consolas" pitchFamily="34" charset="-122"/>
                <a:cs typeface="Consolas" pitchFamily="34" charset="-120"/>
              </a:rPr>
              <a:t># nilai K
</a:t>
            </a:r>
            <a:pPr indent="0" marL="0">
              <a:buNone/>
            </a:pPr>
            <a:r>
              <a:rPr lang="en-US" sz="1100" dirty="0">
                <a:solidFill>
                  <a:srgbClr val="FFFFFF"/>
                </a:solidFill>
                <a:latin typeface="Consolas" pitchFamily="34" charset="0"/>
                <a:ea typeface="Consolas" pitchFamily="34" charset="-122"/>
                <a:cs typeface="Consolas" pitchFamily="34" charset="-120"/>
              </a:rPr>
              <a:t>    n_init=</a:t>
            </a:r>
            <a:pPr indent="0" marL="0">
              <a:buNone/>
            </a:pPr>
            <a:r>
              <a:rPr lang="en-US" sz="1100" dirty="0">
                <a:solidFill>
                  <a:srgbClr val="B5CEA8"/>
                </a:solidFill>
                <a:latin typeface="Consolas" pitchFamily="34" charset="0"/>
                <a:ea typeface="Consolas" pitchFamily="34" charset="-122"/>
                <a:cs typeface="Consolas" pitchFamily="34" charset="-120"/>
              </a:rPr>
              <a:t>10</a:t>
            </a:r>
            <a:pPr indent="0" marL="0">
              <a:buNone/>
            </a:pPr>
            <a:r>
              <a:rPr lang="en-US" sz="1100" dirty="0">
                <a:solidFill>
                  <a:srgbClr val="FFFFFF"/>
                </a:solidFill>
                <a:latin typeface="Consolas" pitchFamily="34" charset="0"/>
                <a:ea typeface="Consolas" pitchFamily="34" charset="-122"/>
                <a:cs typeface="Consolas" pitchFamily="34" charset="-120"/>
              </a:rPr>
              <a:t>,     </a:t>
            </a:r>
            <a:pPr indent="0" marL="0">
              <a:buNone/>
            </a:pPr>
            <a:r>
              <a:rPr lang="en-US" sz="1100" dirty="0">
                <a:solidFill>
                  <a:srgbClr val="6A9955"/>
                </a:solidFill>
                <a:latin typeface="Consolas" pitchFamily="34" charset="0"/>
                <a:ea typeface="Consolas" pitchFamily="34" charset="-122"/>
                <a:cs typeface="Consolas" pitchFamily="34" charset="-120"/>
              </a:rPr>
              <a:t># jumlah inisialisasi
</a:t>
            </a:r>
            <a:pPr indent="0" marL="0">
              <a:buNone/>
            </a:pPr>
            <a:r>
              <a:rPr lang="en-US" sz="1100" dirty="0">
                <a:solidFill>
                  <a:srgbClr val="FFFFFF"/>
                </a:solidFill>
                <a:latin typeface="Consolas" pitchFamily="34" charset="0"/>
                <a:ea typeface="Consolas" pitchFamily="34" charset="-122"/>
                <a:cs typeface="Consolas" pitchFamily="34" charset="-120"/>
              </a:rPr>
              <a:t>    random_state=</a:t>
            </a:r>
            <a:pPr indent="0" marL="0">
              <a:buNone/>
            </a:pPr>
            <a:r>
              <a:rPr lang="en-US" sz="1100" dirty="0">
                <a:solidFill>
                  <a:srgbClr val="B5CEA8"/>
                </a:solidFill>
                <a:latin typeface="Consolas" pitchFamily="34" charset="0"/>
                <a:ea typeface="Consolas" pitchFamily="34" charset="-122"/>
                <a:cs typeface="Consolas" pitchFamily="34" charset="-120"/>
              </a:rPr>
              <a:t>42
</a:t>
            </a:r>
            <a:pPr indent="0" marL="0">
              <a:buNone/>
            </a:pPr>
            <a:r>
              <a:rPr lang="en-US" sz="1100" dirty="0">
                <a:solidFill>
                  <a:srgbClr val="FFFFFF"/>
                </a:solidFill>
                <a:latin typeface="Consolas" pitchFamily="34" charset="0"/>
                <a:ea typeface="Consolas" pitchFamily="34" charset="-122"/>
                <a:cs typeface="Consolas" pitchFamily="34" charset="-120"/>
              </a:rPr>
              <a:t>)
model.fit(X_scaled)
</a:t>
            </a:r>
            <a:pPr indent="0" marL="0">
              <a:buNone/>
            </a:pPr>
            <a:r>
              <a:rPr lang="en-US" sz="1100" dirty="0">
                <a:solidFill>
                  <a:srgbClr val="6A9955"/>
                </a:solidFill>
                <a:latin typeface="Consolas" pitchFamily="34" charset="0"/>
                <a:ea typeface="Consolas" pitchFamily="34" charset="-122"/>
                <a:cs typeface="Consolas" pitchFamily="34" charset="-120"/>
              </a:rPr>
              <a:t># 5. Hasil clustering
</a:t>
            </a:r>
            <a:pPr indent="0" marL="0">
              <a:buNone/>
            </a:pPr>
            <a:r>
              <a:rPr lang="en-US" sz="1100" dirty="0">
                <a:solidFill>
                  <a:srgbClr val="FFFFFF"/>
                </a:solidFill>
                <a:latin typeface="Consolas" pitchFamily="34" charset="0"/>
                <a:ea typeface="Consolas" pitchFamily="34" charset="-122"/>
                <a:cs typeface="Consolas" pitchFamily="34" charset="-120"/>
              </a:rPr>
              <a:t>labels = model.labels_
</a:t>
            </a:r>
            <a:pPr indent="0" marL="0">
              <a:buNone/>
            </a:pPr>
            <a:r>
              <a:rPr lang="en-US" sz="1100" dirty="0">
                <a:solidFill>
                  <a:srgbClr val="FFFFFF"/>
                </a:solidFill>
                <a:latin typeface="Consolas" pitchFamily="34" charset="0"/>
                <a:ea typeface="Consolas" pitchFamily="34" charset="-122"/>
                <a:cs typeface="Consolas" pitchFamily="34" charset="-120"/>
              </a:rPr>
              <a:t>centers = model.cluster_centers_
</a:t>
            </a:r>
            <a:pPr indent="0" marL="0">
              <a:buNone/>
            </a:pPr>
            <a:r>
              <a:rPr lang="en-US" sz="1100" dirty="0">
                <a:solidFill>
                  <a:srgbClr val="FFFFFF"/>
                </a:solidFill>
                <a:latin typeface="Consolas" pitchFamily="34" charset="0"/>
                <a:ea typeface="Consolas" pitchFamily="34" charset="-122"/>
                <a:cs typeface="Consolas" pitchFamily="34" charset="-120"/>
              </a:rPr>
              <a:t>inertia = model.inertia_
</a:t>
            </a:r>
            <a:pPr indent="0" marL="0">
              <a:buNone/>
            </a:pPr>
            <a:r>
              <a:rPr lang="en-US" sz="1100" dirty="0">
                <a:solidFill>
                  <a:srgbClr val="DCDCAA"/>
                </a:solidFill>
                <a:latin typeface="Consolas" pitchFamily="34" charset="0"/>
                <a:ea typeface="Consolas" pitchFamily="34" charset="-122"/>
                <a:cs typeface="Consolas" pitchFamily="34" charset="-120"/>
              </a:rPr>
              <a:t>print</a:t>
            </a:r>
            <a:pPr indent="0" marL="0">
              <a:buNone/>
            </a:pPr>
            <a:r>
              <a:rPr lang="en-US" sz="1100" dirty="0">
                <a:solidFill>
                  <a:srgbClr val="FFFFFF"/>
                </a:solidFill>
                <a:latin typeface="Consolas" pitchFamily="34" charset="0"/>
                <a:ea typeface="Consolas" pitchFamily="34" charset="-122"/>
                <a:cs typeface="Consolas" pitchFamily="34" charset="-120"/>
              </a:rPr>
              <a:t>(</a:t>
            </a:r>
            <a:pPr indent="0" marL="0">
              <a:buNone/>
            </a:pPr>
            <a:r>
              <a:rPr lang="en-US" sz="1100" dirty="0">
                <a:solidFill>
                  <a:srgbClr val="CE9178"/>
                </a:solidFill>
                <a:latin typeface="Consolas" pitchFamily="34" charset="0"/>
                <a:ea typeface="Consolas" pitchFamily="34" charset="-122"/>
                <a:cs typeface="Consolas" pitchFamily="34" charset="-120"/>
              </a:rPr>
              <a:t>f"Inertia: {inertia:.2f}"</a:t>
            </a:r>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9" name="Shape 7"/>
          <p:cNvSpPr/>
          <p:nvPr/>
        </p:nvSpPr>
        <p:spPr>
          <a:xfrm>
            <a:off x="5577840" y="914400"/>
            <a:ext cx="3383280" cy="594360"/>
          </a:xfrm>
          <a:prstGeom prst="rect">
            <a:avLst/>
          </a:prstGeom>
          <a:solidFill>
            <a:srgbClr val="162032"/>
          </a:solidFill>
          <a:ln w="12700">
            <a:solidFill>
              <a:srgbClr val="CE93D8"/>
            </a:solidFill>
            <a:prstDash val="solid"/>
          </a:ln>
        </p:spPr>
      </p:sp>
      <p:sp>
        <p:nvSpPr>
          <p:cNvPr id="10" name="Shape 8"/>
          <p:cNvSpPr/>
          <p:nvPr/>
        </p:nvSpPr>
        <p:spPr>
          <a:xfrm>
            <a:off x="5577840" y="914400"/>
            <a:ext cx="64008" cy="594360"/>
          </a:xfrm>
          <a:prstGeom prst="rect">
            <a:avLst/>
          </a:prstGeom>
          <a:solidFill>
            <a:srgbClr val="CE93D8"/>
          </a:solidFill>
          <a:ln w="12700">
            <a:solidFill>
              <a:srgbClr val="CE93D8"/>
            </a:solidFill>
            <a:prstDash val="solid"/>
          </a:ln>
        </p:spPr>
      </p:sp>
      <p:sp>
        <p:nvSpPr>
          <p:cNvPr id="11" name="Text 9"/>
          <p:cNvSpPr/>
          <p:nvPr/>
        </p:nvSpPr>
        <p:spPr>
          <a:xfrm>
            <a:off x="5715000" y="932688"/>
            <a:ext cx="3200400" cy="256032"/>
          </a:xfrm>
          <a:prstGeom prst="rect">
            <a:avLst/>
          </a:prstGeom>
          <a:noFill/>
          <a:ln/>
        </p:spPr>
        <p:txBody>
          <a:bodyPr wrap="square" rtlCol="0" anchor="ctr"/>
          <a:lstStyle/>
          <a:p>
            <a:pPr indent="0" marL="0">
              <a:buNone/>
            </a:pPr>
            <a:r>
              <a:rPr lang="en-US" sz="1200" b="1" dirty="0">
                <a:solidFill>
                  <a:srgbClr val="CE93D8"/>
                </a:solidFill>
              </a:rPr>
              <a:t>📦 Import</a:t>
            </a:r>
            <a:endParaRPr lang="en-US" sz="1200" dirty="0"/>
          </a:p>
        </p:txBody>
      </p:sp>
      <p:sp>
        <p:nvSpPr>
          <p:cNvPr id="12" name="Text 10"/>
          <p:cNvSpPr/>
          <p:nvPr/>
        </p:nvSpPr>
        <p:spPr>
          <a:xfrm>
            <a:off x="5715000" y="1188720"/>
            <a:ext cx="3200400" cy="256032"/>
          </a:xfrm>
          <a:prstGeom prst="rect">
            <a:avLst/>
          </a:prstGeom>
          <a:noFill/>
          <a:ln/>
        </p:spPr>
        <p:txBody>
          <a:bodyPr wrap="square" rtlCol="0" anchor="ctr"/>
          <a:lstStyle/>
          <a:p>
            <a:pPr indent="0" marL="0">
              <a:buNone/>
            </a:pPr>
            <a:r>
              <a:rPr lang="en-US" sz="1100" dirty="0">
                <a:solidFill>
                  <a:srgbClr val="AAAAAA"/>
                </a:solidFill>
              </a:rPr>
              <a:t>1. sklearn cluster &amp; preprocessing</a:t>
            </a:r>
            <a:endParaRPr lang="en-US" sz="1100" dirty="0"/>
          </a:p>
        </p:txBody>
      </p:sp>
      <p:sp>
        <p:nvSpPr>
          <p:cNvPr id="13" name="Shape 11"/>
          <p:cNvSpPr/>
          <p:nvPr/>
        </p:nvSpPr>
        <p:spPr>
          <a:xfrm>
            <a:off x="5577840" y="1627632"/>
            <a:ext cx="3383280" cy="594360"/>
          </a:xfrm>
          <a:prstGeom prst="rect">
            <a:avLst/>
          </a:prstGeom>
          <a:solidFill>
            <a:srgbClr val="162032"/>
          </a:solidFill>
          <a:ln w="12700">
            <a:solidFill>
              <a:srgbClr val="FFD700"/>
            </a:solidFill>
            <a:prstDash val="solid"/>
          </a:ln>
        </p:spPr>
      </p:sp>
      <p:sp>
        <p:nvSpPr>
          <p:cNvPr id="14" name="Shape 12"/>
          <p:cNvSpPr/>
          <p:nvPr/>
        </p:nvSpPr>
        <p:spPr>
          <a:xfrm>
            <a:off x="5577840" y="1627632"/>
            <a:ext cx="64008" cy="594360"/>
          </a:xfrm>
          <a:prstGeom prst="rect">
            <a:avLst/>
          </a:prstGeom>
          <a:solidFill>
            <a:srgbClr val="FFD700"/>
          </a:solidFill>
          <a:ln w="12700">
            <a:solidFill>
              <a:srgbClr val="FFD700"/>
            </a:solidFill>
            <a:prstDash val="solid"/>
          </a:ln>
        </p:spPr>
      </p:sp>
      <p:sp>
        <p:nvSpPr>
          <p:cNvPr id="15" name="Text 13"/>
          <p:cNvSpPr/>
          <p:nvPr/>
        </p:nvSpPr>
        <p:spPr>
          <a:xfrm>
            <a:off x="5715000" y="1645920"/>
            <a:ext cx="3200400" cy="256032"/>
          </a:xfrm>
          <a:prstGeom prst="rect">
            <a:avLst/>
          </a:prstGeom>
          <a:noFill/>
          <a:ln/>
        </p:spPr>
        <p:txBody>
          <a:bodyPr wrap="square" rtlCol="0" anchor="ctr"/>
          <a:lstStyle/>
          <a:p>
            <a:pPr indent="0" marL="0">
              <a:buNone/>
            </a:pPr>
            <a:r>
              <a:rPr lang="en-US" sz="1200" b="1" dirty="0">
                <a:solidFill>
                  <a:srgbClr val="FFD700"/>
                </a:solidFill>
              </a:rPr>
              <a:t>📊 Data</a:t>
            </a:r>
            <a:endParaRPr lang="en-US" sz="1200" dirty="0"/>
          </a:p>
        </p:txBody>
      </p:sp>
      <p:sp>
        <p:nvSpPr>
          <p:cNvPr id="16" name="Text 14"/>
          <p:cNvSpPr/>
          <p:nvPr/>
        </p:nvSpPr>
        <p:spPr>
          <a:xfrm>
            <a:off x="5715000" y="1901952"/>
            <a:ext cx="3200400" cy="256032"/>
          </a:xfrm>
          <a:prstGeom prst="rect">
            <a:avLst/>
          </a:prstGeom>
          <a:noFill/>
          <a:ln/>
        </p:spPr>
        <p:txBody>
          <a:bodyPr wrap="square" rtlCol="0" anchor="ctr"/>
          <a:lstStyle/>
          <a:p>
            <a:pPr indent="0" marL="0">
              <a:buNone/>
            </a:pPr>
            <a:r>
              <a:rPr lang="en-US" sz="1100" dirty="0">
                <a:solidFill>
                  <a:srgbClr val="AAAAAA"/>
                </a:solidFill>
              </a:rPr>
              <a:t>2. Data tanpa label (unsupervised!)</a:t>
            </a:r>
            <a:endParaRPr lang="en-US" sz="1100" dirty="0"/>
          </a:p>
        </p:txBody>
      </p:sp>
      <p:sp>
        <p:nvSpPr>
          <p:cNvPr id="17" name="Shape 15"/>
          <p:cNvSpPr/>
          <p:nvPr/>
        </p:nvSpPr>
        <p:spPr>
          <a:xfrm>
            <a:off x="5577840" y="2340864"/>
            <a:ext cx="3383280" cy="594360"/>
          </a:xfrm>
          <a:prstGeom prst="rect">
            <a:avLst/>
          </a:prstGeom>
          <a:solidFill>
            <a:srgbClr val="162032"/>
          </a:solidFill>
          <a:ln w="12700">
            <a:solidFill>
              <a:srgbClr val="64FFDA"/>
            </a:solidFill>
            <a:prstDash val="solid"/>
          </a:ln>
        </p:spPr>
      </p:sp>
      <p:sp>
        <p:nvSpPr>
          <p:cNvPr id="18" name="Shape 16"/>
          <p:cNvSpPr/>
          <p:nvPr/>
        </p:nvSpPr>
        <p:spPr>
          <a:xfrm>
            <a:off x="5577840" y="2340864"/>
            <a:ext cx="64008" cy="594360"/>
          </a:xfrm>
          <a:prstGeom prst="rect">
            <a:avLst/>
          </a:prstGeom>
          <a:solidFill>
            <a:srgbClr val="64FFDA"/>
          </a:solidFill>
          <a:ln w="12700">
            <a:solidFill>
              <a:srgbClr val="64FFDA"/>
            </a:solidFill>
            <a:prstDash val="solid"/>
          </a:ln>
        </p:spPr>
      </p:sp>
      <p:sp>
        <p:nvSpPr>
          <p:cNvPr id="19" name="Text 17"/>
          <p:cNvSpPr/>
          <p:nvPr/>
        </p:nvSpPr>
        <p:spPr>
          <a:xfrm>
            <a:off x="5715000" y="2359152"/>
            <a:ext cx="3200400" cy="256032"/>
          </a:xfrm>
          <a:prstGeom prst="rect">
            <a:avLst/>
          </a:prstGeom>
          <a:noFill/>
          <a:ln/>
        </p:spPr>
        <p:txBody>
          <a:bodyPr wrap="square" rtlCol="0" anchor="ctr"/>
          <a:lstStyle/>
          <a:p>
            <a:pPr indent="0" marL="0">
              <a:buNone/>
            </a:pPr>
            <a:r>
              <a:rPr lang="en-US" sz="1200" b="1" dirty="0">
                <a:solidFill>
                  <a:srgbClr val="64FFDA"/>
                </a:solidFill>
              </a:rPr>
              <a:t>⚖️ Scaler</a:t>
            </a:r>
            <a:endParaRPr lang="en-US" sz="1200" dirty="0"/>
          </a:p>
        </p:txBody>
      </p:sp>
      <p:sp>
        <p:nvSpPr>
          <p:cNvPr id="20" name="Text 18"/>
          <p:cNvSpPr/>
          <p:nvPr/>
        </p:nvSpPr>
        <p:spPr>
          <a:xfrm>
            <a:off x="5715000" y="2615184"/>
            <a:ext cx="3200400" cy="256032"/>
          </a:xfrm>
          <a:prstGeom prst="rect">
            <a:avLst/>
          </a:prstGeom>
          <a:noFill/>
          <a:ln/>
        </p:spPr>
        <p:txBody>
          <a:bodyPr wrap="square" rtlCol="0" anchor="ctr"/>
          <a:lstStyle/>
          <a:p>
            <a:pPr indent="0" marL="0">
              <a:buNone/>
            </a:pPr>
            <a:r>
              <a:rPr lang="en-US" sz="1100" dirty="0">
                <a:solidFill>
                  <a:srgbClr val="AAAAAA"/>
                </a:solidFill>
              </a:rPr>
              <a:t>3. Normalisasi agar fair antar fitur</a:t>
            </a:r>
            <a:endParaRPr lang="en-US" sz="1100" dirty="0"/>
          </a:p>
        </p:txBody>
      </p:sp>
      <p:sp>
        <p:nvSpPr>
          <p:cNvPr id="21" name="Shape 19"/>
          <p:cNvSpPr/>
          <p:nvPr/>
        </p:nvSpPr>
        <p:spPr>
          <a:xfrm>
            <a:off x="5577840" y="3054096"/>
            <a:ext cx="3383280" cy="594360"/>
          </a:xfrm>
          <a:prstGeom prst="rect">
            <a:avLst/>
          </a:prstGeom>
          <a:solidFill>
            <a:srgbClr val="162032"/>
          </a:solidFill>
          <a:ln w="12700">
            <a:solidFill>
              <a:srgbClr val="FF9800"/>
            </a:solidFill>
            <a:prstDash val="solid"/>
          </a:ln>
        </p:spPr>
      </p:sp>
      <p:sp>
        <p:nvSpPr>
          <p:cNvPr id="22" name="Shape 20"/>
          <p:cNvSpPr/>
          <p:nvPr/>
        </p:nvSpPr>
        <p:spPr>
          <a:xfrm>
            <a:off x="5577840" y="3054096"/>
            <a:ext cx="64008" cy="594360"/>
          </a:xfrm>
          <a:prstGeom prst="rect">
            <a:avLst/>
          </a:prstGeom>
          <a:solidFill>
            <a:srgbClr val="FF9800"/>
          </a:solidFill>
          <a:ln w="12700">
            <a:solidFill>
              <a:srgbClr val="FF9800"/>
            </a:solidFill>
            <a:prstDash val="solid"/>
          </a:ln>
        </p:spPr>
      </p:sp>
      <p:sp>
        <p:nvSpPr>
          <p:cNvPr id="23" name="Text 21"/>
          <p:cNvSpPr/>
          <p:nvPr/>
        </p:nvSpPr>
        <p:spPr>
          <a:xfrm>
            <a:off x="5715000" y="3072384"/>
            <a:ext cx="3200400" cy="256032"/>
          </a:xfrm>
          <a:prstGeom prst="rect">
            <a:avLst/>
          </a:prstGeom>
          <a:noFill/>
          <a:ln/>
        </p:spPr>
        <p:txBody>
          <a:bodyPr wrap="square" rtlCol="0" anchor="ctr"/>
          <a:lstStyle/>
          <a:p>
            <a:pPr indent="0" marL="0">
              <a:buNone/>
            </a:pPr>
            <a:r>
              <a:rPr lang="en-US" sz="1200" b="1" dirty="0">
                <a:solidFill>
                  <a:srgbClr val="FF9800"/>
                </a:solidFill>
              </a:rPr>
              <a:t>🏋️ Train</a:t>
            </a:r>
            <a:endParaRPr lang="en-US" sz="1200" dirty="0"/>
          </a:p>
        </p:txBody>
      </p:sp>
      <p:sp>
        <p:nvSpPr>
          <p:cNvPr id="24" name="Text 22"/>
          <p:cNvSpPr/>
          <p:nvPr/>
        </p:nvSpPr>
        <p:spPr>
          <a:xfrm>
            <a:off x="5715000" y="3328416"/>
            <a:ext cx="3200400" cy="256032"/>
          </a:xfrm>
          <a:prstGeom prst="rect">
            <a:avLst/>
          </a:prstGeom>
          <a:noFill/>
          <a:ln/>
        </p:spPr>
        <p:txBody>
          <a:bodyPr wrap="square" rtlCol="0" anchor="ctr"/>
          <a:lstStyle/>
          <a:p>
            <a:pPr indent="0" marL="0">
              <a:buNone/>
            </a:pPr>
            <a:r>
              <a:rPr lang="en-US" sz="1100" dirty="0">
                <a:solidFill>
                  <a:srgbClr val="AAAAAA"/>
                </a:solidFill>
              </a:rPr>
              <a:t>4. Fit: cari centroid optimal</a:t>
            </a:r>
            <a:endParaRPr lang="en-US" sz="1100" dirty="0"/>
          </a:p>
        </p:txBody>
      </p:sp>
      <p:sp>
        <p:nvSpPr>
          <p:cNvPr id="25" name="Shape 23"/>
          <p:cNvSpPr/>
          <p:nvPr/>
        </p:nvSpPr>
        <p:spPr>
          <a:xfrm>
            <a:off x="5577840" y="3767328"/>
            <a:ext cx="3383280" cy="594360"/>
          </a:xfrm>
          <a:prstGeom prst="rect">
            <a:avLst/>
          </a:prstGeom>
          <a:solidFill>
            <a:srgbClr val="162032"/>
          </a:solidFill>
          <a:ln w="12700">
            <a:solidFill>
              <a:srgbClr val="4FC3F7"/>
            </a:solidFill>
            <a:prstDash val="solid"/>
          </a:ln>
        </p:spPr>
      </p:sp>
      <p:sp>
        <p:nvSpPr>
          <p:cNvPr id="26" name="Shape 24"/>
          <p:cNvSpPr/>
          <p:nvPr/>
        </p:nvSpPr>
        <p:spPr>
          <a:xfrm>
            <a:off x="5577840" y="3767328"/>
            <a:ext cx="64008" cy="594360"/>
          </a:xfrm>
          <a:prstGeom prst="rect">
            <a:avLst/>
          </a:prstGeom>
          <a:solidFill>
            <a:srgbClr val="4FC3F7"/>
          </a:solidFill>
          <a:ln w="12700">
            <a:solidFill>
              <a:srgbClr val="4FC3F7"/>
            </a:solidFill>
            <a:prstDash val="solid"/>
          </a:ln>
        </p:spPr>
      </p:sp>
      <p:sp>
        <p:nvSpPr>
          <p:cNvPr id="27" name="Text 25"/>
          <p:cNvSpPr/>
          <p:nvPr/>
        </p:nvSpPr>
        <p:spPr>
          <a:xfrm>
            <a:off x="5715000" y="3785616"/>
            <a:ext cx="3200400" cy="256032"/>
          </a:xfrm>
          <a:prstGeom prst="rect">
            <a:avLst/>
          </a:prstGeom>
          <a:noFill/>
          <a:ln/>
        </p:spPr>
        <p:txBody>
          <a:bodyPr wrap="square" rtlCol="0" anchor="ctr"/>
          <a:lstStyle/>
          <a:p>
            <a:pPr indent="0" marL="0">
              <a:buNone/>
            </a:pPr>
            <a:r>
              <a:rPr lang="en-US" sz="1200" b="1" dirty="0">
                <a:solidFill>
                  <a:srgbClr val="4FC3F7"/>
                </a:solidFill>
              </a:rPr>
              <a:t>📈 Output</a:t>
            </a:r>
            <a:endParaRPr lang="en-US" sz="1200" dirty="0"/>
          </a:p>
        </p:txBody>
      </p:sp>
      <p:sp>
        <p:nvSpPr>
          <p:cNvPr id="28" name="Text 26"/>
          <p:cNvSpPr/>
          <p:nvPr/>
        </p:nvSpPr>
        <p:spPr>
          <a:xfrm>
            <a:off x="5715000" y="4041648"/>
            <a:ext cx="3200400" cy="256032"/>
          </a:xfrm>
          <a:prstGeom prst="rect">
            <a:avLst/>
          </a:prstGeom>
          <a:noFill/>
          <a:ln/>
        </p:spPr>
        <p:txBody>
          <a:bodyPr wrap="square" rtlCol="0" anchor="ctr"/>
          <a:lstStyle/>
          <a:p>
            <a:pPr indent="0" marL="0">
              <a:buNone/>
            </a:pPr>
            <a:r>
              <a:rPr lang="en-US" sz="1100" dirty="0">
                <a:solidFill>
                  <a:srgbClr val="AAAAAA"/>
                </a:solidFill>
              </a:rPr>
              <a:t>5. Label cluster &amp; posisi centroid</a:t>
            </a:r>
            <a:endParaRPr lang="en-US" sz="1100" dirty="0"/>
          </a:p>
        </p:txBody>
      </p:sp>
      <p:sp>
        <p:nvSpPr>
          <p:cNvPr id="29" name="Shape 27"/>
          <p:cNvSpPr/>
          <p:nvPr/>
        </p:nvSpPr>
        <p:spPr>
          <a:xfrm>
            <a:off x="0" y="5074920"/>
            <a:ext cx="9144000" cy="73152"/>
          </a:xfrm>
          <a:prstGeom prst="rect">
            <a:avLst/>
          </a:prstGeom>
          <a:solidFill>
            <a:srgbClr val="6A1B9A"/>
          </a:solidFill>
          <a:ln w="12700">
            <a:solidFill>
              <a:srgbClr val="6A1B9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A1B9A"/>
          </a:solidFill>
          <a:ln w="12700">
            <a:solidFill>
              <a:srgbClr val="6A1B9A"/>
            </a:solidFill>
            <a:prstDash val="solid"/>
          </a:ln>
        </p:spPr>
      </p:sp>
      <p:sp>
        <p:nvSpPr>
          <p:cNvPr id="3" name="Shape 1"/>
          <p:cNvSpPr/>
          <p:nvPr/>
        </p:nvSpPr>
        <p:spPr>
          <a:xfrm>
            <a:off x="0" y="0"/>
            <a:ext cx="9144000" cy="73152"/>
          </a:xfrm>
          <a:prstGeom prst="rect">
            <a:avLst/>
          </a:prstGeom>
          <a:solidFill>
            <a:srgbClr val="6A1B9A"/>
          </a:solidFill>
          <a:ln w="12700">
            <a:solidFill>
              <a:srgbClr val="6A1B9A"/>
            </a:solidFill>
            <a:prstDash val="solid"/>
          </a:ln>
        </p:spPr>
      </p:sp>
      <p:sp>
        <p:nvSpPr>
          <p:cNvPr id="4" name="Text 2"/>
          <p:cNvSpPr/>
          <p:nvPr/>
        </p:nvSpPr>
        <p:spPr>
          <a:xfrm>
            <a:off x="274320" y="137160"/>
            <a:ext cx="8686800" cy="502920"/>
          </a:xfrm>
          <a:prstGeom prst="rect">
            <a:avLst/>
          </a:prstGeom>
          <a:noFill/>
          <a:ln/>
        </p:spPr>
        <p:txBody>
          <a:bodyPr wrap="square" rtlCol="0" anchor="ctr"/>
          <a:lstStyle/>
          <a:p>
            <a:pPr indent="0" marL="0">
              <a:buNone/>
            </a:pPr>
            <a:r>
              <a:rPr lang="en-US" sz="2600" b="1" dirty="0">
                <a:solidFill>
                  <a:srgbClr val="FFFFFF"/>
                </a:solidFill>
              </a:rPr>
              <a:t>⭕  Visualisasi Proses K-Means</a:t>
            </a:r>
            <a:endParaRPr lang="en-US" sz="2600" dirty="0"/>
          </a:p>
        </p:txBody>
      </p:sp>
      <p:pic>
        <p:nvPicPr>
          <p:cNvPr id="5" name="Image 0" descr="preencoded.png">    </p:cNvPr>
          <p:cNvPicPr>
            <a:picLocks noChangeAspect="1"/>
          </p:cNvPicPr>
          <p:nvPr/>
        </p:nvPicPr>
        <p:blipFill>
          <a:blip r:embed="rId1"/>
          <a:stretch>
            <a:fillRect/>
          </a:stretch>
        </p:blipFill>
        <p:spPr>
          <a:xfrm>
            <a:off x="274320" y="749808"/>
            <a:ext cx="8595360" cy="2651760"/>
          </a:xfrm>
          <a:prstGeom prst="rect">
            <a:avLst/>
          </a:prstGeom>
        </p:spPr>
      </p:pic>
      <p:sp>
        <p:nvSpPr>
          <p:cNvPr id="6" name="Text 3"/>
          <p:cNvSpPr/>
          <p:nvPr/>
        </p:nvSpPr>
        <p:spPr>
          <a:xfrm>
            <a:off x="274320" y="3493008"/>
            <a:ext cx="8595360" cy="292608"/>
          </a:xfrm>
          <a:prstGeom prst="rect">
            <a:avLst/>
          </a:prstGeom>
          <a:noFill/>
          <a:ln/>
        </p:spPr>
        <p:txBody>
          <a:bodyPr wrap="square" rtlCol="0" anchor="ctr"/>
          <a:lstStyle/>
          <a:p>
            <a:pPr algn="ctr" indent="0" marL="0">
              <a:buNone/>
            </a:pPr>
            <a:r>
              <a:rPr lang="en-US" sz="1300" b="1" dirty="0">
                <a:solidFill>
                  <a:srgbClr val="CE93D8"/>
                </a:solidFill>
              </a:rPr>
              <a:t>Elbow Method — Menentukan Nilai K Optimal</a:t>
            </a:r>
            <a:endParaRPr lang="en-US" sz="1300" dirty="0"/>
          </a:p>
        </p:txBody>
      </p:sp>
      <p:pic>
        <p:nvPicPr>
          <p:cNvPr id="7" name="Image 1" descr="preencoded.png">    </p:cNvPr>
          <p:cNvPicPr>
            <a:picLocks noChangeAspect="1"/>
          </p:cNvPicPr>
          <p:nvPr/>
        </p:nvPicPr>
        <p:blipFill>
          <a:blip r:embed="rId2"/>
          <a:stretch>
            <a:fillRect/>
          </a:stretch>
        </p:blipFill>
        <p:spPr>
          <a:xfrm>
            <a:off x="914400" y="3767328"/>
            <a:ext cx="7315200" cy="1188720"/>
          </a:xfrm>
          <a:prstGeom prst="rect">
            <a:avLst/>
          </a:prstGeom>
        </p:spPr>
      </p:pic>
      <p:sp>
        <p:nvSpPr>
          <p:cNvPr id="8" name="Shape 4"/>
          <p:cNvSpPr/>
          <p:nvPr/>
        </p:nvSpPr>
        <p:spPr>
          <a:xfrm>
            <a:off x="0" y="5074920"/>
            <a:ext cx="9144000" cy="73152"/>
          </a:xfrm>
          <a:prstGeom prst="rect">
            <a:avLst/>
          </a:prstGeom>
          <a:solidFill>
            <a:srgbClr val="6A1B9A"/>
          </a:solidFill>
          <a:ln w="12700">
            <a:solidFill>
              <a:srgbClr val="6A1B9A"/>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4FFDA"/>
          </a:solidFill>
          <a:ln w="12700">
            <a:solidFill>
              <a:srgbClr val="64FFDA"/>
            </a:solidFill>
            <a:prstDash val="solid"/>
          </a:ln>
        </p:spPr>
      </p:sp>
      <p:sp>
        <p:nvSpPr>
          <p:cNvPr id="3" name="Text 1"/>
          <p:cNvSpPr/>
          <p:nvPr/>
        </p:nvSpPr>
        <p:spPr>
          <a:xfrm>
            <a:off x="274320" y="137160"/>
            <a:ext cx="8686800" cy="548640"/>
          </a:xfrm>
          <a:prstGeom prst="rect">
            <a:avLst/>
          </a:prstGeom>
          <a:noFill/>
          <a:ln/>
        </p:spPr>
        <p:txBody>
          <a:bodyPr wrap="square" rtlCol="0" anchor="ctr"/>
          <a:lstStyle/>
          <a:p>
            <a:pPr indent="0" marL="0">
              <a:buNone/>
            </a:pPr>
            <a:r>
              <a:rPr lang="en-US" sz="2600" b="1" dirty="0">
                <a:solidFill>
                  <a:srgbClr val="FFFFFF"/>
                </a:solidFill>
              </a:rPr>
              <a:t>Perbandingan: Decision Tree vs K-Means</a:t>
            </a:r>
            <a:endParaRPr lang="en-US" sz="2600" dirty="0"/>
          </a:p>
        </p:txBody>
      </p:sp>
      <p:sp>
        <p:nvSpPr>
          <p:cNvPr id="4" name="Shape 2"/>
          <p:cNvSpPr/>
          <p:nvPr/>
        </p:nvSpPr>
        <p:spPr>
          <a:xfrm>
            <a:off x="274320" y="777240"/>
            <a:ext cx="2834640" cy="411480"/>
          </a:xfrm>
          <a:prstGeom prst="rect">
            <a:avLst/>
          </a:prstGeom>
          <a:solidFill>
            <a:srgbClr val="444444"/>
          </a:solidFill>
          <a:ln w="12700">
            <a:solidFill>
              <a:srgbClr val="64FFDA"/>
            </a:solidFill>
            <a:prstDash val="solid"/>
          </a:ln>
        </p:spPr>
      </p:sp>
      <p:sp>
        <p:nvSpPr>
          <p:cNvPr id="5" name="Text 3"/>
          <p:cNvSpPr/>
          <p:nvPr/>
        </p:nvSpPr>
        <p:spPr>
          <a:xfrm>
            <a:off x="274320" y="777240"/>
            <a:ext cx="2834640" cy="411480"/>
          </a:xfrm>
          <a:prstGeom prst="rect">
            <a:avLst/>
          </a:prstGeom>
          <a:noFill/>
          <a:ln/>
        </p:spPr>
        <p:txBody>
          <a:bodyPr wrap="square" rtlCol="0" anchor="ctr"/>
          <a:lstStyle/>
          <a:p>
            <a:pPr algn="ctr" indent="0" marL="0">
              <a:buNone/>
            </a:pPr>
            <a:r>
              <a:rPr lang="en-US" sz="1300" b="1" dirty="0">
                <a:solidFill>
                  <a:srgbClr val="FFFFFF"/>
                </a:solidFill>
              </a:rPr>
              <a:t>Aspek</a:t>
            </a:r>
            <a:endParaRPr lang="en-US" sz="1300" dirty="0"/>
          </a:p>
        </p:txBody>
      </p:sp>
      <p:sp>
        <p:nvSpPr>
          <p:cNvPr id="6" name="Shape 4"/>
          <p:cNvSpPr/>
          <p:nvPr/>
        </p:nvSpPr>
        <p:spPr>
          <a:xfrm>
            <a:off x="3154680" y="777240"/>
            <a:ext cx="2834640" cy="411480"/>
          </a:xfrm>
          <a:prstGeom prst="rect">
            <a:avLst/>
          </a:prstGeom>
          <a:solidFill>
            <a:srgbClr val="1565C0"/>
          </a:solidFill>
          <a:ln w="12700">
            <a:solidFill>
              <a:srgbClr val="64FFDA"/>
            </a:solidFill>
            <a:prstDash val="solid"/>
          </a:ln>
        </p:spPr>
      </p:sp>
      <p:sp>
        <p:nvSpPr>
          <p:cNvPr id="7" name="Text 5"/>
          <p:cNvSpPr/>
          <p:nvPr/>
        </p:nvSpPr>
        <p:spPr>
          <a:xfrm>
            <a:off x="3154680" y="777240"/>
            <a:ext cx="2834640" cy="411480"/>
          </a:xfrm>
          <a:prstGeom prst="rect">
            <a:avLst/>
          </a:prstGeom>
          <a:noFill/>
          <a:ln/>
        </p:spPr>
        <p:txBody>
          <a:bodyPr wrap="square" rtlCol="0" anchor="ctr"/>
          <a:lstStyle/>
          <a:p>
            <a:pPr algn="ctr" indent="0" marL="0">
              <a:buNone/>
            </a:pPr>
            <a:r>
              <a:rPr lang="en-US" sz="1300" b="1" dirty="0">
                <a:solidFill>
                  <a:srgbClr val="FFFFFF"/>
                </a:solidFill>
              </a:rPr>
              <a:t>Decision Tree</a:t>
            </a:r>
            <a:endParaRPr lang="en-US" sz="1300" dirty="0"/>
          </a:p>
        </p:txBody>
      </p:sp>
      <p:sp>
        <p:nvSpPr>
          <p:cNvPr id="8" name="Shape 6"/>
          <p:cNvSpPr/>
          <p:nvPr/>
        </p:nvSpPr>
        <p:spPr>
          <a:xfrm>
            <a:off x="6035040" y="777240"/>
            <a:ext cx="2834640" cy="411480"/>
          </a:xfrm>
          <a:prstGeom prst="rect">
            <a:avLst/>
          </a:prstGeom>
          <a:solidFill>
            <a:srgbClr val="6A1B9A"/>
          </a:solidFill>
          <a:ln w="12700">
            <a:solidFill>
              <a:srgbClr val="64FFDA"/>
            </a:solidFill>
            <a:prstDash val="solid"/>
          </a:ln>
        </p:spPr>
      </p:sp>
      <p:sp>
        <p:nvSpPr>
          <p:cNvPr id="9" name="Text 7"/>
          <p:cNvSpPr/>
          <p:nvPr/>
        </p:nvSpPr>
        <p:spPr>
          <a:xfrm>
            <a:off x="6035040" y="777240"/>
            <a:ext cx="2834640" cy="411480"/>
          </a:xfrm>
          <a:prstGeom prst="rect">
            <a:avLst/>
          </a:prstGeom>
          <a:noFill/>
          <a:ln/>
        </p:spPr>
        <p:txBody>
          <a:bodyPr wrap="square" rtlCol="0" anchor="ctr"/>
          <a:lstStyle/>
          <a:p>
            <a:pPr algn="ctr" indent="0" marL="0">
              <a:buNone/>
            </a:pPr>
            <a:r>
              <a:rPr lang="en-US" sz="1300" b="1" dirty="0">
                <a:solidFill>
                  <a:srgbClr val="FFFFFF"/>
                </a:solidFill>
              </a:rPr>
              <a:t>K-Means</a:t>
            </a:r>
            <a:endParaRPr lang="en-US" sz="1300" dirty="0"/>
          </a:p>
        </p:txBody>
      </p:sp>
      <p:sp>
        <p:nvSpPr>
          <p:cNvPr id="10" name="Shape 8"/>
          <p:cNvSpPr/>
          <p:nvPr/>
        </p:nvSpPr>
        <p:spPr>
          <a:xfrm>
            <a:off x="274320" y="1188720"/>
            <a:ext cx="2834640" cy="402336"/>
          </a:xfrm>
          <a:prstGeom prst="rect">
            <a:avLst/>
          </a:prstGeom>
          <a:solidFill>
            <a:srgbClr val="162032"/>
          </a:solidFill>
          <a:ln w="12700">
            <a:solidFill>
              <a:srgbClr val="333333"/>
            </a:solidFill>
            <a:prstDash val="solid"/>
          </a:ln>
        </p:spPr>
      </p:sp>
      <p:sp>
        <p:nvSpPr>
          <p:cNvPr id="11" name="Text 9"/>
          <p:cNvSpPr/>
          <p:nvPr/>
        </p:nvSpPr>
        <p:spPr>
          <a:xfrm>
            <a:off x="365760" y="1188720"/>
            <a:ext cx="2651760" cy="402336"/>
          </a:xfrm>
          <a:prstGeom prst="rect">
            <a:avLst/>
          </a:prstGeom>
          <a:noFill/>
          <a:ln/>
        </p:spPr>
        <p:txBody>
          <a:bodyPr wrap="square" rtlCol="0" anchor="ctr"/>
          <a:lstStyle/>
          <a:p>
            <a:pPr indent="0" marL="0">
              <a:buNone/>
            </a:pPr>
            <a:r>
              <a:rPr lang="en-US" sz="1150" dirty="0">
                <a:solidFill>
                  <a:srgbClr val="FFFFFF"/>
                </a:solidFill>
              </a:rPr>
              <a:t>Jenis</a:t>
            </a:r>
            <a:endParaRPr lang="en-US" sz="1150" dirty="0"/>
          </a:p>
        </p:txBody>
      </p:sp>
      <p:sp>
        <p:nvSpPr>
          <p:cNvPr id="12" name="Shape 10"/>
          <p:cNvSpPr/>
          <p:nvPr/>
        </p:nvSpPr>
        <p:spPr>
          <a:xfrm>
            <a:off x="3154680" y="1188720"/>
            <a:ext cx="2834640" cy="402336"/>
          </a:xfrm>
          <a:prstGeom prst="rect">
            <a:avLst/>
          </a:prstGeom>
          <a:solidFill>
            <a:srgbClr val="162032"/>
          </a:solidFill>
          <a:ln w="12700">
            <a:solidFill>
              <a:srgbClr val="333333"/>
            </a:solidFill>
            <a:prstDash val="solid"/>
          </a:ln>
        </p:spPr>
      </p:sp>
      <p:sp>
        <p:nvSpPr>
          <p:cNvPr id="13" name="Text 11"/>
          <p:cNvSpPr/>
          <p:nvPr/>
        </p:nvSpPr>
        <p:spPr>
          <a:xfrm>
            <a:off x="3246120" y="1188720"/>
            <a:ext cx="2651760" cy="402336"/>
          </a:xfrm>
          <a:prstGeom prst="rect">
            <a:avLst/>
          </a:prstGeom>
          <a:noFill/>
          <a:ln/>
        </p:spPr>
        <p:txBody>
          <a:bodyPr wrap="square" rtlCol="0" anchor="ctr"/>
          <a:lstStyle/>
          <a:p>
            <a:pPr indent="0" marL="0">
              <a:buNone/>
            </a:pPr>
            <a:r>
              <a:rPr lang="en-US" sz="1150" dirty="0">
                <a:solidFill>
                  <a:srgbClr val="4FC3F7"/>
                </a:solidFill>
              </a:rPr>
              <a:t>Supervised</a:t>
            </a:r>
            <a:endParaRPr lang="en-US" sz="1150" dirty="0"/>
          </a:p>
        </p:txBody>
      </p:sp>
      <p:sp>
        <p:nvSpPr>
          <p:cNvPr id="14" name="Shape 12"/>
          <p:cNvSpPr/>
          <p:nvPr/>
        </p:nvSpPr>
        <p:spPr>
          <a:xfrm>
            <a:off x="6035040" y="1188720"/>
            <a:ext cx="2834640" cy="402336"/>
          </a:xfrm>
          <a:prstGeom prst="rect">
            <a:avLst/>
          </a:prstGeom>
          <a:solidFill>
            <a:srgbClr val="162032"/>
          </a:solidFill>
          <a:ln w="12700">
            <a:solidFill>
              <a:srgbClr val="333333"/>
            </a:solidFill>
            <a:prstDash val="solid"/>
          </a:ln>
        </p:spPr>
      </p:sp>
      <p:sp>
        <p:nvSpPr>
          <p:cNvPr id="15" name="Text 13"/>
          <p:cNvSpPr/>
          <p:nvPr/>
        </p:nvSpPr>
        <p:spPr>
          <a:xfrm>
            <a:off x="6126480" y="1188720"/>
            <a:ext cx="2651760" cy="402336"/>
          </a:xfrm>
          <a:prstGeom prst="rect">
            <a:avLst/>
          </a:prstGeom>
          <a:noFill/>
          <a:ln/>
        </p:spPr>
        <p:txBody>
          <a:bodyPr wrap="square" rtlCol="0" anchor="ctr"/>
          <a:lstStyle/>
          <a:p>
            <a:pPr indent="0" marL="0">
              <a:buNone/>
            </a:pPr>
            <a:r>
              <a:rPr lang="en-US" sz="1150" dirty="0">
                <a:solidFill>
                  <a:srgbClr val="CE93D8"/>
                </a:solidFill>
              </a:rPr>
              <a:t>Unsupervised</a:t>
            </a:r>
            <a:endParaRPr lang="en-US" sz="1150" dirty="0"/>
          </a:p>
        </p:txBody>
      </p:sp>
      <p:sp>
        <p:nvSpPr>
          <p:cNvPr id="16" name="Shape 14"/>
          <p:cNvSpPr/>
          <p:nvPr/>
        </p:nvSpPr>
        <p:spPr>
          <a:xfrm>
            <a:off x="274320" y="1609344"/>
            <a:ext cx="2834640" cy="402336"/>
          </a:xfrm>
          <a:prstGeom prst="rect">
            <a:avLst/>
          </a:prstGeom>
          <a:solidFill>
            <a:srgbClr val="1A2535"/>
          </a:solidFill>
          <a:ln w="12700">
            <a:solidFill>
              <a:srgbClr val="333333"/>
            </a:solidFill>
            <a:prstDash val="solid"/>
          </a:ln>
        </p:spPr>
      </p:sp>
      <p:sp>
        <p:nvSpPr>
          <p:cNvPr id="17" name="Text 15"/>
          <p:cNvSpPr/>
          <p:nvPr/>
        </p:nvSpPr>
        <p:spPr>
          <a:xfrm>
            <a:off x="365760" y="1609344"/>
            <a:ext cx="2651760" cy="402336"/>
          </a:xfrm>
          <a:prstGeom prst="rect">
            <a:avLst/>
          </a:prstGeom>
          <a:noFill/>
          <a:ln/>
        </p:spPr>
        <p:txBody>
          <a:bodyPr wrap="square" rtlCol="0" anchor="ctr"/>
          <a:lstStyle/>
          <a:p>
            <a:pPr indent="0" marL="0">
              <a:buNone/>
            </a:pPr>
            <a:r>
              <a:rPr lang="en-US" sz="1150" dirty="0">
                <a:solidFill>
                  <a:srgbClr val="FFFFFF"/>
                </a:solidFill>
              </a:rPr>
              <a:t>Input Label</a:t>
            </a:r>
            <a:endParaRPr lang="en-US" sz="1150" dirty="0"/>
          </a:p>
        </p:txBody>
      </p:sp>
      <p:sp>
        <p:nvSpPr>
          <p:cNvPr id="18" name="Shape 16"/>
          <p:cNvSpPr/>
          <p:nvPr/>
        </p:nvSpPr>
        <p:spPr>
          <a:xfrm>
            <a:off x="3154680" y="1609344"/>
            <a:ext cx="2834640" cy="402336"/>
          </a:xfrm>
          <a:prstGeom prst="rect">
            <a:avLst/>
          </a:prstGeom>
          <a:solidFill>
            <a:srgbClr val="1A2535"/>
          </a:solidFill>
          <a:ln w="12700">
            <a:solidFill>
              <a:srgbClr val="333333"/>
            </a:solidFill>
            <a:prstDash val="solid"/>
          </a:ln>
        </p:spPr>
      </p:sp>
      <p:sp>
        <p:nvSpPr>
          <p:cNvPr id="19" name="Text 17"/>
          <p:cNvSpPr/>
          <p:nvPr/>
        </p:nvSpPr>
        <p:spPr>
          <a:xfrm>
            <a:off x="3246120" y="1609344"/>
            <a:ext cx="2651760" cy="402336"/>
          </a:xfrm>
          <a:prstGeom prst="rect">
            <a:avLst/>
          </a:prstGeom>
          <a:noFill/>
          <a:ln/>
        </p:spPr>
        <p:txBody>
          <a:bodyPr wrap="square" rtlCol="0" anchor="ctr"/>
          <a:lstStyle/>
          <a:p>
            <a:pPr indent="0" marL="0">
              <a:buNone/>
            </a:pPr>
            <a:r>
              <a:rPr lang="en-US" sz="1150" dirty="0">
                <a:solidFill>
                  <a:srgbClr val="4FC3F7"/>
                </a:solidFill>
              </a:rPr>
              <a:t>Ya (diperlukan)</a:t>
            </a:r>
            <a:endParaRPr lang="en-US" sz="1150" dirty="0"/>
          </a:p>
        </p:txBody>
      </p:sp>
      <p:sp>
        <p:nvSpPr>
          <p:cNvPr id="20" name="Shape 18"/>
          <p:cNvSpPr/>
          <p:nvPr/>
        </p:nvSpPr>
        <p:spPr>
          <a:xfrm>
            <a:off x="6035040" y="1609344"/>
            <a:ext cx="2834640" cy="402336"/>
          </a:xfrm>
          <a:prstGeom prst="rect">
            <a:avLst/>
          </a:prstGeom>
          <a:solidFill>
            <a:srgbClr val="1A2535"/>
          </a:solidFill>
          <a:ln w="12700">
            <a:solidFill>
              <a:srgbClr val="333333"/>
            </a:solidFill>
            <a:prstDash val="solid"/>
          </a:ln>
        </p:spPr>
      </p:sp>
      <p:sp>
        <p:nvSpPr>
          <p:cNvPr id="21" name="Text 19"/>
          <p:cNvSpPr/>
          <p:nvPr/>
        </p:nvSpPr>
        <p:spPr>
          <a:xfrm>
            <a:off x="6126480" y="1609344"/>
            <a:ext cx="2651760" cy="402336"/>
          </a:xfrm>
          <a:prstGeom prst="rect">
            <a:avLst/>
          </a:prstGeom>
          <a:noFill/>
          <a:ln/>
        </p:spPr>
        <p:txBody>
          <a:bodyPr wrap="square" rtlCol="0" anchor="ctr"/>
          <a:lstStyle/>
          <a:p>
            <a:pPr indent="0" marL="0">
              <a:buNone/>
            </a:pPr>
            <a:r>
              <a:rPr lang="en-US" sz="1150" dirty="0">
                <a:solidFill>
                  <a:srgbClr val="CE93D8"/>
                </a:solidFill>
              </a:rPr>
              <a:t>Tidak (tidak ada)</a:t>
            </a:r>
            <a:endParaRPr lang="en-US" sz="1150" dirty="0"/>
          </a:p>
        </p:txBody>
      </p:sp>
      <p:sp>
        <p:nvSpPr>
          <p:cNvPr id="22" name="Shape 20"/>
          <p:cNvSpPr/>
          <p:nvPr/>
        </p:nvSpPr>
        <p:spPr>
          <a:xfrm>
            <a:off x="274320" y="2029968"/>
            <a:ext cx="2834640" cy="402336"/>
          </a:xfrm>
          <a:prstGeom prst="rect">
            <a:avLst/>
          </a:prstGeom>
          <a:solidFill>
            <a:srgbClr val="162032"/>
          </a:solidFill>
          <a:ln w="12700">
            <a:solidFill>
              <a:srgbClr val="333333"/>
            </a:solidFill>
            <a:prstDash val="solid"/>
          </a:ln>
        </p:spPr>
      </p:sp>
      <p:sp>
        <p:nvSpPr>
          <p:cNvPr id="23" name="Text 21"/>
          <p:cNvSpPr/>
          <p:nvPr/>
        </p:nvSpPr>
        <p:spPr>
          <a:xfrm>
            <a:off x="365760" y="2029968"/>
            <a:ext cx="2651760" cy="402336"/>
          </a:xfrm>
          <a:prstGeom prst="rect">
            <a:avLst/>
          </a:prstGeom>
          <a:noFill/>
          <a:ln/>
        </p:spPr>
        <p:txBody>
          <a:bodyPr wrap="square" rtlCol="0" anchor="ctr"/>
          <a:lstStyle/>
          <a:p>
            <a:pPr indent="0" marL="0">
              <a:buNone/>
            </a:pPr>
            <a:r>
              <a:rPr lang="en-US" sz="1150" dirty="0">
                <a:solidFill>
                  <a:srgbClr val="FFFFFF"/>
                </a:solidFill>
              </a:rPr>
              <a:t>Output</a:t>
            </a:r>
            <a:endParaRPr lang="en-US" sz="1150" dirty="0"/>
          </a:p>
        </p:txBody>
      </p:sp>
      <p:sp>
        <p:nvSpPr>
          <p:cNvPr id="24" name="Shape 22"/>
          <p:cNvSpPr/>
          <p:nvPr/>
        </p:nvSpPr>
        <p:spPr>
          <a:xfrm>
            <a:off x="3154680" y="2029968"/>
            <a:ext cx="2834640" cy="402336"/>
          </a:xfrm>
          <a:prstGeom prst="rect">
            <a:avLst/>
          </a:prstGeom>
          <a:solidFill>
            <a:srgbClr val="162032"/>
          </a:solidFill>
          <a:ln w="12700">
            <a:solidFill>
              <a:srgbClr val="333333"/>
            </a:solidFill>
            <a:prstDash val="solid"/>
          </a:ln>
        </p:spPr>
      </p:sp>
      <p:sp>
        <p:nvSpPr>
          <p:cNvPr id="25" name="Text 23"/>
          <p:cNvSpPr/>
          <p:nvPr/>
        </p:nvSpPr>
        <p:spPr>
          <a:xfrm>
            <a:off x="3246120" y="2029968"/>
            <a:ext cx="2651760" cy="402336"/>
          </a:xfrm>
          <a:prstGeom prst="rect">
            <a:avLst/>
          </a:prstGeom>
          <a:noFill/>
          <a:ln/>
        </p:spPr>
        <p:txBody>
          <a:bodyPr wrap="square" rtlCol="0" anchor="ctr"/>
          <a:lstStyle/>
          <a:p>
            <a:pPr indent="0" marL="0">
              <a:buNone/>
            </a:pPr>
            <a:r>
              <a:rPr lang="en-US" sz="1150" dirty="0">
                <a:solidFill>
                  <a:srgbClr val="4FC3F7"/>
                </a:solidFill>
              </a:rPr>
              <a:t>Prediksi kelas</a:t>
            </a:r>
            <a:endParaRPr lang="en-US" sz="1150" dirty="0"/>
          </a:p>
        </p:txBody>
      </p:sp>
      <p:sp>
        <p:nvSpPr>
          <p:cNvPr id="26" name="Shape 24"/>
          <p:cNvSpPr/>
          <p:nvPr/>
        </p:nvSpPr>
        <p:spPr>
          <a:xfrm>
            <a:off x="6035040" y="2029968"/>
            <a:ext cx="2834640" cy="402336"/>
          </a:xfrm>
          <a:prstGeom prst="rect">
            <a:avLst/>
          </a:prstGeom>
          <a:solidFill>
            <a:srgbClr val="162032"/>
          </a:solidFill>
          <a:ln w="12700">
            <a:solidFill>
              <a:srgbClr val="333333"/>
            </a:solidFill>
            <a:prstDash val="solid"/>
          </a:ln>
        </p:spPr>
      </p:sp>
      <p:sp>
        <p:nvSpPr>
          <p:cNvPr id="27" name="Text 25"/>
          <p:cNvSpPr/>
          <p:nvPr/>
        </p:nvSpPr>
        <p:spPr>
          <a:xfrm>
            <a:off x="6126480" y="2029968"/>
            <a:ext cx="2651760" cy="402336"/>
          </a:xfrm>
          <a:prstGeom prst="rect">
            <a:avLst/>
          </a:prstGeom>
          <a:noFill/>
          <a:ln/>
        </p:spPr>
        <p:txBody>
          <a:bodyPr wrap="square" rtlCol="0" anchor="ctr"/>
          <a:lstStyle/>
          <a:p>
            <a:pPr indent="0" marL="0">
              <a:buNone/>
            </a:pPr>
            <a:r>
              <a:rPr lang="en-US" sz="1150" dirty="0">
                <a:solidFill>
                  <a:srgbClr val="CE93D8"/>
                </a:solidFill>
              </a:rPr>
              <a:t>Nomor cluster</a:t>
            </a:r>
            <a:endParaRPr lang="en-US" sz="1150" dirty="0"/>
          </a:p>
        </p:txBody>
      </p:sp>
      <p:sp>
        <p:nvSpPr>
          <p:cNvPr id="28" name="Shape 26"/>
          <p:cNvSpPr/>
          <p:nvPr/>
        </p:nvSpPr>
        <p:spPr>
          <a:xfrm>
            <a:off x="274320" y="2450592"/>
            <a:ext cx="2834640" cy="402336"/>
          </a:xfrm>
          <a:prstGeom prst="rect">
            <a:avLst/>
          </a:prstGeom>
          <a:solidFill>
            <a:srgbClr val="1A2535"/>
          </a:solidFill>
          <a:ln w="12700">
            <a:solidFill>
              <a:srgbClr val="333333"/>
            </a:solidFill>
            <a:prstDash val="solid"/>
          </a:ln>
        </p:spPr>
      </p:sp>
      <p:sp>
        <p:nvSpPr>
          <p:cNvPr id="29" name="Text 27"/>
          <p:cNvSpPr/>
          <p:nvPr/>
        </p:nvSpPr>
        <p:spPr>
          <a:xfrm>
            <a:off x="365760" y="2450592"/>
            <a:ext cx="2651760" cy="402336"/>
          </a:xfrm>
          <a:prstGeom prst="rect">
            <a:avLst/>
          </a:prstGeom>
          <a:noFill/>
          <a:ln/>
        </p:spPr>
        <p:txBody>
          <a:bodyPr wrap="square" rtlCol="0" anchor="ctr"/>
          <a:lstStyle/>
          <a:p>
            <a:pPr indent="0" marL="0">
              <a:buNone/>
            </a:pPr>
            <a:r>
              <a:rPr lang="en-US" sz="1150" dirty="0">
                <a:solidFill>
                  <a:srgbClr val="FFFFFF"/>
                </a:solidFill>
              </a:rPr>
              <a:t>Tujuan</a:t>
            </a:r>
            <a:endParaRPr lang="en-US" sz="1150" dirty="0"/>
          </a:p>
        </p:txBody>
      </p:sp>
      <p:sp>
        <p:nvSpPr>
          <p:cNvPr id="30" name="Shape 28"/>
          <p:cNvSpPr/>
          <p:nvPr/>
        </p:nvSpPr>
        <p:spPr>
          <a:xfrm>
            <a:off x="3154680" y="2450592"/>
            <a:ext cx="2834640" cy="402336"/>
          </a:xfrm>
          <a:prstGeom prst="rect">
            <a:avLst/>
          </a:prstGeom>
          <a:solidFill>
            <a:srgbClr val="1A2535"/>
          </a:solidFill>
          <a:ln w="12700">
            <a:solidFill>
              <a:srgbClr val="333333"/>
            </a:solidFill>
            <a:prstDash val="solid"/>
          </a:ln>
        </p:spPr>
      </p:sp>
      <p:sp>
        <p:nvSpPr>
          <p:cNvPr id="31" name="Text 29"/>
          <p:cNvSpPr/>
          <p:nvPr/>
        </p:nvSpPr>
        <p:spPr>
          <a:xfrm>
            <a:off x="3246120" y="2450592"/>
            <a:ext cx="2651760" cy="402336"/>
          </a:xfrm>
          <a:prstGeom prst="rect">
            <a:avLst/>
          </a:prstGeom>
          <a:noFill/>
          <a:ln/>
        </p:spPr>
        <p:txBody>
          <a:bodyPr wrap="square" rtlCol="0" anchor="ctr"/>
          <a:lstStyle/>
          <a:p>
            <a:pPr indent="0" marL="0">
              <a:buNone/>
            </a:pPr>
            <a:r>
              <a:rPr lang="en-US" sz="1150" dirty="0">
                <a:solidFill>
                  <a:srgbClr val="4FC3F7"/>
                </a:solidFill>
              </a:rPr>
              <a:t>Klasifikasi/Regresi</a:t>
            </a:r>
            <a:endParaRPr lang="en-US" sz="1150" dirty="0"/>
          </a:p>
        </p:txBody>
      </p:sp>
      <p:sp>
        <p:nvSpPr>
          <p:cNvPr id="32" name="Shape 30"/>
          <p:cNvSpPr/>
          <p:nvPr/>
        </p:nvSpPr>
        <p:spPr>
          <a:xfrm>
            <a:off x="6035040" y="2450592"/>
            <a:ext cx="2834640" cy="402336"/>
          </a:xfrm>
          <a:prstGeom prst="rect">
            <a:avLst/>
          </a:prstGeom>
          <a:solidFill>
            <a:srgbClr val="1A2535"/>
          </a:solidFill>
          <a:ln w="12700">
            <a:solidFill>
              <a:srgbClr val="333333"/>
            </a:solidFill>
            <a:prstDash val="solid"/>
          </a:ln>
        </p:spPr>
      </p:sp>
      <p:sp>
        <p:nvSpPr>
          <p:cNvPr id="33" name="Text 31"/>
          <p:cNvSpPr/>
          <p:nvPr/>
        </p:nvSpPr>
        <p:spPr>
          <a:xfrm>
            <a:off x="6126480" y="2450592"/>
            <a:ext cx="2651760" cy="402336"/>
          </a:xfrm>
          <a:prstGeom prst="rect">
            <a:avLst/>
          </a:prstGeom>
          <a:noFill/>
          <a:ln/>
        </p:spPr>
        <p:txBody>
          <a:bodyPr wrap="square" rtlCol="0" anchor="ctr"/>
          <a:lstStyle/>
          <a:p>
            <a:pPr indent="0" marL="0">
              <a:buNone/>
            </a:pPr>
            <a:r>
              <a:rPr lang="en-US" sz="1150" dirty="0">
                <a:solidFill>
                  <a:srgbClr val="CE93D8"/>
                </a:solidFill>
              </a:rPr>
              <a:t>Segmentasi/Clustering</a:t>
            </a:r>
            <a:endParaRPr lang="en-US" sz="1150" dirty="0"/>
          </a:p>
        </p:txBody>
      </p:sp>
      <p:sp>
        <p:nvSpPr>
          <p:cNvPr id="34" name="Shape 32"/>
          <p:cNvSpPr/>
          <p:nvPr/>
        </p:nvSpPr>
        <p:spPr>
          <a:xfrm>
            <a:off x="274320" y="2871216"/>
            <a:ext cx="2834640" cy="402336"/>
          </a:xfrm>
          <a:prstGeom prst="rect">
            <a:avLst/>
          </a:prstGeom>
          <a:solidFill>
            <a:srgbClr val="162032"/>
          </a:solidFill>
          <a:ln w="12700">
            <a:solidFill>
              <a:srgbClr val="333333"/>
            </a:solidFill>
            <a:prstDash val="solid"/>
          </a:ln>
        </p:spPr>
      </p:sp>
      <p:sp>
        <p:nvSpPr>
          <p:cNvPr id="35" name="Text 33"/>
          <p:cNvSpPr/>
          <p:nvPr/>
        </p:nvSpPr>
        <p:spPr>
          <a:xfrm>
            <a:off x="365760" y="2871216"/>
            <a:ext cx="2651760" cy="402336"/>
          </a:xfrm>
          <a:prstGeom prst="rect">
            <a:avLst/>
          </a:prstGeom>
          <a:noFill/>
          <a:ln/>
        </p:spPr>
        <p:txBody>
          <a:bodyPr wrap="square" rtlCol="0" anchor="ctr"/>
          <a:lstStyle/>
          <a:p>
            <a:pPr indent="0" marL="0">
              <a:buNone/>
            </a:pPr>
            <a:r>
              <a:rPr lang="en-US" sz="1150" dirty="0">
                <a:solidFill>
                  <a:srgbClr val="FFFFFF"/>
                </a:solidFill>
              </a:rPr>
              <a:t>Matematika</a:t>
            </a:r>
            <a:endParaRPr lang="en-US" sz="1150" dirty="0"/>
          </a:p>
        </p:txBody>
      </p:sp>
      <p:sp>
        <p:nvSpPr>
          <p:cNvPr id="36" name="Shape 34"/>
          <p:cNvSpPr/>
          <p:nvPr/>
        </p:nvSpPr>
        <p:spPr>
          <a:xfrm>
            <a:off x="3154680" y="2871216"/>
            <a:ext cx="2834640" cy="402336"/>
          </a:xfrm>
          <a:prstGeom prst="rect">
            <a:avLst/>
          </a:prstGeom>
          <a:solidFill>
            <a:srgbClr val="162032"/>
          </a:solidFill>
          <a:ln w="12700">
            <a:solidFill>
              <a:srgbClr val="333333"/>
            </a:solidFill>
            <a:prstDash val="solid"/>
          </a:ln>
        </p:spPr>
      </p:sp>
      <p:sp>
        <p:nvSpPr>
          <p:cNvPr id="37" name="Text 35"/>
          <p:cNvSpPr/>
          <p:nvPr/>
        </p:nvSpPr>
        <p:spPr>
          <a:xfrm>
            <a:off x="3246120" y="2871216"/>
            <a:ext cx="2651760" cy="402336"/>
          </a:xfrm>
          <a:prstGeom prst="rect">
            <a:avLst/>
          </a:prstGeom>
          <a:noFill/>
          <a:ln/>
        </p:spPr>
        <p:txBody>
          <a:bodyPr wrap="square" rtlCol="0" anchor="ctr"/>
          <a:lstStyle/>
          <a:p>
            <a:pPr indent="0" marL="0">
              <a:buNone/>
            </a:pPr>
            <a:r>
              <a:rPr lang="en-US" sz="1150" dirty="0">
                <a:solidFill>
                  <a:srgbClr val="4FC3F7"/>
                </a:solidFill>
              </a:rPr>
              <a:t>Gini Impurity / Info Gain</a:t>
            </a:r>
            <a:endParaRPr lang="en-US" sz="1150" dirty="0"/>
          </a:p>
        </p:txBody>
      </p:sp>
      <p:sp>
        <p:nvSpPr>
          <p:cNvPr id="38" name="Shape 36"/>
          <p:cNvSpPr/>
          <p:nvPr/>
        </p:nvSpPr>
        <p:spPr>
          <a:xfrm>
            <a:off x="6035040" y="2871216"/>
            <a:ext cx="2834640" cy="402336"/>
          </a:xfrm>
          <a:prstGeom prst="rect">
            <a:avLst/>
          </a:prstGeom>
          <a:solidFill>
            <a:srgbClr val="162032"/>
          </a:solidFill>
          <a:ln w="12700">
            <a:solidFill>
              <a:srgbClr val="333333"/>
            </a:solidFill>
            <a:prstDash val="solid"/>
          </a:ln>
        </p:spPr>
      </p:sp>
      <p:sp>
        <p:nvSpPr>
          <p:cNvPr id="39" name="Text 37"/>
          <p:cNvSpPr/>
          <p:nvPr/>
        </p:nvSpPr>
        <p:spPr>
          <a:xfrm>
            <a:off x="6126480" y="2871216"/>
            <a:ext cx="2651760" cy="402336"/>
          </a:xfrm>
          <a:prstGeom prst="rect">
            <a:avLst/>
          </a:prstGeom>
          <a:noFill/>
          <a:ln/>
        </p:spPr>
        <p:txBody>
          <a:bodyPr wrap="square" rtlCol="0" anchor="ctr"/>
          <a:lstStyle/>
          <a:p>
            <a:pPr indent="0" marL="0">
              <a:buNone/>
            </a:pPr>
            <a:r>
              <a:rPr lang="en-US" sz="1150" dirty="0">
                <a:solidFill>
                  <a:srgbClr val="CE93D8"/>
                </a:solidFill>
              </a:rPr>
              <a:t>Euclidean Distance / SSE</a:t>
            </a:r>
            <a:endParaRPr lang="en-US" sz="1150" dirty="0"/>
          </a:p>
        </p:txBody>
      </p:sp>
      <p:sp>
        <p:nvSpPr>
          <p:cNvPr id="40" name="Shape 38"/>
          <p:cNvSpPr/>
          <p:nvPr/>
        </p:nvSpPr>
        <p:spPr>
          <a:xfrm>
            <a:off x="274320" y="3291840"/>
            <a:ext cx="2834640" cy="402336"/>
          </a:xfrm>
          <a:prstGeom prst="rect">
            <a:avLst/>
          </a:prstGeom>
          <a:solidFill>
            <a:srgbClr val="1A2535"/>
          </a:solidFill>
          <a:ln w="12700">
            <a:solidFill>
              <a:srgbClr val="333333"/>
            </a:solidFill>
            <a:prstDash val="solid"/>
          </a:ln>
        </p:spPr>
      </p:sp>
      <p:sp>
        <p:nvSpPr>
          <p:cNvPr id="41" name="Text 39"/>
          <p:cNvSpPr/>
          <p:nvPr/>
        </p:nvSpPr>
        <p:spPr>
          <a:xfrm>
            <a:off x="365760" y="3291840"/>
            <a:ext cx="2651760" cy="402336"/>
          </a:xfrm>
          <a:prstGeom prst="rect">
            <a:avLst/>
          </a:prstGeom>
          <a:noFill/>
          <a:ln/>
        </p:spPr>
        <p:txBody>
          <a:bodyPr wrap="square" rtlCol="0" anchor="ctr"/>
          <a:lstStyle/>
          <a:p>
            <a:pPr indent="0" marL="0">
              <a:buNone/>
            </a:pPr>
            <a:r>
              <a:rPr lang="en-US" sz="1150" dirty="0">
                <a:solidFill>
                  <a:srgbClr val="FFFFFF"/>
                </a:solidFill>
              </a:rPr>
              <a:t>Parameter</a:t>
            </a:r>
            <a:endParaRPr lang="en-US" sz="1150" dirty="0"/>
          </a:p>
        </p:txBody>
      </p:sp>
      <p:sp>
        <p:nvSpPr>
          <p:cNvPr id="42" name="Shape 40"/>
          <p:cNvSpPr/>
          <p:nvPr/>
        </p:nvSpPr>
        <p:spPr>
          <a:xfrm>
            <a:off x="3154680" y="3291840"/>
            <a:ext cx="2834640" cy="402336"/>
          </a:xfrm>
          <a:prstGeom prst="rect">
            <a:avLst/>
          </a:prstGeom>
          <a:solidFill>
            <a:srgbClr val="1A2535"/>
          </a:solidFill>
          <a:ln w="12700">
            <a:solidFill>
              <a:srgbClr val="333333"/>
            </a:solidFill>
            <a:prstDash val="solid"/>
          </a:ln>
        </p:spPr>
      </p:sp>
      <p:sp>
        <p:nvSpPr>
          <p:cNvPr id="43" name="Text 41"/>
          <p:cNvSpPr/>
          <p:nvPr/>
        </p:nvSpPr>
        <p:spPr>
          <a:xfrm>
            <a:off x="3246120" y="3291840"/>
            <a:ext cx="2651760" cy="402336"/>
          </a:xfrm>
          <a:prstGeom prst="rect">
            <a:avLst/>
          </a:prstGeom>
          <a:noFill/>
          <a:ln/>
        </p:spPr>
        <p:txBody>
          <a:bodyPr wrap="square" rtlCol="0" anchor="ctr"/>
          <a:lstStyle/>
          <a:p>
            <a:pPr indent="0" marL="0">
              <a:buNone/>
            </a:pPr>
            <a:r>
              <a:rPr lang="en-US" sz="1150" dirty="0">
                <a:solidFill>
                  <a:srgbClr val="4FC3F7"/>
                </a:solidFill>
              </a:rPr>
              <a:t>max_depth, min_samples</a:t>
            </a:r>
            <a:endParaRPr lang="en-US" sz="1150" dirty="0"/>
          </a:p>
        </p:txBody>
      </p:sp>
      <p:sp>
        <p:nvSpPr>
          <p:cNvPr id="44" name="Shape 42"/>
          <p:cNvSpPr/>
          <p:nvPr/>
        </p:nvSpPr>
        <p:spPr>
          <a:xfrm>
            <a:off x="6035040" y="3291840"/>
            <a:ext cx="2834640" cy="402336"/>
          </a:xfrm>
          <a:prstGeom prst="rect">
            <a:avLst/>
          </a:prstGeom>
          <a:solidFill>
            <a:srgbClr val="1A2535"/>
          </a:solidFill>
          <a:ln w="12700">
            <a:solidFill>
              <a:srgbClr val="333333"/>
            </a:solidFill>
            <a:prstDash val="solid"/>
          </a:ln>
        </p:spPr>
      </p:sp>
      <p:sp>
        <p:nvSpPr>
          <p:cNvPr id="45" name="Text 43"/>
          <p:cNvSpPr/>
          <p:nvPr/>
        </p:nvSpPr>
        <p:spPr>
          <a:xfrm>
            <a:off x="6126480" y="3291840"/>
            <a:ext cx="2651760" cy="402336"/>
          </a:xfrm>
          <a:prstGeom prst="rect">
            <a:avLst/>
          </a:prstGeom>
          <a:noFill/>
          <a:ln/>
        </p:spPr>
        <p:txBody>
          <a:bodyPr wrap="square" rtlCol="0" anchor="ctr"/>
          <a:lstStyle/>
          <a:p>
            <a:pPr indent="0" marL="0">
              <a:buNone/>
            </a:pPr>
            <a:r>
              <a:rPr lang="en-US" sz="1150" dirty="0">
                <a:solidFill>
                  <a:srgbClr val="CE93D8"/>
                </a:solidFill>
              </a:rPr>
              <a:t>n_clusters (K)</a:t>
            </a:r>
            <a:endParaRPr lang="en-US" sz="1150" dirty="0"/>
          </a:p>
        </p:txBody>
      </p:sp>
      <p:sp>
        <p:nvSpPr>
          <p:cNvPr id="46" name="Shape 44"/>
          <p:cNvSpPr/>
          <p:nvPr/>
        </p:nvSpPr>
        <p:spPr>
          <a:xfrm>
            <a:off x="274320" y="3712464"/>
            <a:ext cx="2834640" cy="402336"/>
          </a:xfrm>
          <a:prstGeom prst="rect">
            <a:avLst/>
          </a:prstGeom>
          <a:solidFill>
            <a:srgbClr val="162032"/>
          </a:solidFill>
          <a:ln w="12700">
            <a:solidFill>
              <a:srgbClr val="333333"/>
            </a:solidFill>
            <a:prstDash val="solid"/>
          </a:ln>
        </p:spPr>
      </p:sp>
      <p:sp>
        <p:nvSpPr>
          <p:cNvPr id="47" name="Text 45"/>
          <p:cNvSpPr/>
          <p:nvPr/>
        </p:nvSpPr>
        <p:spPr>
          <a:xfrm>
            <a:off x="365760" y="3712464"/>
            <a:ext cx="2651760" cy="402336"/>
          </a:xfrm>
          <a:prstGeom prst="rect">
            <a:avLst/>
          </a:prstGeom>
          <a:noFill/>
          <a:ln/>
        </p:spPr>
        <p:txBody>
          <a:bodyPr wrap="square" rtlCol="0" anchor="ctr"/>
          <a:lstStyle/>
          <a:p>
            <a:pPr indent="0" marL="0">
              <a:buNone/>
            </a:pPr>
            <a:r>
              <a:rPr lang="en-US" sz="1150" dirty="0">
                <a:solidFill>
                  <a:srgbClr val="FFFFFF"/>
                </a:solidFill>
              </a:rPr>
              <a:t>Interpretasi</a:t>
            </a:r>
            <a:endParaRPr lang="en-US" sz="1150" dirty="0"/>
          </a:p>
        </p:txBody>
      </p:sp>
      <p:sp>
        <p:nvSpPr>
          <p:cNvPr id="48" name="Shape 46"/>
          <p:cNvSpPr/>
          <p:nvPr/>
        </p:nvSpPr>
        <p:spPr>
          <a:xfrm>
            <a:off x="3154680" y="3712464"/>
            <a:ext cx="2834640" cy="402336"/>
          </a:xfrm>
          <a:prstGeom prst="rect">
            <a:avLst/>
          </a:prstGeom>
          <a:solidFill>
            <a:srgbClr val="162032"/>
          </a:solidFill>
          <a:ln w="12700">
            <a:solidFill>
              <a:srgbClr val="333333"/>
            </a:solidFill>
            <a:prstDash val="solid"/>
          </a:ln>
        </p:spPr>
      </p:sp>
      <p:sp>
        <p:nvSpPr>
          <p:cNvPr id="49" name="Text 47"/>
          <p:cNvSpPr/>
          <p:nvPr/>
        </p:nvSpPr>
        <p:spPr>
          <a:xfrm>
            <a:off x="3246120" y="3712464"/>
            <a:ext cx="2651760" cy="402336"/>
          </a:xfrm>
          <a:prstGeom prst="rect">
            <a:avLst/>
          </a:prstGeom>
          <a:noFill/>
          <a:ln/>
        </p:spPr>
        <p:txBody>
          <a:bodyPr wrap="square" rtlCol="0" anchor="ctr"/>
          <a:lstStyle/>
          <a:p>
            <a:pPr indent="0" marL="0">
              <a:buNone/>
            </a:pPr>
            <a:r>
              <a:rPr lang="en-US" sz="1150" dirty="0">
                <a:solidFill>
                  <a:srgbClr val="4FC3F7"/>
                </a:solidFill>
              </a:rPr>
              <a:t>Sangat mudah</a:t>
            </a:r>
            <a:endParaRPr lang="en-US" sz="1150" dirty="0"/>
          </a:p>
        </p:txBody>
      </p:sp>
      <p:sp>
        <p:nvSpPr>
          <p:cNvPr id="50" name="Shape 48"/>
          <p:cNvSpPr/>
          <p:nvPr/>
        </p:nvSpPr>
        <p:spPr>
          <a:xfrm>
            <a:off x="6035040" y="3712464"/>
            <a:ext cx="2834640" cy="402336"/>
          </a:xfrm>
          <a:prstGeom prst="rect">
            <a:avLst/>
          </a:prstGeom>
          <a:solidFill>
            <a:srgbClr val="162032"/>
          </a:solidFill>
          <a:ln w="12700">
            <a:solidFill>
              <a:srgbClr val="333333"/>
            </a:solidFill>
            <a:prstDash val="solid"/>
          </a:ln>
        </p:spPr>
      </p:sp>
      <p:sp>
        <p:nvSpPr>
          <p:cNvPr id="51" name="Text 49"/>
          <p:cNvSpPr/>
          <p:nvPr/>
        </p:nvSpPr>
        <p:spPr>
          <a:xfrm>
            <a:off x="6126480" y="3712464"/>
            <a:ext cx="2651760" cy="402336"/>
          </a:xfrm>
          <a:prstGeom prst="rect">
            <a:avLst/>
          </a:prstGeom>
          <a:noFill/>
          <a:ln/>
        </p:spPr>
        <p:txBody>
          <a:bodyPr wrap="square" rtlCol="0" anchor="ctr"/>
          <a:lstStyle/>
          <a:p>
            <a:pPr indent="0" marL="0">
              <a:buNone/>
            </a:pPr>
            <a:r>
              <a:rPr lang="en-US" sz="1150" dirty="0">
                <a:solidFill>
                  <a:srgbClr val="CE93D8"/>
                </a:solidFill>
              </a:rPr>
              <a:t>Cukup mudah</a:t>
            </a:r>
            <a:endParaRPr lang="en-US" sz="1150" dirty="0"/>
          </a:p>
        </p:txBody>
      </p:sp>
      <p:sp>
        <p:nvSpPr>
          <p:cNvPr id="52" name="Shape 50"/>
          <p:cNvSpPr/>
          <p:nvPr/>
        </p:nvSpPr>
        <p:spPr>
          <a:xfrm>
            <a:off x="274320" y="4133088"/>
            <a:ext cx="2834640" cy="402336"/>
          </a:xfrm>
          <a:prstGeom prst="rect">
            <a:avLst/>
          </a:prstGeom>
          <a:solidFill>
            <a:srgbClr val="1A2535"/>
          </a:solidFill>
          <a:ln w="12700">
            <a:solidFill>
              <a:srgbClr val="333333"/>
            </a:solidFill>
            <a:prstDash val="solid"/>
          </a:ln>
        </p:spPr>
      </p:sp>
      <p:sp>
        <p:nvSpPr>
          <p:cNvPr id="53" name="Text 51"/>
          <p:cNvSpPr/>
          <p:nvPr/>
        </p:nvSpPr>
        <p:spPr>
          <a:xfrm>
            <a:off x="365760" y="4133088"/>
            <a:ext cx="2651760" cy="402336"/>
          </a:xfrm>
          <a:prstGeom prst="rect">
            <a:avLst/>
          </a:prstGeom>
          <a:noFill/>
          <a:ln/>
        </p:spPr>
        <p:txBody>
          <a:bodyPr wrap="square" rtlCol="0" anchor="ctr"/>
          <a:lstStyle/>
          <a:p>
            <a:pPr indent="0" marL="0">
              <a:buNone/>
            </a:pPr>
            <a:r>
              <a:rPr lang="en-US" sz="1150" dirty="0">
                <a:solidFill>
                  <a:srgbClr val="FFFFFF"/>
                </a:solidFill>
              </a:rPr>
              <a:t>Overfitting</a:t>
            </a:r>
            <a:endParaRPr lang="en-US" sz="1150" dirty="0"/>
          </a:p>
        </p:txBody>
      </p:sp>
      <p:sp>
        <p:nvSpPr>
          <p:cNvPr id="54" name="Shape 52"/>
          <p:cNvSpPr/>
          <p:nvPr/>
        </p:nvSpPr>
        <p:spPr>
          <a:xfrm>
            <a:off x="3154680" y="4133088"/>
            <a:ext cx="2834640" cy="402336"/>
          </a:xfrm>
          <a:prstGeom prst="rect">
            <a:avLst/>
          </a:prstGeom>
          <a:solidFill>
            <a:srgbClr val="1A2535"/>
          </a:solidFill>
          <a:ln w="12700">
            <a:solidFill>
              <a:srgbClr val="333333"/>
            </a:solidFill>
            <a:prstDash val="solid"/>
          </a:ln>
        </p:spPr>
      </p:sp>
      <p:sp>
        <p:nvSpPr>
          <p:cNvPr id="55" name="Text 53"/>
          <p:cNvSpPr/>
          <p:nvPr/>
        </p:nvSpPr>
        <p:spPr>
          <a:xfrm>
            <a:off x="3246120" y="4133088"/>
            <a:ext cx="2651760" cy="402336"/>
          </a:xfrm>
          <a:prstGeom prst="rect">
            <a:avLst/>
          </a:prstGeom>
          <a:noFill/>
          <a:ln/>
        </p:spPr>
        <p:txBody>
          <a:bodyPr wrap="square" rtlCol="0" anchor="ctr"/>
          <a:lstStyle/>
          <a:p>
            <a:pPr indent="0" marL="0">
              <a:buNone/>
            </a:pPr>
            <a:r>
              <a:rPr lang="en-US" sz="1150" dirty="0">
                <a:solidFill>
                  <a:srgbClr val="4FC3F7"/>
                </a:solidFill>
              </a:rPr>
              <a:t>Rentan (perlu pruning)</a:t>
            </a:r>
            <a:endParaRPr lang="en-US" sz="1150" dirty="0"/>
          </a:p>
        </p:txBody>
      </p:sp>
      <p:sp>
        <p:nvSpPr>
          <p:cNvPr id="56" name="Shape 54"/>
          <p:cNvSpPr/>
          <p:nvPr/>
        </p:nvSpPr>
        <p:spPr>
          <a:xfrm>
            <a:off x="6035040" y="4133088"/>
            <a:ext cx="2834640" cy="402336"/>
          </a:xfrm>
          <a:prstGeom prst="rect">
            <a:avLst/>
          </a:prstGeom>
          <a:solidFill>
            <a:srgbClr val="1A2535"/>
          </a:solidFill>
          <a:ln w="12700">
            <a:solidFill>
              <a:srgbClr val="333333"/>
            </a:solidFill>
            <a:prstDash val="solid"/>
          </a:ln>
        </p:spPr>
      </p:sp>
      <p:sp>
        <p:nvSpPr>
          <p:cNvPr id="57" name="Text 55"/>
          <p:cNvSpPr/>
          <p:nvPr/>
        </p:nvSpPr>
        <p:spPr>
          <a:xfrm>
            <a:off x="6126480" y="4133088"/>
            <a:ext cx="2651760" cy="402336"/>
          </a:xfrm>
          <a:prstGeom prst="rect">
            <a:avLst/>
          </a:prstGeom>
          <a:noFill/>
          <a:ln/>
        </p:spPr>
        <p:txBody>
          <a:bodyPr wrap="square" rtlCol="0" anchor="ctr"/>
          <a:lstStyle/>
          <a:p>
            <a:pPr indent="0" marL="0">
              <a:buNone/>
            </a:pPr>
            <a:r>
              <a:rPr lang="en-US" sz="1150" dirty="0">
                <a:solidFill>
                  <a:srgbClr val="CE93D8"/>
                </a:solidFill>
              </a:rPr>
              <a:t>Tidak berlaku</a:t>
            </a:r>
            <a:endParaRPr lang="en-US" sz="1150" dirty="0"/>
          </a:p>
        </p:txBody>
      </p:sp>
      <p:sp>
        <p:nvSpPr>
          <p:cNvPr id="58" name="Shape 56"/>
          <p:cNvSpPr/>
          <p:nvPr/>
        </p:nvSpPr>
        <p:spPr>
          <a:xfrm>
            <a:off x="274320" y="4553712"/>
            <a:ext cx="2834640" cy="402336"/>
          </a:xfrm>
          <a:prstGeom prst="rect">
            <a:avLst/>
          </a:prstGeom>
          <a:solidFill>
            <a:srgbClr val="162032"/>
          </a:solidFill>
          <a:ln w="12700">
            <a:solidFill>
              <a:srgbClr val="333333"/>
            </a:solidFill>
            <a:prstDash val="solid"/>
          </a:ln>
        </p:spPr>
      </p:sp>
      <p:sp>
        <p:nvSpPr>
          <p:cNvPr id="59" name="Text 57"/>
          <p:cNvSpPr/>
          <p:nvPr/>
        </p:nvSpPr>
        <p:spPr>
          <a:xfrm>
            <a:off x="365760" y="4553712"/>
            <a:ext cx="2651760" cy="402336"/>
          </a:xfrm>
          <a:prstGeom prst="rect">
            <a:avLst/>
          </a:prstGeom>
          <a:noFill/>
          <a:ln/>
        </p:spPr>
        <p:txBody>
          <a:bodyPr wrap="square" rtlCol="0" anchor="ctr"/>
          <a:lstStyle/>
          <a:p>
            <a:pPr indent="0" marL="0">
              <a:buNone/>
            </a:pPr>
            <a:r>
              <a:rPr lang="en-US" sz="1150" dirty="0">
                <a:solidFill>
                  <a:srgbClr val="FFFFFF"/>
                </a:solidFill>
              </a:rPr>
              <a:t>Contoh Kasus</a:t>
            </a:r>
            <a:endParaRPr lang="en-US" sz="1150" dirty="0"/>
          </a:p>
        </p:txBody>
      </p:sp>
      <p:sp>
        <p:nvSpPr>
          <p:cNvPr id="60" name="Shape 58"/>
          <p:cNvSpPr/>
          <p:nvPr/>
        </p:nvSpPr>
        <p:spPr>
          <a:xfrm>
            <a:off x="3154680" y="4553712"/>
            <a:ext cx="2834640" cy="402336"/>
          </a:xfrm>
          <a:prstGeom prst="rect">
            <a:avLst/>
          </a:prstGeom>
          <a:solidFill>
            <a:srgbClr val="162032"/>
          </a:solidFill>
          <a:ln w="12700">
            <a:solidFill>
              <a:srgbClr val="333333"/>
            </a:solidFill>
            <a:prstDash val="solid"/>
          </a:ln>
        </p:spPr>
      </p:sp>
      <p:sp>
        <p:nvSpPr>
          <p:cNvPr id="61" name="Text 59"/>
          <p:cNvSpPr/>
          <p:nvPr/>
        </p:nvSpPr>
        <p:spPr>
          <a:xfrm>
            <a:off x="3246120" y="4553712"/>
            <a:ext cx="2651760" cy="402336"/>
          </a:xfrm>
          <a:prstGeom prst="rect">
            <a:avLst/>
          </a:prstGeom>
          <a:noFill/>
          <a:ln/>
        </p:spPr>
        <p:txBody>
          <a:bodyPr wrap="square" rtlCol="0" anchor="ctr"/>
          <a:lstStyle/>
          <a:p>
            <a:pPr indent="0" marL="0">
              <a:buNone/>
            </a:pPr>
            <a:r>
              <a:rPr lang="en-US" sz="1150" dirty="0">
                <a:solidFill>
                  <a:srgbClr val="4FC3F7"/>
                </a:solidFill>
              </a:rPr>
              <a:t>Prediksi kanker, spam filter</a:t>
            </a:r>
            <a:endParaRPr lang="en-US" sz="1150" dirty="0"/>
          </a:p>
        </p:txBody>
      </p:sp>
      <p:sp>
        <p:nvSpPr>
          <p:cNvPr id="62" name="Shape 60"/>
          <p:cNvSpPr/>
          <p:nvPr/>
        </p:nvSpPr>
        <p:spPr>
          <a:xfrm>
            <a:off x="6035040" y="4553712"/>
            <a:ext cx="2834640" cy="402336"/>
          </a:xfrm>
          <a:prstGeom prst="rect">
            <a:avLst/>
          </a:prstGeom>
          <a:solidFill>
            <a:srgbClr val="162032"/>
          </a:solidFill>
          <a:ln w="12700">
            <a:solidFill>
              <a:srgbClr val="333333"/>
            </a:solidFill>
            <a:prstDash val="solid"/>
          </a:ln>
        </p:spPr>
      </p:sp>
      <p:sp>
        <p:nvSpPr>
          <p:cNvPr id="63" name="Text 61"/>
          <p:cNvSpPr/>
          <p:nvPr/>
        </p:nvSpPr>
        <p:spPr>
          <a:xfrm>
            <a:off x="6126480" y="4553712"/>
            <a:ext cx="2651760" cy="402336"/>
          </a:xfrm>
          <a:prstGeom prst="rect">
            <a:avLst/>
          </a:prstGeom>
          <a:noFill/>
          <a:ln/>
        </p:spPr>
        <p:txBody>
          <a:bodyPr wrap="square" rtlCol="0" anchor="ctr"/>
          <a:lstStyle/>
          <a:p>
            <a:pPr indent="0" marL="0">
              <a:buNone/>
            </a:pPr>
            <a:r>
              <a:rPr lang="en-US" sz="1150" dirty="0">
                <a:solidFill>
                  <a:srgbClr val="CE93D8"/>
                </a:solidFill>
              </a:rPr>
              <a:t>Segmentasi pelanggan, market basket</a:t>
            </a:r>
            <a:endParaRPr lang="en-US" sz="1150" dirty="0"/>
          </a:p>
        </p:txBody>
      </p:sp>
      <p:sp>
        <p:nvSpPr>
          <p:cNvPr id="64" name="Shape 62"/>
          <p:cNvSpPr/>
          <p:nvPr/>
        </p:nvSpPr>
        <p:spPr>
          <a:xfrm>
            <a:off x="0" y="5074920"/>
            <a:ext cx="9144000" cy="73152"/>
          </a:xfrm>
          <a:prstGeom prst="rect">
            <a:avLst/>
          </a:prstGeom>
          <a:solidFill>
            <a:srgbClr val="64FFDA"/>
          </a:solidFill>
          <a:ln w="12700">
            <a:solidFill>
              <a:srgbClr val="64FFDA"/>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4FFDA"/>
          </a:solidFill>
          <a:ln w="12700">
            <a:solidFill>
              <a:srgbClr val="64FFDA"/>
            </a:solidFill>
            <a:prstDash val="solid"/>
          </a:ln>
        </p:spPr>
      </p:sp>
      <p:sp>
        <p:nvSpPr>
          <p:cNvPr id="3" name="Shape 1"/>
          <p:cNvSpPr/>
          <p:nvPr/>
        </p:nvSpPr>
        <p:spPr>
          <a:xfrm>
            <a:off x="-914400" y="2743200"/>
            <a:ext cx="3657600" cy="3657600"/>
          </a:xfrm>
          <a:prstGeom prst="ellipse">
            <a:avLst/>
          </a:prstGeom>
          <a:solidFill>
            <a:srgbClr val="1565C0">
              <a:alpha val="20000"/>
            </a:srgbClr>
          </a:solidFill>
          <a:ln w="12700">
            <a:solidFill>
              <a:srgbClr val="1565C0">
                <a:alpha val="20000"/>
              </a:srgbClr>
            </a:solidFill>
            <a:prstDash val="solid"/>
          </a:ln>
        </p:spPr>
      </p:sp>
      <p:sp>
        <p:nvSpPr>
          <p:cNvPr id="4" name="Shape 2"/>
          <p:cNvSpPr/>
          <p:nvPr/>
        </p:nvSpPr>
        <p:spPr>
          <a:xfrm>
            <a:off x="6400800" y="-914400"/>
            <a:ext cx="3657600" cy="3657600"/>
          </a:xfrm>
          <a:prstGeom prst="ellipse">
            <a:avLst/>
          </a:prstGeom>
          <a:solidFill>
            <a:srgbClr val="6A1B9A">
              <a:alpha val="20000"/>
            </a:srgbClr>
          </a:solidFill>
          <a:ln w="12700">
            <a:solidFill>
              <a:srgbClr val="6A1B9A">
                <a:alpha val="20000"/>
              </a:srgbClr>
            </a:solidFill>
            <a:prstDash val="solid"/>
          </a:ln>
        </p:spPr>
      </p:sp>
      <p:sp>
        <p:nvSpPr>
          <p:cNvPr id="5" name="Text 3"/>
          <p:cNvSpPr/>
          <p:nvPr/>
        </p:nvSpPr>
        <p:spPr>
          <a:xfrm>
            <a:off x="457200" y="365760"/>
            <a:ext cx="8229600" cy="502920"/>
          </a:xfrm>
          <a:prstGeom prst="rect">
            <a:avLst/>
          </a:prstGeom>
          <a:noFill/>
          <a:ln/>
        </p:spPr>
        <p:txBody>
          <a:bodyPr wrap="square" rtlCol="0" anchor="ctr"/>
          <a:lstStyle/>
          <a:p>
            <a:pPr algn="ctr" indent="0" marL="0">
              <a:buNone/>
            </a:pPr>
            <a:r>
              <a:rPr lang="en-US" sz="1800" b="1" spc="600" kern="0" dirty="0">
                <a:solidFill>
                  <a:srgbClr val="64FFDA"/>
                </a:solidFill>
              </a:rPr>
              <a:t>Kesimpulan</a:t>
            </a:r>
            <a:endParaRPr lang="en-US" sz="1800" dirty="0"/>
          </a:p>
        </p:txBody>
      </p:sp>
      <p:sp>
        <p:nvSpPr>
          <p:cNvPr id="6" name="Shape 4"/>
          <p:cNvSpPr/>
          <p:nvPr/>
        </p:nvSpPr>
        <p:spPr>
          <a:xfrm>
            <a:off x="365760" y="1005840"/>
            <a:ext cx="4206240" cy="2743200"/>
          </a:xfrm>
          <a:prstGeom prst="rect">
            <a:avLst/>
          </a:prstGeom>
          <a:solidFill>
            <a:srgbClr val="162032"/>
          </a:solidFill>
          <a:ln w="25400">
            <a:solidFill>
              <a:srgbClr val="4FC3F7"/>
            </a:solidFill>
            <a:prstDash val="solid"/>
          </a:ln>
        </p:spPr>
      </p:sp>
      <p:sp>
        <p:nvSpPr>
          <p:cNvPr id="7" name="Shape 5"/>
          <p:cNvSpPr/>
          <p:nvPr/>
        </p:nvSpPr>
        <p:spPr>
          <a:xfrm>
            <a:off x="365760" y="1005840"/>
            <a:ext cx="4206240" cy="502920"/>
          </a:xfrm>
          <a:prstGeom prst="rect">
            <a:avLst/>
          </a:prstGeom>
          <a:solidFill>
            <a:srgbClr val="1565C0"/>
          </a:solidFill>
          <a:ln w="12700">
            <a:solidFill>
              <a:srgbClr val="1565C0"/>
            </a:solidFill>
            <a:prstDash val="solid"/>
          </a:ln>
        </p:spPr>
      </p:sp>
      <p:sp>
        <p:nvSpPr>
          <p:cNvPr id="8" name="Text 6"/>
          <p:cNvSpPr/>
          <p:nvPr/>
        </p:nvSpPr>
        <p:spPr>
          <a:xfrm>
            <a:off x="365760" y="1005840"/>
            <a:ext cx="4206240" cy="502920"/>
          </a:xfrm>
          <a:prstGeom prst="rect">
            <a:avLst/>
          </a:prstGeom>
          <a:noFill/>
          <a:ln/>
        </p:spPr>
        <p:txBody>
          <a:bodyPr wrap="square" rtlCol="0" anchor="ctr"/>
          <a:lstStyle/>
          <a:p>
            <a:pPr algn="ctr" indent="0" marL="0">
              <a:buNone/>
            </a:pPr>
            <a:r>
              <a:rPr lang="en-US" sz="1600" b="1" dirty="0">
                <a:solidFill>
                  <a:srgbClr val="FFFFFF"/>
                </a:solidFill>
              </a:rPr>
              <a:t>🌳 Decision Tree</a:t>
            </a:r>
            <a:endParaRPr lang="en-US" sz="1600" dirty="0"/>
          </a:p>
        </p:txBody>
      </p:sp>
      <p:sp>
        <p:nvSpPr>
          <p:cNvPr id="9" name="Text 7"/>
          <p:cNvSpPr/>
          <p:nvPr/>
        </p:nvSpPr>
        <p:spPr>
          <a:xfrm>
            <a:off x="502920" y="1600200"/>
            <a:ext cx="3931920" cy="2057400"/>
          </a:xfrm>
          <a:prstGeom prst="rect">
            <a:avLst/>
          </a:prstGeom>
          <a:noFill/>
          <a:ln/>
        </p:spPr>
        <p:txBody>
          <a:bodyPr wrap="square" rtlCol="0" anchor="t"/>
          <a:lstStyle/>
          <a:p>
            <a:pPr algn="l" indent="0" marL="0">
              <a:buNone/>
            </a:pPr>
            <a:r>
              <a:rPr lang="en-US" sz="1300" dirty="0">
                <a:solidFill>
                  <a:srgbClr val="AAAAAA"/>
                </a:solidFill>
              </a:rPr>
              <a:t>Supervised learning yang belajar dari data berlabel. Membuat keputusan berbasis serangkaian tes pada fitur menggunakan Gini Impurity. Mudah diinterpretasi dan efektif untuk klasifikasi.</a:t>
            </a:r>
            <a:endParaRPr lang="en-US" sz="1300" dirty="0"/>
          </a:p>
        </p:txBody>
      </p:sp>
      <p:sp>
        <p:nvSpPr>
          <p:cNvPr id="10" name="Shape 8"/>
          <p:cNvSpPr/>
          <p:nvPr/>
        </p:nvSpPr>
        <p:spPr>
          <a:xfrm>
            <a:off x="4846320" y="1005840"/>
            <a:ext cx="4206240" cy="2743200"/>
          </a:xfrm>
          <a:prstGeom prst="rect">
            <a:avLst/>
          </a:prstGeom>
          <a:solidFill>
            <a:srgbClr val="162032"/>
          </a:solidFill>
          <a:ln w="25400">
            <a:solidFill>
              <a:srgbClr val="CE93D8"/>
            </a:solidFill>
            <a:prstDash val="solid"/>
          </a:ln>
        </p:spPr>
      </p:sp>
      <p:sp>
        <p:nvSpPr>
          <p:cNvPr id="11" name="Shape 9"/>
          <p:cNvSpPr/>
          <p:nvPr/>
        </p:nvSpPr>
        <p:spPr>
          <a:xfrm>
            <a:off x="4846320" y="1005840"/>
            <a:ext cx="4206240" cy="502920"/>
          </a:xfrm>
          <a:prstGeom prst="rect">
            <a:avLst/>
          </a:prstGeom>
          <a:solidFill>
            <a:srgbClr val="6A1B9A"/>
          </a:solidFill>
          <a:ln w="12700">
            <a:solidFill>
              <a:srgbClr val="6A1B9A"/>
            </a:solidFill>
            <a:prstDash val="solid"/>
          </a:ln>
        </p:spPr>
      </p:sp>
      <p:sp>
        <p:nvSpPr>
          <p:cNvPr id="12" name="Text 10"/>
          <p:cNvSpPr/>
          <p:nvPr/>
        </p:nvSpPr>
        <p:spPr>
          <a:xfrm>
            <a:off x="4846320" y="1005840"/>
            <a:ext cx="4206240" cy="502920"/>
          </a:xfrm>
          <a:prstGeom prst="rect">
            <a:avLst/>
          </a:prstGeom>
          <a:noFill/>
          <a:ln/>
        </p:spPr>
        <p:txBody>
          <a:bodyPr wrap="square" rtlCol="0" anchor="ctr"/>
          <a:lstStyle/>
          <a:p>
            <a:pPr algn="ctr" indent="0" marL="0">
              <a:buNone/>
            </a:pPr>
            <a:r>
              <a:rPr lang="en-US" sz="1600" b="1" dirty="0">
                <a:solidFill>
                  <a:srgbClr val="FFFFFF"/>
                </a:solidFill>
              </a:rPr>
              <a:t>⭕ K-Means</a:t>
            </a:r>
            <a:endParaRPr lang="en-US" sz="1600" dirty="0"/>
          </a:p>
        </p:txBody>
      </p:sp>
      <p:sp>
        <p:nvSpPr>
          <p:cNvPr id="13" name="Text 11"/>
          <p:cNvSpPr/>
          <p:nvPr/>
        </p:nvSpPr>
        <p:spPr>
          <a:xfrm>
            <a:off x="4983480" y="1600200"/>
            <a:ext cx="3931920" cy="2057400"/>
          </a:xfrm>
          <a:prstGeom prst="rect">
            <a:avLst/>
          </a:prstGeom>
          <a:noFill/>
          <a:ln/>
        </p:spPr>
        <p:txBody>
          <a:bodyPr wrap="square" rtlCol="0" anchor="t"/>
          <a:lstStyle/>
          <a:p>
            <a:pPr algn="l" indent="0" marL="0">
              <a:buNone/>
            </a:pPr>
            <a:r>
              <a:rPr lang="en-US" sz="1300" dirty="0">
                <a:solidFill>
                  <a:srgbClr val="AAAAAA"/>
                </a:solidFill>
              </a:rPr>
              <a:t>Unsupervised learning yang menemukan pola tersembunyi tanpa label. Mempartisi data ke K cluster dengan meminimalkan jarak ke centroid. Ideal untuk segmentasi dan eksplorasi data.</a:t>
            </a:r>
            <a:endParaRPr lang="en-US" sz="1300" dirty="0"/>
          </a:p>
        </p:txBody>
      </p:sp>
      <p:sp>
        <p:nvSpPr>
          <p:cNvPr id="14" name="Shape 12"/>
          <p:cNvSpPr/>
          <p:nvPr/>
        </p:nvSpPr>
        <p:spPr>
          <a:xfrm>
            <a:off x="365760" y="3931920"/>
            <a:ext cx="8412480" cy="640080"/>
          </a:xfrm>
          <a:prstGeom prst="rect">
            <a:avLst/>
          </a:prstGeom>
          <a:solidFill>
            <a:srgbClr val="162032"/>
          </a:solidFill>
          <a:ln w="19050">
            <a:solidFill>
              <a:srgbClr val="FFD700"/>
            </a:solidFill>
            <a:prstDash val="solid"/>
          </a:ln>
        </p:spPr>
      </p:sp>
      <p:sp>
        <p:nvSpPr>
          <p:cNvPr id="15" name="Text 13"/>
          <p:cNvSpPr/>
          <p:nvPr/>
        </p:nvSpPr>
        <p:spPr>
          <a:xfrm>
            <a:off x="457200" y="3931920"/>
            <a:ext cx="8229600" cy="640080"/>
          </a:xfrm>
          <a:prstGeom prst="rect">
            <a:avLst/>
          </a:prstGeom>
          <a:noFill/>
          <a:ln/>
        </p:spPr>
        <p:txBody>
          <a:bodyPr wrap="square" rtlCol="0" anchor="ctr"/>
          <a:lstStyle/>
          <a:p>
            <a:pPr algn="ctr" indent="0" marL="0">
              <a:buNone/>
            </a:pPr>
            <a:r>
              <a:rPr lang="en-US" sz="1300" i="1" dirty="0">
                <a:solidFill>
                  <a:srgbClr val="FFD700"/>
                </a:solidFill>
              </a:rPr>
              <a:t>💡 Kedua metode saling melengkapi: Decision Tree untuk prediksi terstruktur, K-Means untuk eksplorasi data tanpa label.</a:t>
            </a:r>
            <a:endParaRPr lang="en-US" sz="1300" dirty="0"/>
          </a:p>
        </p:txBody>
      </p:sp>
      <p:sp>
        <p:nvSpPr>
          <p:cNvPr id="16" name="Text 14"/>
          <p:cNvSpPr/>
          <p:nvPr/>
        </p:nvSpPr>
        <p:spPr>
          <a:xfrm>
            <a:off x="457200" y="4663440"/>
            <a:ext cx="8229600" cy="365760"/>
          </a:xfrm>
          <a:prstGeom prst="rect">
            <a:avLst/>
          </a:prstGeom>
          <a:noFill/>
          <a:ln/>
        </p:spPr>
        <p:txBody>
          <a:bodyPr wrap="square" rtlCol="0" anchor="ctr"/>
          <a:lstStyle/>
          <a:p>
            <a:pPr algn="ctr" indent="0" marL="0">
              <a:buNone/>
            </a:pPr>
            <a:r>
              <a:rPr lang="en-US" sz="2000" b="1" dirty="0">
                <a:solidFill>
                  <a:srgbClr val="FFFFFF"/>
                </a:solidFill>
              </a:rPr>
              <a:t>Terima Kasih</a:t>
            </a:r>
            <a:endParaRPr lang="en-US" sz="2000" dirty="0"/>
          </a:p>
        </p:txBody>
      </p:sp>
      <p:sp>
        <p:nvSpPr>
          <p:cNvPr id="17" name="Shape 15"/>
          <p:cNvSpPr/>
          <p:nvPr/>
        </p:nvSpPr>
        <p:spPr>
          <a:xfrm>
            <a:off x="0" y="5074920"/>
            <a:ext cx="9144000" cy="73152"/>
          </a:xfrm>
          <a:prstGeom prst="rect">
            <a:avLst/>
          </a:prstGeom>
          <a:solidFill>
            <a:srgbClr val="64FFDA"/>
          </a:solidFill>
          <a:ln w="12700">
            <a:solidFill>
              <a:srgbClr val="64FFD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Methods - Decision Tree &amp; K-Means</dc:title>
  <dc:subject>PptxGenJS Presentation</dc:subject>
  <dc:creator>Student Presentation</dc:creator>
  <cp:lastModifiedBy>Student Presentation</cp:lastModifiedBy>
  <cp:revision>1</cp:revision>
  <dcterms:created xsi:type="dcterms:W3CDTF">2026-04-05T09:20:36Z</dcterms:created>
  <dcterms:modified xsi:type="dcterms:W3CDTF">2026-04-05T09:20:36Z</dcterms:modified>
</cp:coreProperties>
</file>